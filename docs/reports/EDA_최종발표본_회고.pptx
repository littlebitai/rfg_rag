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53336d6f874fbb" /><Relationship Type="http://schemas.openxmlformats.org/officeDocument/2006/relationships/extended-properties" Target="/docProps/app.xml" Id="R3ca855a7c4b14e00" /><Relationship Type="http://schemas.openxmlformats.org/officeDocument/2006/relationships/officeDocument" Target="/ppt/presentation.xml" Id="R14886fb79db349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76a521625242e6"/>
  </p:sldMasterIdLst>
  <p:notesMasterIdLst>
    <p:notesMasterId xmlns:r="http://schemas.openxmlformats.org/officeDocument/2006/relationships" r:id="R2368577fa3264a9a"/>
  </p:notesMasterIdLst>
  <p:sldIdLst>
    <p:sldId xmlns:r="http://schemas.openxmlformats.org/officeDocument/2006/relationships" id="256" r:id="Rfd6b07d7dcf54008"/>
    <p:sldId xmlns:r="http://schemas.openxmlformats.org/officeDocument/2006/relationships" id="257" r:id="Rae1a870732a94d86"/>
    <p:sldId xmlns:r="http://schemas.openxmlformats.org/officeDocument/2006/relationships" id="258" r:id="R2b5d14879e9c4e3e"/>
    <p:sldId xmlns:r="http://schemas.openxmlformats.org/officeDocument/2006/relationships" id="259" r:id="Rfd94ef8a5476470d"/>
    <p:sldId xmlns:r="http://schemas.openxmlformats.org/officeDocument/2006/relationships" id="260" r:id="Rbe71647cd28946e9"/>
    <p:sldId xmlns:r="http://schemas.openxmlformats.org/officeDocument/2006/relationships" id="261" r:id="R9c65b141831641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fa08b6b66c4e63" /><Relationship Type="http://schemas.openxmlformats.org/officeDocument/2006/relationships/slideMaster" Target="/ppt/slideMasters/slideMaster1.xml" Id="R5076a521625242e6" /><Relationship Type="http://schemas.openxmlformats.org/officeDocument/2006/relationships/notesMaster" Target="/ppt/notesMasters/notesMaster1.xml" Id="R2368577fa3264a9a" /><Relationship Type="http://schemas.openxmlformats.org/officeDocument/2006/relationships/presProps" Target="/ppt/presProps.xml" Id="R1a5f53ce6f044f99" /><Relationship Type="http://schemas.openxmlformats.org/officeDocument/2006/relationships/tableStyles" Target="/ppt/tableStyles.xml" Id="R770cd453eee841f8" /><Relationship Type="http://schemas.openxmlformats.org/officeDocument/2006/relationships/slide" Target="/ppt/slides/slide1.xml" Id="Rfd6b07d7dcf54008" /><Relationship Type="http://schemas.openxmlformats.org/officeDocument/2006/relationships/slide" Target="/ppt/slides/slide2.xml" Id="Rae1a870732a94d86" /><Relationship Type="http://schemas.openxmlformats.org/officeDocument/2006/relationships/slide" Target="/ppt/slides/slide3.xml" Id="R2b5d14879e9c4e3e" /><Relationship Type="http://schemas.openxmlformats.org/officeDocument/2006/relationships/slide" Target="/ppt/slides/slide4.xml" Id="Rfd94ef8a5476470d" /><Relationship Type="http://schemas.openxmlformats.org/officeDocument/2006/relationships/slide" Target="/ppt/slides/slide5.xml" Id="Rbe71647cd28946e9" /><Relationship Type="http://schemas.openxmlformats.org/officeDocument/2006/relationships/slide" Target="/ppt/slides/slide6.xml" Id="R9c65b141831641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7b7eaa9b794d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7de36600fd4acf" /><Relationship Type="http://schemas.openxmlformats.org/officeDocument/2006/relationships/notesMaster" Target="/ppt/notesMasters/notesMaster1.xml" Id="Rc7bb2df121d54f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b4254e839b4497" /><Relationship Type="http://schemas.openxmlformats.org/officeDocument/2006/relationships/notesMaster" Target="/ppt/notesMasters/notesMaster1.xml" Id="R9e5ba5857b4548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c5f7e5a24c44e0" /><Relationship Type="http://schemas.openxmlformats.org/officeDocument/2006/relationships/notesMaster" Target="/ppt/notesMasters/notesMaster1.xml" Id="R60c3df900e5045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82985ee58e4b41" /><Relationship Type="http://schemas.openxmlformats.org/officeDocument/2006/relationships/notesMaster" Target="/ppt/notesMasters/notesMaster1.xml" Id="R51f8ba7be43744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4c9e7db8704df8" /><Relationship Type="http://schemas.openxmlformats.org/officeDocument/2006/relationships/notesMaster" Target="/ppt/notesMasters/notesMaster1.xml" Id="Rd96fca0469f04c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071cde098e4654" /><Relationship Type="http://schemas.openxmlformats.org/officeDocument/2006/relationships/notesMaster" Target="/ppt/notesMasters/notesMaster1.xml" Id="Rcda4611e761746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[발표 대본]</ns0:t>
            </ns0:r>
          </ns0:p>
          <ns1:p xmlns:ns1="http://schemas.openxmlformats.org/drawingml/2006/main">
            <ns1:r>
              <ns1:t>문서에서 근거를 찾아 답하려면 같은 자료가 반복해서 들어가지 않는지 먼저 확인해야 합니다. 파일명만 보지 않고 파일 전체 데이터를 직접 대조했습니다. 그 결과 원본 100개에서 내용이 완전히 같은 두 쌍을 찾았고, 각 쌍에서 하나씩 남겨 98개를 분석했습니다. 다음으로 한글 문서 한 건에서 본문과 표가 어떻게 추출되는지 살펴봤습니다.</ns1:t>
            </ns1:r>
          </ns1:p>
          <ns2:p xmlns:ns2="http://schemas.openxmlformats.org/drawingml/2006/main">
            <ns2:r>
              <ns2:t/>
            </ns2:r>
          </ns2:p>
          <ns3:p xmlns:ns3="http://schemas.openxmlformats.org/drawingml/2006/main">
            <ns3:r>
              <ns3:t>[근거 및 적용 범위]</ns3:t>
            </ns3:r>
          </ns3:p>
          <ns4:p xmlns:ns4="http://schemas.openxmlformats.org/drawingml/2006/main">
            <ns4:r>
              <ns4:t>01_RFP 전처리 +EDA.ipynb §2 원본 구성·중복 검증. 전체 파일 100개, HWP 96/PDF 4, 완전 중복 2쌍, 대표 98개.</ns4:t>
            </ns4:r>
          </ns4:p>
          <ns5:p xmlns:ns5="http://schemas.openxmlformats.org/drawingml/2006/main">
            <ns5:r>
              <ns5:t>[예상 질문과 확인 필요 사항]</ns5:t>
            </ns5:r>
          </ns5:p>
          <ns6:p xmlns:ns6="http://schemas.openxmlformats.org/drawingml/2006/main">
            <ns6:r>
              <ns6:t>확인됨: 중복 판단은 파일명이나 문장 유사도가 아니라 SHA-256과 전체 바이트 비교입니다. 문서 내 반복 문장까지 모두 제거했다는 뜻은 아닙니다.</ns6:t>
            </ns6:r>
          </ns6:p>
          <ns7:p xmlns:ns7="http://schemas.openxmlformats.org/drawingml/2006/main">
            <ns7:r>
              <ns7:t>[기술 질문 보충]</ns7:t>
            </ns7:r>
          </ns7:p>
          <ns8:p xmlns:ns8="http://schemas.openxmlformats.org/drawingml/2006/main">
            <ns8:r>
              <ns8:t>같은 파일 후보를 SHA-256으로 확인한 뒤 전체 바이트를 비교했습니다. 본문 텍스트만의 비교가 아니라 파일 전체 데이터 비교입니다.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[발표 대본]</ns0:t>
            </ns0:r>
          </ns0:p>
          <ns1:p xmlns:ns1="http://schemas.openxmlformats.org/drawingml/2006/main">
            <ns1:r>
              <ns1:t>HwpHwpxLoader로 한글 문서의 본문과 표를 구분해 꺼낸 뒤, 결과를 살펴보니 같은 표 내용이 본문에도 있었습니다. 대표문서의 표 226개 중 213개는 문자열 그대로, 공백과 표 기호를 맞춰 비교하면 225개가 본문에 포함됐습니다. 화면 오른쪽은 이 관계를 설명한 요약도입니다. 두 출력을 그대로 합치면 중복될 수 있고, 표를 지우면 어떤 항목에 어떤 설명이 연결되는지 놓칠 수 있습니다. 그래서 내용과 구조를 함께 검토했습니다. 그 과정에서 이미지도 따로 확인할 필요가 있었습니다.</ns1:t>
            </ns1:r>
          </ns1:p>
          <ns2:p xmlns:ns2="http://schemas.openxmlformats.org/drawingml/2006/main">
            <ns2:r>
              <ns2:t/>
            </ns2:r>
          </ns2:p>
          <ns3:p xmlns:ns3="http://schemas.openxmlformats.org/drawingml/2006/main">
            <ns3:r>
              <ns3:t>[근거 및 적용 범위]</ns3:t>
            </ns3:r>
          </ns3:p>
          <ns4:p xmlns:ns4="http://schemas.openxmlformats.org/drawingml/2006/main">
            <ns4:r>
              <ns4:t>01_RFP 전처리 +EDA.ipynb §3.2~3.9, 코드 셀 30·34·36·41·43 및 해석 셀 44(0부터). Element 157 미리보기: 산출물 종류/제출시기/수량/비고. 대표 원본 HWP의 PMR-004 표 텍스트 직접 대조. 공유 v12 final_records.jsonl의 대표문서 body PMR-004와 대조. 슬라이드의 표는 실제 두 행과 세 열을 발췌해 재배치했으며, 추출 결과 두 칸은 중복 위험을 설명하는 요약도입니다. 원본 화면이나 실제 출력 캡처로 제시하지 않습니다.</ns4:t>
            </ns4:r>
          </ns4:p>
          <ns5:p xmlns:ns5="http://schemas.openxmlformats.org/drawingml/2006/main">
            <ns5:r>
              <ns5:t>[예상 질문과 확인 필요 사항]</ns5:t>
            </ns5:r>
          </ns5:p>
          <ns6:p xmlns:ns6="http://schemas.openxmlformats.org/drawingml/2006/main">
            <ns6:r>
              <ns6:t>확인됨: 213/226은 원문자열 포함, 225/226은 비교용 정규화 후 포함입니다. 모두 대표문서 한 건의 결과입니다. 추가 확인 필요: 특정 표의 행·열·병합 구조가 최종 검색 단위까지 온전히 전달됐는지는 별도 원본 좌표 검증이 필요합니다.</ns6:t>
            </ns6:r>
          </ns6:p>
          <ns7:p xmlns:ns7="http://schemas.openxmlformats.org/drawingml/2006/main">
            <ns7:r>
              <ns7:t>[도구 선택 질문 보충]</ns7:t>
            </ns7:r>
          </ns7:p>
          <ns8:p xmlns:ns8="http://schemas.openxmlformats.org/drawingml/2006/main">
            <ns8:r>
              <ns8:t>다른 HWP 파서와 성능을 직접 비교한 결과로 선택했다고 설명하지 않습니다. 본문·표를 추출한 뒤 출력을 검토하면서 중복을 발견했습니다.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[발표 대본]</ns0:t>
            </ns0:r>
          </ns0:p>
          <ns1:p xmlns:ns1="http://schemas.openxmlformats.org/drawingml/2006/main">
            <ns1:r>
              <ns1:t>본문에는 [IMAGE] 표시만 있고 실제 이미지 파일은 저장되지 않았습니다. 그래서 이미지도 저장하도록 설정을 보완해 대표문서에서 9개를 꺼냈습니다. 직접 확인한 뒤 의미 있는 글자 정보가 있는 7개를 OCR 검토 대상으로 골랐습니다. OCR은 그림 속 글자를 텍스트로 읽는 기술입니다. 화면 안의 글자는 본문만 추출하면 놓칠 수 있기 때문입니다. 이어서 추출한 글자를 어떻게 정리했는지 말씀드리겠습니다.</ns1:t>
            </ns1:r>
          </ns1:p>
          <ns2:p xmlns:ns2="http://schemas.openxmlformats.org/drawingml/2006/main">
            <ns2:r>
              <ns2:t/>
            </ns2:r>
          </ns2:p>
          <ns3:p xmlns:ns3="http://schemas.openxmlformats.org/drawingml/2006/main">
            <ns3:r>
              <ns3:t>[근거 및 적용 범위]</ns3:t>
            </ns3:r>
          </ns3:p>
          <ns4:p xmlns:ns4="http://schemas.openxmlformats.org/drawingml/2006/main">
            <ns4:r>
              <ns4:t>01_RFP 전처리 +EDA.ipynb §3.10~3.15, 셀 54·57·58·59·61·66·67(0부터). 실제 이미지: 셀61 출력9, BIN0005.jpg(이미지5). 이 파일은 빈 입력 양식 화면으로 개인정보 값이 없습니다. 추출9, 선정7이며 전체 문서 OCR 성과가 아닙니다.</ns4:t>
            </ns4:r>
          </ns4:p>
          <ns5:p xmlns:ns5="http://schemas.openxmlformats.org/drawingml/2006/main">
            <ns5:r>
              <ns5:t>[예상 질문과 확인 필요 사항]</ns5:t>
            </ns5:r>
          </ns5:p>
          <ns6:p xmlns:ns6="http://schemas.openxmlformats.org/drawingml/2006/main">
            <ns6:r>
              <ns6:t>확인됨: 선정 기준은 이미지에 의미 있는 글자·표·화면 정보가 있는지 육안 확인한 것입니다. 추가 확인 필요: 팀 전체 OCR 처리량·정확도·엔진 선택은 해당 담당자의 최종 자료로 확인해야 합니다.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[발표 대본]</ns0:t>
            </ns0:r>
          </ns0:p>
          <ns1:p xmlns:ns1="http://schemas.openxmlformats.org/drawingml/2006/main">
            <ns1:r>
              <ns1:t>한자나 기호를 모두 지우면 원래 뜻이 달라질 수 있습니다. 원문은 그대로 보존하고, 검색용 텍스트에만 읽는 법이 확인된 한자의 독음을 추가했습니다. 위의 짧은 문구는 그 처리 방식을 보여주는 예시입니다. 아래 90%에서 퍼센트 표시도 비율을 나타내므로 남겼습니다. 이처럼 조건이나 단위에 의미가 있는 기호는 유지했습니다. 내용뿐 아니라 어느 요구사항의 설명인지도 확인해야 했습니다.</ns1:t>
            </ns1:r>
          </ns1:p>
          <ns2:p xmlns:ns2="http://schemas.openxmlformats.org/drawingml/2006/main">
            <ns2:r>
              <ns2:t/>
            </ns2:r>
          </ns2:p>
          <ns3:p xmlns:ns3="http://schemas.openxmlformats.org/drawingml/2006/main">
            <ns3:r>
              <ns3:t>[근거 및 적용 범위]</ns3:t>
            </ns3:r>
          </ns3:p>
          <ns4:p xmlns:ns4="http://schemas.openxmlformats.org/drawingml/2006/main">
            <ns4:r>
              <ns4:t>01_RFP 전처리 +EDA.ipynb §4.1~4.7. 원문 內 유지 및 內(내) 검색용 독음 추가, 미등록 한자 임의 변환 금지. 셀132 특수문자 사용 문맥의 기술평가(90%)와 가격평가(10%). '內 과업'은 사용자가 요청한 처리 방식 설명용 짧은 예시이며 실제 원문 인용으로 표시하지 않습니다. 실제 노트북 문맥은 중소벤처24 內 스톡옵션 신청 기능 이관입니다.</ns4:t>
            </ns4:r>
          </ns4:p>
          <ns5:p xmlns:ns5="http://schemas.openxmlformats.org/drawingml/2006/main">
            <ns5:r>
              <ns5:t>[예상 질문과 확인 필요 사항]</ns5:t>
            </ns5:r>
          </ns5:p>
          <ns6:p xmlns:ns6="http://schemas.openxmlformats.org/drawingml/2006/main">
            <ns6:r>
              <ns6:t>확인됨: hanja 라이브러리와 직접 성능을 비교하지 않았습니다. 사전 등록률은 실제 변환 정확도가 아닙니다. 추가 확인 필요: 미등록 개별 문자의 정확한 독음·깨짐 여부는 원본 대조가 필요합니다.</ns6:t>
            </ns6:r>
          </ns6:p>
          <ns7:p xmlns:ns7="http://schemas.openxmlformats.org/drawingml/2006/main">
            <ns7:r>
              <ns7:t>[원문과 검색용 텍스트 구분]</ns7:t>
            </ns7:r>
          </ns7:p>
          <ns8:p xmlns:ns8="http://schemas.openxmlformats.org/drawingml/2006/main">
            <ns8:r>
              <ns8:t>원문은 그대로 유지하고 검색용 텍스트에만 검토된 독음을 추가했습니다. hanja 라이브러리와 직접 정확도를 비교하지 않았습니다.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[발표 대본]</ns0:t>
            </ns0:r>
          </ns0:p>
          <ns1:p xmlns:ns1="http://schemas.openxmlformats.org/drawingml/2006/main">
            <ns1:r>
              <ns1:t>실제 문서에서 SFR-001이 목록과 상세 설명에 각각 등장합니다. 목록은 요구사항 이름을 알려주고, 상세에는 신청 정보와 전자결재를 연결한다는 구체적인 기능이 적혀 있습니다. 번호가 같다고 한쪽을 지우면 필요한 설명을 잃을 수 있습니다. 그래서 번호뿐 아니라 내용이 어떤 역할인지, 어느 원문에서 나왔는지를 함께 확인했습니다. 마지막으로 원문 보존 근거를 확인한 결과입니다.</ns1:t>
            </ns1:r>
          </ns1:p>
          <ns2:p xmlns:ns2="http://schemas.openxmlformats.org/drawingml/2006/main">
            <ns2:r>
              <ns2:t/>
            </ns2:r>
          </ns2:p>
          <ns3:p xmlns:ns3="http://schemas.openxmlformats.org/drawingml/2006/main">
            <ns3:r>
              <ns3:t>[근거 및 적용 범위]</ns3:t>
            </ns3:r>
          </ns3:p>
          <ns4:p xmlns:ns4="http://schemas.openxmlformats.org/drawingml/2006/main">
            <ns4:r>
              <ns4:t>실제 공유 v12 final_records.jsonl, doc_id fe07779f264abfd5f420f332adb65779a33142a5506581345f5cbe4803be53e8. 목록 record body:0:6638-8786의 raw_text: SFR - 001 / 기관생명윤리 임상연구 심의 신청. 상세 record body:0:8829-9083의 raw_text: SFR-001 및 기관생명윤리 임상연구 신청 정보 및 전자결재 연계. 원본 한국한의학연구원_통합정보시스템 고도화 용역.hwp의 텍스트와 대조. 슬라이드는 원문 일부 발췌 재배치, 목록 번호의 띄어쓰기만 통일. 01_RFP 전처리 +EDA.ipynb §9.1 동일 ID의 목록·상세 반복과 소속 확인 원칙. 다른 요구사항의 참조는 일반적으로 구별해야 할 역할이며 이 SFR-001의 실제 참조 출력 사례로 제시하지 않음. 후속 v13의 보완 결과를 공유 v12 성과로 사용하지 않음.</ns4:t>
            </ns4:r>
          </ns4:p>
          <ns5:p xmlns:ns5="http://schemas.openxmlformats.org/drawingml/2006/main">
            <ns5:r>
              <ns5:t>[예상 질문과 확인 필요 사항]</ns5:t>
            </ns5:r>
          </ns5:p>
          <ns6:p xmlns:ns6="http://schemas.openxmlformats.org/drawingml/2006/main">
            <ns6:r>
              <ns6:t>확인됨: 이 문서에서 SFR-001은 목록과 상세에 각각 등장합니다. 번호 반복만으로 중복 삭제하지 않습니다. 추가 확인 필요: 다른 요구사항에서 이 번호를 참조하는 구체 위치는 이 슬라이드의 검증 사례에 포함하지 않았습니다. JSONL은 저장 형식이며 Element나 DB 자체가 아닙니다.</ns6:t>
            </ns6:r>
          </ns6:p>
          <ns7:p xmlns:ns7="http://schemas.openxmlformats.org/drawingml/2006/main">
            <ns7:r>
              <ns7:t>[용어 질문 보충]</ns7:t>
            </ns7:r>
          </ns7:p>
          <ns8:p xmlns:ns8="http://schemas.openxmlformats.org/drawingml/2006/main">
            <ns8:r>
              <ns8:t>Record는 내용과 원본 출처를 담은 정보 구간, Element는 표·문단 등 구조 요소, Chunk는 검색용 작은 글 묶음입니다. JSONL은 한 줄에 JSON 객체를 담는 저장 형식으로 Element나 DB 자체가 아닙니다. 이 슬라이드의 실측 예시는 목록·상세 반복이며 구체 참조 위치는 검증 사례에 포함하지 않았습니다.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[발표 대본]</ns0:t>
            </ns0:r>
          </ns0:p>
          <ns1:p xmlns:ns1="http://schemas.openxmlformats.org/drawingml/2006/main">
            <ns1:r>
              <ns1:t>목표는 추출한 내용이 전처리와 청킹, 즉 검색할 글을 나누는 과정 뒤에도 정확히 전달됐는지 확인하는 것이었습니다. 공유 v12 감사 기록에서 보존 근거 확인은 71.28%, 추가 확인 필요는 28.72%였습니다. 이는 실제 정보 보존율이나 검색 정확도가 아니며, 미확인 비율도 데이터 손실률은 아닙니다. 반복 문장이나 표 안의 표에서는 글이 남아 있어도 원래 위치와 관계를 입증하기 어려웠습니다. 앞으로는 처음 추출할 때부터 원문 위치와 표 구조, 요구사항 소속, 바꾼 글자의 이력을 기록해 원문과 다시 대조하는 방법을 사용해 보겠습니다. 이번에는 전처리한 텍스트가 있다는 사실과, 원문의 내용과 관계가 그대로 전달됐음을 입증하는 일은 다르다는 점을 배웠습니다.</ns1:t>
            </ns1:r>
          </ns1:p>
          <ns2:p xmlns:ns2="http://schemas.openxmlformats.org/drawingml/2006/main">
            <ns2:r>
              <ns2:t/>
            </ns2:r>
          </ns2:p>
          <ns3:p xmlns:ns3="http://schemas.openxmlformats.org/drawingml/2006/main">
            <ns3:r>
              <ns3:t>[근거 및 적용 범위]</ns3:t>
            </ns3:r>
          </ns3:p>
          <ns4:p xmlns:ns4="http://schemas.openxmlformats.org/drawingml/2006/main">
            <ns4:r>
              <ns4:t>실제 공유 RFP_v12_Retriever_Package.zip dataset/v12/preservation_audit.json coverage: denominator_nonempty_source_units 305651, PASS 217866, UNVERIFIED 87785, strict_ratio 0.7127933492774439. 71.28/28.72는 원문 단위 기준이며 문서/글자/청크/검색 정확도 비율이 아닙니다. 공유 ZIP의 감사·명세 기록 대조이며 CSV 전체를 이용한 행별 재판정은 아닙니다. 어려움과 개선 원칙: 01_RFP 전처리 +EDA.ipynb §9.2~9.5, 표의 반복문장·중첩 구조와 원문 위치·소속 검증 한계. 다음 개선은 계획이며 이번 PPT 수정 과정에서 새 검증을 실행한 것이 아님.</ns4:t>
            </ns4:r>
          </ns4:p>
          <ns5:p xmlns:ns5="http://schemas.openxmlformats.org/drawingml/2006/main">
            <ns5:r>
              <ns5:t>[예상 질문과 확인 필요 사항]</ns5:t>
            </ns5:r>
          </ns5:p>
          <ns6:p xmlns:ns6="http://schemas.openxmlformats.org/drawingml/2006/main">
            <ns6:r>
              <ns6:t>확인됨: 분모는 비공백 원문 단위 305,651개이며, 확인 217,866개와 추가 확인 87,785개입니다. 28.72%는 실제 데이터 손실률이 아닙니다. 추가 확인 필요: 미확인 단위별 실제 손실 여부와 구조적 관계는 원본 위치를 대조해 따로 판정해야 합니다. 후속 버전 수치나 별도 청킹 실험을 이 감사 결과에 합치지 않습니다.</ns6:t>
            </ns6:r>
          </ns6:p>
          <ns7:p xmlns:ns7="http://schemas.openxmlformats.org/drawingml/2006/main">
            <ns7:r>
              <ns7:t>[지표 해석 보충]</ns7:t>
            </ns7:r>
          </ns7:p>
          <ns8:p xmlns:ns8="http://schemas.openxmlformats.org/drawingml/2006/main">
            <ns8:r>
              <ns8:t>71.28%는 실제 정보 보존율이나 검색 정확도가 아니라 감사 기준에 따라 원문 보존 근거가 확인된 비율입니다. 28.72%는 데이터 손실률이 아닙니다.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d52b7e15743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c20c3e8fba47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1d10ad20f24c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c1755295bb41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688ce5405a4b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9f193b4ded43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56AA74-E129-499D-AC43-4240A0FA09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C8D050-21E3-4A04-9746-5AB93282B9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94D3D6B-724C-4163-9E3F-66F905752E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974769-0836-48C3-BAB8-54DF046EA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933E2F-2C30-42E1-A263-360C56CBEA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15AE59C-2377-4DCC-926C-3293F204B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21005E-80B4-4BD4-99BF-D26B07A2EF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510FCD1-99FD-455B-AFA1-0AFDBD36B6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34B787-9701-4810-875F-3F6148FA13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32050E-51B8-43A5-8835-92B8D2EFEE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c0dc506a2246dc" /><Relationship Type="http://schemas.openxmlformats.org/officeDocument/2006/relationships/slideLayout" Target="/ppt/slideLayouts/slideLayout1.xml" Id="R7e7b44eef27048bd" /><Relationship Type="http://schemas.openxmlformats.org/officeDocument/2006/relationships/slideLayout" Target="/ppt/slideLayouts/slideLayout2.xml" Id="Ra0eacc70ce96441d" /><Relationship Type="http://schemas.openxmlformats.org/officeDocument/2006/relationships/slideLayout" Target="/ppt/slideLayouts/slideLayout3.xml" Id="R20419bfa5eb2461a" /><Relationship Type="http://schemas.openxmlformats.org/officeDocument/2006/relationships/slideLayout" Target="/ppt/slideLayouts/slideLayout4.xml" Id="Rb13b5194376d40c0" /><Relationship Type="http://schemas.openxmlformats.org/officeDocument/2006/relationships/slideLayout" Target="/ppt/slideLayouts/slideLayout5.xml" Id="Raf15eaacdd1e4c25" /><Relationship Type="http://schemas.openxmlformats.org/officeDocument/2006/relationships/slideLayout" Target="/ppt/slideLayouts/slideLayout6.xml" Id="R5d33db682f554a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7b44eef27048bd"/>
    <p:sldLayoutId xmlns:r="http://schemas.openxmlformats.org/officeDocument/2006/relationships" id="2147483650" r:id="Ra0eacc70ce96441d"/>
    <p:sldLayoutId xmlns:r="http://schemas.openxmlformats.org/officeDocument/2006/relationships" id="2147483651" r:id="R20419bfa5eb2461a"/>
    <p:sldLayoutId xmlns:r="http://schemas.openxmlformats.org/officeDocument/2006/relationships" id="2147483652" r:id="Rb13b5194376d40c0"/>
    <p:sldLayoutId xmlns:r="http://schemas.openxmlformats.org/officeDocument/2006/relationships" id="2147483653" r:id="Raf15eaacdd1e4c25"/>
    <p:sldLayoutId xmlns:r="http://schemas.openxmlformats.org/officeDocument/2006/relationships" id="2147483654" r:id="R5d33db682f554a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9dd775a6f74030" /><Relationship Type="http://schemas.openxmlformats.org/officeDocument/2006/relationships/notesSlide" Target="/ppt/notesSlides/notesSlide1.xml" Id="Rc30d1ccd352b48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10e141a6494e9a" /><Relationship Type="http://schemas.openxmlformats.org/officeDocument/2006/relationships/notesSlide" Target="/ppt/notesSlides/notesSlide2.xml" Id="R7e6109d4d8fb4e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64612e4d004b9a" /><Relationship Type="http://schemas.openxmlformats.org/officeDocument/2006/relationships/image" Target="/ppt/media/image.png" Id="R9dbb3f7ea43448db" /><Relationship Type="http://schemas.openxmlformats.org/officeDocument/2006/relationships/notesSlide" Target="/ppt/notesSlides/notesSlide3.xml" Id="R016898fdd4384b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0e148d1efd4284" /><Relationship Type="http://schemas.openxmlformats.org/officeDocument/2006/relationships/notesSlide" Target="/ppt/notesSlides/notesSlide4.xml" Id="R8b86d648285f4e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8c850304ca428a" /><Relationship Type="http://schemas.openxmlformats.org/officeDocument/2006/relationships/notesSlide" Target="/ppt/notesSlides/notesSlide5.xml" Id="R94caa1cff2a548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6ebce6364b4ced" /><Relationship Type="http://schemas.openxmlformats.org/officeDocument/2006/relationships/chart" Target="/ppt/slides/charts/chart1.xml" Id="R7b1aff19f55f4ae5" /><Relationship Type="http://schemas.openxmlformats.org/officeDocument/2006/relationships/notesSlide" Target="/ppt/notesSlides/notesSlide6.xml" Id="R7ccb2998d0074c6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보존 근거 확인</c:v>
          </c:tx>
          <c:spPr>
            <a:solidFill xmlns:a="http://schemas.openxmlformats.org/drawingml/2006/main">
              <a:srgbClr val="1E3A5F"/>
            </a:solidFill>
          </c:spPr>
          <c:invertIfNegative val="0"/>
          <c:cat>
            <c:strRef>
              <c:f>'Chart Data'!$A$2:$A$2</c:f>
              <c:strCache>
                <c:ptCount val="1"/>
                <c:pt idx="0">
                  <c:v>공유 v12 원문 단위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71.28</c:v>
                </c:pt>
              </c:numCache>
            </c:numRef>
          </c:val>
        </c:ser>
        <c:ser>
          <c:idx val="1"/>
          <c:order val="1"/>
          <c:tx>
            <c:v>추가 확인 필요</c:v>
          </c:tx>
          <c:spPr>
            <a:solidFill xmlns:a="http://schemas.openxmlformats.org/drawingml/2006/main">
              <a:srgbClr val="DCE5F0"/>
            </a:solidFill>
          </c:spPr>
          <c:invertIfNegative val="0"/>
          <c:cat>
            <c:strRef>
              <c:f>'Chart Data'!$C$2:$C$2</c:f>
              <c:strCache>
                <c:ptCount val="1"/>
                <c:pt idx="0">
                  <c:v>공유 v12 원문 단위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28.72</c:v>
                </c:pt>
              </c:numCache>
            </c:numRef>
          </c:val>
        </c:ser>
        <c:dLbls>
          <c:numFmt formatCode="0.0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FFFFFF"/>
                  </a:solidFill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100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">
            <a:extLst xmlns:a="http://schemas.openxmlformats.org/drawingml/2006/main">
              <a:ext uri="{FF2B5EF4-FFF2-40B4-BE49-F238E27FC236}">
                <a16:creationId xmlns:a16="http://schemas.microsoft.com/office/drawing/2014/main" id="{13E70DFF-8A7B-49FA-A5E6-04351BB8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01  문서 준비와 검증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9165218-F3D2-4F52-8643-3039233F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전체 원본 문서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9E7BE97-C80C-41F3-8A20-96D3BD29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같은 문서를 두 번 넣지 않도록 먼저 확인했습니다</a:t>
            </a:r>
          </a:p>
        </p:txBody>
      </p:sp>
      <p:sp>
        <p:nvSpPr>
          <p:cNvPr id="4" name="diagram-4">
            <a:extLst xmlns:a="http://schemas.openxmlformats.org/drawingml/2006/main">
              <a:ext uri="{FF2B5EF4-FFF2-40B4-BE49-F238E27FC236}">
                <a16:creationId xmlns:a16="http://schemas.microsoft.com/office/drawing/2014/main" id="{53497652-8E20-46E4-82DB-7BE2CC78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9E4C4A5-BE61-447E-857A-CE11ED5E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입찰메이트  /  데이터 탐색·전처리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B9E505D4-F259-4114-8556-189AEE87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341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76B2DC1B-45B7-4D3B-8708-A525CCD1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질문에 맞는 근거를 찾으려면, 입력 문서부터 점검해야 합니다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DA2DB05D-80E5-4BBA-8C38-D1CCB68A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받은 파일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74A98069-2BDB-4C19-BF18-48E09A7D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52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100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2EBBA0BD-A942-4699-AED1-8680F64B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432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개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558A222A-F5B6-4327-AD37-F9FCF9F2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한글 96개 · PDF 4개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4C3DF95B-3165-4D75-8EA4-666703C1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1467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0D1E5612-9D65-444C-B7D9-885F12F7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5717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파일 내용 비교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7EBB9DFB-31CE-443F-8023-09FEE34C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051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내용이 같은 파일을 찾고</a:t>
            </a:r>
          </a:p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파일 내용 전체를 직접 대조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1F358052-ED85-4113-82DC-D5C039F6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0527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완전히 같은 파일 2쌍 확인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C901EEDD-B4EE-4D63-A176-3FAA5C7C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1467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D3DFF2D8-49C1-4CBC-8ED4-44626B8F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574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분석 대상</a:t>
            </a:r>
          </a:p>
        </p:txBody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170D2D51-EA49-4461-800A-2819DC48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85750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3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98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68144DC6-5B8C-4E8B-B7CA-36826E84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34327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개</a:t>
            </a:r>
          </a:p>
        </p:txBody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BD159CCF-6CD3-44D0-A856-F3A1D1E8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9338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한글 94개 · PDF 4개</a:t>
            </a:r>
          </a:p>
        </p:txBody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120A0420-A89B-42AB-9467-77CEFD5D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각 쌍에서 대표 1개씩 유지</a:t>
            </a:r>
          </a:p>
        </p:txBody>
      </p:sp>
      <p:sp>
        <p:nvSpPr>
          <p:cNvPr id="22" name="diagram-22">
            <a:extLst xmlns:a="http://schemas.openxmlformats.org/drawingml/2006/main">
              <a:ext uri="{FF2B5EF4-FFF2-40B4-BE49-F238E27FC236}">
                <a16:creationId xmlns:a16="http://schemas.microsoft.com/office/drawing/2014/main" id="{B88ACB1C-2F9F-430E-9BB7-264C15DA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noFill/>
          </a:ln>
        </p:spPr>
      </p:sp>
      <p:sp>
        <p:nvSpPr>
          <p:cNvPr id="23" name="text-23">
            <a:extLst xmlns:a="http://schemas.openxmlformats.org/drawingml/2006/main">
              <a:ext uri="{FF2B5EF4-FFF2-40B4-BE49-F238E27FC236}">
                <a16:creationId xmlns:a16="http://schemas.microsoft.com/office/drawing/2014/main" id="{93158B40-D68B-4BDA-8DA9-D08C1BA7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확인한 것</a:t>
            </a:r>
          </a:p>
        </p:txBody>
      </p:sp>
      <p:sp>
        <p:nvSpPr>
          <p:cNvPr id="24" name="text-24">
            <a:extLst xmlns:a="http://schemas.openxmlformats.org/drawingml/2006/main">
              <a:ext uri="{FF2B5EF4-FFF2-40B4-BE49-F238E27FC236}">
                <a16:creationId xmlns:a16="http://schemas.microsoft.com/office/drawing/2014/main" id="{B4F849BA-1A9D-4118-A0C2-DC148097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3400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7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7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7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7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7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7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7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7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7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파일명은 달라도 내용이 같은 문서는 한 번만 분석했습니다</a:t>
            </a:r>
          </a:p>
        </p:txBody>
      </p:sp>
    </p:spTree>
    <p:extLst>
      <p:ext uri="{BB962C8B-B14F-4D97-AF65-F5344CB8AC3E}">
        <p14:creationId xmlns:p14="http://schemas.microsoft.com/office/powerpoint/2010/main" val="750874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C09E65A6-B2B9-4814-9DAE-CCF86C3D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02  문서 준비와 검증</a:t>
            </a:r>
          </a:p>
        </p:txBody>
      </p:sp>
      <p:sp>
        <p:nvSpPr>
          <p:cNvPr id="2" name="text-26">
            <a:extLst xmlns:a="http://schemas.openxmlformats.org/drawingml/2006/main">
              <a:ext uri="{FF2B5EF4-FFF2-40B4-BE49-F238E27FC236}">
                <a16:creationId xmlns:a16="http://schemas.microsoft.com/office/drawing/2014/main" id="{E4C5BD9A-A7B0-48C1-B246-58AF25CC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대표 HWP 1건</a:t>
            </a:r>
          </a:p>
        </p:txBody>
      </p:sp>
      <p:sp>
        <p:nvSpPr>
          <p:cNvPr id="3" name="text-27">
            <a:extLst xmlns:a="http://schemas.openxmlformats.org/drawingml/2006/main">
              <a:ext uri="{FF2B5EF4-FFF2-40B4-BE49-F238E27FC236}">
                <a16:creationId xmlns:a16="http://schemas.microsoft.com/office/drawing/2014/main" id="{E366D098-07D0-420D-92D9-123780DE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표 내용이 본문에도 들어 있어, 합치기 전에 확인했습니다</a:t>
            </a:r>
          </a:p>
        </p:txBody>
      </p:sp>
      <p:sp>
        <p:nvSpPr>
          <p:cNvPr id="4" name="diagram-28">
            <a:extLst xmlns:a="http://schemas.openxmlformats.org/drawingml/2006/main">
              <a:ext uri="{FF2B5EF4-FFF2-40B4-BE49-F238E27FC236}">
                <a16:creationId xmlns:a16="http://schemas.microsoft.com/office/drawing/2014/main" id="{11DDDC9D-D883-4723-A1DC-843868ED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noFill/>
          </a:ln>
        </p:spPr>
      </p:sp>
      <p:sp>
        <p:nvSpPr>
          <p:cNvPr id="5" name="text-29">
            <a:extLst xmlns:a="http://schemas.openxmlformats.org/drawingml/2006/main">
              <a:ext uri="{FF2B5EF4-FFF2-40B4-BE49-F238E27FC236}">
                <a16:creationId xmlns:a16="http://schemas.microsoft.com/office/drawing/2014/main" id="{2284A833-4549-403E-B525-499CF84C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입찰메이트  /  데이터 탐색·전처리</a:t>
            </a:r>
          </a:p>
        </p:txBody>
      </p:sp>
      <p:sp>
        <p:nvSpPr>
          <p:cNvPr id="6" name="text-30">
            <a:extLst xmlns:a="http://schemas.openxmlformats.org/drawingml/2006/main">
              <a:ext uri="{FF2B5EF4-FFF2-40B4-BE49-F238E27FC236}">
                <a16:creationId xmlns:a16="http://schemas.microsoft.com/office/drawing/2014/main" id="{97997AD2-4465-47D8-9592-529E38E8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341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7" name="text-31">
            <a:extLst xmlns:a="http://schemas.openxmlformats.org/drawingml/2006/main">
              <a:ext uri="{FF2B5EF4-FFF2-40B4-BE49-F238E27FC236}">
                <a16:creationId xmlns:a16="http://schemas.microsoft.com/office/drawing/2014/main" id="{85F64272-FCB7-4D3C-BDFD-39EA5DE8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본문과 표를 구분해 추출한 뒤, 결과를 살펴보며 중복을 발견했습니다</a:t>
            </a:r>
          </a:p>
        </p:txBody>
      </p:sp>
      <p:sp>
        <p:nvSpPr>
          <p:cNvPr id="8" name="text-32">
            <a:extLst xmlns:a="http://schemas.openxmlformats.org/drawingml/2006/main">
              <a:ext uri="{FF2B5EF4-FFF2-40B4-BE49-F238E27FC236}">
                <a16:creationId xmlns:a16="http://schemas.microsoft.com/office/drawing/2014/main" id="{B9E67C08-2D5D-4D08-BC54-C639C91F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81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실제 RFP 표의 일부</a:t>
            </a:r>
          </a:p>
        </p:txBody>
      </p:sp>
      <p:sp>
        <p:nvSpPr>
          <p:cNvPr id="9" name="text-33">
            <a:extLst xmlns:a="http://schemas.openxmlformats.org/drawingml/2006/main">
              <a:ext uri="{FF2B5EF4-FFF2-40B4-BE49-F238E27FC236}">
                <a16:creationId xmlns:a16="http://schemas.microsoft.com/office/drawing/2014/main" id="{6CBF1A9D-F5FD-45AC-9412-6CED9E81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산출물과 제출시기를 함께 읽어야 합니다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E41AE-D4B3-44F1-9411-91E6CC9E36C7}"/>
              </a:ext>
            </a:extLst>
          </p:cNvPr>
          <p:cNvGraphicFramePr/>
          <p:nvPr/>
        </p:nvGraphicFramePr>
        <p:xfrm>
          <a:off xmlns:a="http://schemas.openxmlformats.org/drawingml/2006/main" x="609600" y="2962275"/>
          <a:ext xmlns:a="http://schemas.openxmlformats.org/drawingml/2006/main" cx="4953000" cy="1762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286000"/>
                <a:gridCol w="857250"/>
              </a:tblGrid>
              <a:tr h="5873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3A5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산출물 종류</a:t>
                      </a:r>
                    </a:p>
                  </a:txBody>
                  <a:tcPr marL="133350" marR="95250" marT="114300" marB="76200">
                    <a:lnL w="9525">
                      <a:solidFill>
                        <a:srgbClr val="DCE5F0"/>
                      </a:solidFill>
                      <a:prstDash val="soli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T w="9525">
                      <a:solidFill>
                        <a:srgbClr val="DCE5F0"/>
                      </a:solidFill>
                      <a:prstDash val="soli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3A5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제출시기</a:t>
                      </a:r>
                    </a:p>
                  </a:txBody>
                  <a:tcPr marL="133350" marR="95250" marT="114300" marB="76200">
                    <a:lnR w="9525">
                      <a:solidFill>
                        <a:srgbClr val="DCE5F0"/>
                      </a:solidFill>
                      <a:prstDash val="solid"/>
                    </a:lnR>
                    <a:lnT w="9525">
                      <a:solidFill>
                        <a:srgbClr val="DCE5F0"/>
                      </a:solidFill>
                      <a:prstDash val="soli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E3A5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수량</a:t>
                      </a:r>
                    </a:p>
                  </a:txBody>
                  <a:tcPr marL="133350" marR="95250" marT="114300" marB="76200">
                    <a:lnR w="9525">
                      <a:solidFill>
                        <a:srgbClr val="DCE5F0"/>
                      </a:solidFill>
                      <a:prstDash val="solid"/>
                    </a:lnR>
                    <a:lnT w="9525">
                      <a:solidFill>
                        <a:srgbClr val="DCE5F0"/>
                      </a:solidFill>
                      <a:prstDash val="solid"/>
                    </a:lnT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E0F2FE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3415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사업수행계획서</a:t>
                      </a:r>
                    </a:p>
                  </a:txBody>
                  <a:tcPr marL="133350" marR="95250" marT="114300" marB="76200">
                    <a:lnL w="9525">
                      <a:solidFill>
                        <a:srgbClr val="DCE5F0"/>
                      </a:solidFill>
                      <a:prstDash val="soli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3415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계약일로부터</a:t>
                      </a:r>
                    </a:p>
                    <a:p>
                      <a:r>
                        <a:rPr sz="1575">
                          <a:solidFill>
                            <a:srgbClr val="33415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10일 이내</a:t>
                      </a:r>
                    </a:p>
                  </a:txBody>
                  <a:tcPr marL="133350" marR="95250" marT="114300" marB="76200">
                    <a:lnR w="9525">
                      <a:solidFill>
                        <a:srgbClr val="DCE5F0"/>
                      </a:solidFill>
                      <a:prstDash val="solid"/>
                    </a:lnR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3415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1부</a:t>
                      </a:r>
                    </a:p>
                  </a:txBody>
                  <a:tcPr marL="133350" marR="95250" marT="114300" marB="76200">
                    <a:lnR w="9525">
                      <a:solidFill>
                        <a:srgbClr val="DCE5F0"/>
                      </a:solidFill>
                      <a:prstDash val="solid"/>
                    </a:lnR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3415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최종보고서</a:t>
                      </a:r>
                    </a:p>
                  </a:txBody>
                  <a:tcPr marL="133350" marR="95250" marT="114300" marB="76200">
                    <a:lnL w="9525">
                      <a:solidFill>
                        <a:srgbClr val="DCE5F0"/>
                      </a:solidFill>
                      <a:prstDash val="solid"/>
                    </a:lnL>
                    <a:lnR w="9525">
                      <a:solidFill>
                        <a:srgbClr val="DCE5F0"/>
                      </a:solidFill>
                      <a:prstDash val="solid"/>
                    </a:lnR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3415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사업종료시</a:t>
                      </a:r>
                    </a:p>
                  </a:txBody>
                  <a:tcPr marL="133350" marR="95250" marT="114300" marB="76200">
                    <a:lnR w="9525">
                      <a:solidFill>
                        <a:srgbClr val="DCE5F0"/>
                      </a:solidFill>
                      <a:prstDash val="solid"/>
                    </a:lnR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334155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3부</a:t>
                      </a:r>
                    </a:p>
                  </a:txBody>
                  <a:tcPr marL="133350" marR="95250" marT="114300" marB="76200">
                    <a:lnR w="9525">
                      <a:solidFill>
                        <a:srgbClr val="DCE5F0"/>
                      </a:solidFill>
                      <a:prstDash val="solid"/>
                    </a:lnR>
                    <a:lnB w="9525">
                      <a:solidFill>
                        <a:srgbClr val="DCE5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-34">
            <a:extLst xmlns:a="http://schemas.openxmlformats.org/drawingml/2006/main">
              <a:ext uri="{FF2B5EF4-FFF2-40B4-BE49-F238E27FC236}">
                <a16:creationId xmlns:a16="http://schemas.microsoft.com/office/drawing/2014/main" id="{E7555DE5-BFF8-4956-91BA-79E60918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원문의 두 행·세 열 발췌 재배치</a:t>
            </a:r>
          </a:p>
        </p:txBody>
      </p:sp>
      <p:sp>
        <p:nvSpPr>
          <p:cNvPr id="12" name="text-35">
            <a:extLst xmlns:a="http://schemas.openxmlformats.org/drawingml/2006/main">
              <a:ext uri="{FF2B5EF4-FFF2-40B4-BE49-F238E27FC236}">
                <a16:creationId xmlns:a16="http://schemas.microsoft.com/office/drawing/2014/main" id="{BAAD1F28-BA10-4C60-B022-27D25F06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766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3" name="text-36">
            <a:extLst xmlns:a="http://schemas.openxmlformats.org/drawingml/2006/main">
              <a:ext uri="{FF2B5EF4-FFF2-40B4-BE49-F238E27FC236}">
                <a16:creationId xmlns:a16="http://schemas.microsoft.com/office/drawing/2014/main" id="{49F8A3C3-D3DC-4007-AA1D-3CF46363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519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한글 문서에서 본문과 표를 꺼내는 도구</a:t>
            </a:r>
          </a:p>
        </p:txBody>
      </p:sp>
      <p:sp>
        <p:nvSpPr>
          <p:cNvPr id="14" name="text-37">
            <a:extLst xmlns:a="http://schemas.openxmlformats.org/drawingml/2006/main">
              <a:ext uri="{FF2B5EF4-FFF2-40B4-BE49-F238E27FC236}">
                <a16:creationId xmlns:a16="http://schemas.microsoft.com/office/drawing/2014/main" id="{C811180A-40D3-4C55-9641-CB2E68BC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519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HwpHwpxLoader 사용 · 아래는 이해를 돕는 요약도(실제 추출 화면 아님)</a:t>
            </a:r>
          </a:p>
        </p:txBody>
      </p:sp>
      <p:sp>
        <p:nvSpPr>
          <p:cNvPr id="15" name="diagram-38">
            <a:extLst xmlns:a="http://schemas.openxmlformats.org/drawingml/2006/main">
              <a:ext uri="{FF2B5EF4-FFF2-40B4-BE49-F238E27FC236}">
                <a16:creationId xmlns:a16="http://schemas.microsoft.com/office/drawing/2014/main" id="{6B8E9A10-85A2-4D10-A649-E1CFB2DE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52006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</p:sp>
      <p:sp>
        <p:nvSpPr>
          <p:cNvPr id="16" name="text-39">
            <a:extLst xmlns:a="http://schemas.openxmlformats.org/drawingml/2006/main">
              <a:ext uri="{FF2B5EF4-FFF2-40B4-BE49-F238E27FC236}">
                <a16:creationId xmlns:a16="http://schemas.microsoft.com/office/drawing/2014/main" id="{9CA1E14F-B881-4ED8-8D5E-59B8F93F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본문에도</a:t>
            </a:r>
          </a:p>
        </p:txBody>
      </p:sp>
      <p:sp>
        <p:nvSpPr>
          <p:cNvPr id="17" name="text-40">
            <a:extLst xmlns:a="http://schemas.openxmlformats.org/drawingml/2006/main">
              <a:ext uri="{FF2B5EF4-FFF2-40B4-BE49-F238E27FC236}">
                <a16:creationId xmlns:a16="http://schemas.microsoft.com/office/drawing/2014/main" id="{012790D0-A848-421C-A115-3B6622E4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사업수행계획서 · 10일 이내 · 1부</a:t>
            </a:r>
          </a:p>
        </p:txBody>
      </p:sp>
      <p:sp>
        <p:nvSpPr>
          <p:cNvPr id="18" name="diagram-41">
            <a:extLst xmlns:a="http://schemas.openxmlformats.org/drawingml/2006/main">
              <a:ext uri="{FF2B5EF4-FFF2-40B4-BE49-F238E27FC236}">
                <a16:creationId xmlns:a16="http://schemas.microsoft.com/office/drawing/2014/main" id="{F179DE49-B534-4E8C-9D50-B5C41AC1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9525"/>
            <a:ext cx="52006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</p:sp>
      <p:sp>
        <p:nvSpPr>
          <p:cNvPr id="19" name="text-42">
            <a:extLst xmlns:a="http://schemas.openxmlformats.org/drawingml/2006/main">
              <a:ext uri="{FF2B5EF4-FFF2-40B4-BE49-F238E27FC236}">
                <a16:creationId xmlns:a16="http://schemas.microsoft.com/office/drawing/2014/main" id="{A74C78F2-AADA-441A-9101-6D5CBDD7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24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별도 표에도</a:t>
            </a:r>
          </a:p>
        </p:txBody>
      </p:sp>
      <p:sp>
        <p:nvSpPr>
          <p:cNvPr id="20" name="text-43">
            <a:extLst xmlns:a="http://schemas.openxmlformats.org/drawingml/2006/main">
              <a:ext uri="{FF2B5EF4-FFF2-40B4-BE49-F238E27FC236}">
                <a16:creationId xmlns:a16="http://schemas.microsoft.com/office/drawing/2014/main" id="{1F431E9F-47F8-4D4A-86F2-6BE7CEC7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사업수행계획서 · 10일 이내 · 1부</a:t>
            </a:r>
          </a:p>
        </p:txBody>
      </p:sp>
      <p:sp>
        <p:nvSpPr>
          <p:cNvPr id="21" name="text-44">
            <a:extLst xmlns:a="http://schemas.openxmlformats.org/drawingml/2006/main">
              <a:ext uri="{FF2B5EF4-FFF2-40B4-BE49-F238E27FC236}">
                <a16:creationId xmlns:a16="http://schemas.microsoft.com/office/drawing/2014/main" id="{13F014F9-033E-48C0-A404-B14657E6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52975"/>
            <a:ext cx="520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5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5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5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5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5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5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5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5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5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226개 표 중 213개가 문자열 그대로 본문에 포함</a:t>
            </a:r>
          </a:p>
        </p:txBody>
      </p:sp>
      <p:sp>
        <p:nvSpPr>
          <p:cNvPr id="22" name="diagram-45">
            <a:extLst xmlns:a="http://schemas.openxmlformats.org/drawingml/2006/main">
              <a:ext uri="{FF2B5EF4-FFF2-40B4-BE49-F238E27FC236}">
                <a16:creationId xmlns:a16="http://schemas.microsoft.com/office/drawing/2014/main" id="{3E34C4DD-CEEB-4F45-9AD5-A5DD1DEC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noFill/>
          </a:ln>
        </p:spPr>
      </p:sp>
      <p:sp>
        <p:nvSpPr>
          <p:cNvPr id="23" name="text-46">
            <a:extLst xmlns:a="http://schemas.openxmlformats.org/drawingml/2006/main">
              <a:ext uri="{FF2B5EF4-FFF2-40B4-BE49-F238E27FC236}">
                <a16:creationId xmlns:a16="http://schemas.microsoft.com/office/drawing/2014/main" id="{16DB1D90-265D-43EC-AC0A-6A0416C5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그대로 합치면 중복될 수 있음</a:t>
            </a:r>
          </a:p>
        </p:txBody>
      </p:sp>
      <p:sp>
        <p:nvSpPr>
          <p:cNvPr id="24" name="text-47">
            <a:extLst xmlns:a="http://schemas.openxmlformats.org/drawingml/2006/main">
              <a:ext uri="{FF2B5EF4-FFF2-40B4-BE49-F238E27FC236}">
                <a16:creationId xmlns:a16="http://schemas.microsoft.com/office/drawing/2014/main" id="{A5A65B42-22CA-44EA-A230-5DB8C7CA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95925"/>
            <a:ext cx="5381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표를 지우면 항목과 설명의 연결 확인이 어려움</a:t>
            </a:r>
          </a:p>
        </p:txBody>
      </p:sp>
      <p:sp>
        <p:nvSpPr>
          <p:cNvPr id="25" name="text-48">
            <a:extLst xmlns:a="http://schemas.openxmlformats.org/drawingml/2006/main">
              <a:ext uri="{FF2B5EF4-FFF2-40B4-BE49-F238E27FC236}">
                <a16:creationId xmlns:a16="http://schemas.microsoft.com/office/drawing/2014/main" id="{38630D31-FDB8-4D61-B0F5-D1C9F334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그래서 중복 여부와 함께 표 구조·원문 위치를 확인했습니다</a:t>
            </a:r>
          </a:p>
        </p:txBody>
      </p:sp>
    </p:spTree>
    <p:extLst>
      <p:ext uri="{BB962C8B-B14F-4D97-AF65-F5344CB8AC3E}">
        <p14:creationId xmlns:p14="http://schemas.microsoft.com/office/powerpoint/2010/main" val="19700725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49">
            <a:extLst xmlns:a="http://schemas.openxmlformats.org/drawingml/2006/main">
              <a:ext uri="{FF2B5EF4-FFF2-40B4-BE49-F238E27FC236}">
                <a16:creationId xmlns:a16="http://schemas.microsoft.com/office/drawing/2014/main" id="{673EAD71-6D43-46C9-BE6A-ADE8FBE3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03  문서 준비와 검증</a:t>
            </a:r>
          </a:p>
        </p:txBody>
      </p:sp>
      <p:sp>
        <p:nvSpPr>
          <p:cNvPr id="2" name="text-50">
            <a:extLst xmlns:a="http://schemas.openxmlformats.org/drawingml/2006/main">
              <a:ext uri="{FF2B5EF4-FFF2-40B4-BE49-F238E27FC236}">
                <a16:creationId xmlns:a16="http://schemas.microsoft.com/office/drawing/2014/main" id="{AEE3C310-6D9D-49E1-9CE9-BD5D53D2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대표 HWP 1건</a:t>
            </a:r>
          </a:p>
        </p:txBody>
      </p:sp>
      <p:sp>
        <p:nvSpPr>
          <p:cNvPr id="3" name="text-51">
            <a:extLst xmlns:a="http://schemas.openxmlformats.org/drawingml/2006/main">
              <a:ext uri="{FF2B5EF4-FFF2-40B4-BE49-F238E27FC236}">
                <a16:creationId xmlns:a16="http://schemas.microsoft.com/office/drawing/2014/main" id="{0C33E52D-0CAD-4E0F-AE79-C21C0E93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본문에 표시만 남은 이미지는 따로 꺼내 확인했습니다</a:t>
            </a:r>
          </a:p>
        </p:txBody>
      </p:sp>
      <p:sp>
        <p:nvSpPr>
          <p:cNvPr id="4" name="diagram-52">
            <a:extLst xmlns:a="http://schemas.openxmlformats.org/drawingml/2006/main">
              <a:ext uri="{FF2B5EF4-FFF2-40B4-BE49-F238E27FC236}">
                <a16:creationId xmlns:a16="http://schemas.microsoft.com/office/drawing/2014/main" id="{0F405D51-765A-47A6-8723-A21743DA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noFill/>
          </a:ln>
        </p:spPr>
      </p:sp>
      <p:sp>
        <p:nvSpPr>
          <p:cNvPr id="5" name="text-53">
            <a:extLst xmlns:a="http://schemas.openxmlformats.org/drawingml/2006/main">
              <a:ext uri="{FF2B5EF4-FFF2-40B4-BE49-F238E27FC236}">
                <a16:creationId xmlns:a16="http://schemas.microsoft.com/office/drawing/2014/main" id="{80F970E5-46A2-46FD-B744-21E50FEB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입찰메이트  /  데이터 탐색·전처리</a:t>
            </a:r>
          </a:p>
        </p:txBody>
      </p:sp>
      <p:sp>
        <p:nvSpPr>
          <p:cNvPr id="6" name="text-54">
            <a:extLst xmlns:a="http://schemas.openxmlformats.org/drawingml/2006/main">
              <a:ext uri="{FF2B5EF4-FFF2-40B4-BE49-F238E27FC236}">
                <a16:creationId xmlns:a16="http://schemas.microsoft.com/office/drawing/2014/main" id="{F2A2C23F-1773-4398-8037-638FFD42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341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7" name="text-55">
            <a:extLst xmlns:a="http://schemas.openxmlformats.org/drawingml/2006/main">
              <a:ext uri="{FF2B5EF4-FFF2-40B4-BE49-F238E27FC236}">
                <a16:creationId xmlns:a16="http://schemas.microsoft.com/office/drawing/2014/main" id="{94ABFA8C-B927-4F01-A296-F0D4F65A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OCR: 이미지 속 글자를 읽을 수 있는 텍스트로 바꾸는 기술</a:t>
            </a:r>
          </a:p>
        </p:txBody>
      </p:sp>
      <p:sp>
        <p:nvSpPr>
          <p:cNvPr id="8" name="text-56">
            <a:extLst xmlns:a="http://schemas.openxmlformats.org/drawingml/2006/main">
              <a:ext uri="{FF2B5EF4-FFF2-40B4-BE49-F238E27FC236}">
                <a16:creationId xmlns:a16="http://schemas.microsoft.com/office/drawing/2014/main" id="{F901BB75-FB63-47D5-9C6A-9E3D0785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처음에는 본문에 [IMAGE] 표시만 남음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C6CEC-4F86-4ED1-BCA5-B9F6F5618F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b3f7ea43448db"/>
          <a:srcRect xmlns:a="http://schemas.openxmlformats.org/drawingml/2006/main" l="0" t="0" r="0" b="62000"/>
          <a:stretch xmlns:a="http://schemas.openxmlformats.org/drawingml/2006/main"/>
        </p:blipFill>
        <p:spPr>
          <a:xfrm xmlns:a="http://schemas.openxmlformats.org/drawingml/2006/main">
            <a:off x="609600" y="2857500"/>
            <a:ext cx="5048250" cy="2619375"/>
          </a:xfrm>
          <a:prstGeom xmlns:a="http://schemas.openxmlformats.org/drawingml/2006/main" prst="rect">
            <a:avLst/>
          </a:prstGeom>
        </p:spPr>
      </p:pic>
      <p:sp>
        <p:nvSpPr>
          <p:cNvPr id="10" name="text-57">
            <a:extLst xmlns:a="http://schemas.openxmlformats.org/drawingml/2006/main">
              <a:ext uri="{FF2B5EF4-FFF2-40B4-BE49-F238E27FC236}">
                <a16:creationId xmlns:a16="http://schemas.microsoft.com/office/drawing/2014/main" id="{710DB066-0E66-42D2-AE67-2381D323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실제로 저장해 확인한 이미지 일부</a:t>
            </a:r>
          </a:p>
        </p:txBody>
      </p:sp>
      <p:sp>
        <p:nvSpPr>
          <p:cNvPr id="11" name="text-58">
            <a:extLst xmlns:a="http://schemas.openxmlformats.org/drawingml/2006/main">
              <a:ext uri="{FF2B5EF4-FFF2-40B4-BE49-F238E27FC236}">
                <a16:creationId xmlns:a16="http://schemas.microsoft.com/office/drawing/2014/main" id="{BEACCD89-8C99-45FA-949F-BFB55575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343150"/>
            <a:ext cx="549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1  이미지 추출 설정 보완</a:t>
            </a:r>
          </a:p>
        </p:txBody>
      </p:sp>
      <p:sp>
        <p:nvSpPr>
          <p:cNvPr id="12" name="text-59">
            <a:extLst xmlns:a="http://schemas.openxmlformats.org/drawingml/2006/main">
              <a:ext uri="{FF2B5EF4-FFF2-40B4-BE49-F238E27FC236}">
                <a16:creationId xmlns:a16="http://schemas.microsoft.com/office/drawing/2014/main" id="{285F421E-E267-4F3C-BAD4-B7A9681D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71775"/>
            <a:ext cx="51720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이미지 파일을 따로 저장하고 직접 확인</a:t>
            </a:r>
          </a:p>
        </p:txBody>
      </p:sp>
      <p:sp>
        <p:nvSpPr>
          <p:cNvPr id="13" name="text-60">
            <a:extLst xmlns:a="http://schemas.openxmlformats.org/drawingml/2006/main">
              <a:ext uri="{FF2B5EF4-FFF2-40B4-BE49-F238E27FC236}">
                <a16:creationId xmlns:a16="http://schemas.microsoft.com/office/drawing/2014/main" id="{93943481-7B75-4CA9-9C2C-80B91899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638550"/>
            <a:ext cx="549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2  글자 정보가 있는 이미지 선정</a:t>
            </a:r>
          </a:p>
        </p:txBody>
      </p:sp>
      <p:sp>
        <p:nvSpPr>
          <p:cNvPr id="14" name="text-61">
            <a:extLst xmlns:a="http://schemas.openxmlformats.org/drawingml/2006/main">
              <a:ext uri="{FF2B5EF4-FFF2-40B4-BE49-F238E27FC236}">
                <a16:creationId xmlns:a16="http://schemas.microsoft.com/office/drawing/2014/main" id="{49B321E9-87C7-48CD-8B4F-971543D5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05275"/>
            <a:ext cx="5172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추출 9개 중 7개를 OCR 검토 대상으로</a:t>
            </a:r>
          </a:p>
        </p:txBody>
      </p:sp>
      <p:sp>
        <p:nvSpPr>
          <p:cNvPr id="15" name="text-62">
            <a:extLst xmlns:a="http://schemas.openxmlformats.org/drawingml/2006/main">
              <a:ext uri="{FF2B5EF4-FFF2-40B4-BE49-F238E27FC236}">
                <a16:creationId xmlns:a16="http://schemas.microsoft.com/office/drawing/2014/main" id="{EFDEF5BB-FF92-4459-BE6D-CCA6EF08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876800"/>
            <a:ext cx="5172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화면·인쇄 문서·손글씨를 확인해 선정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로고·장식 이미지는 대상에서 제외</a:t>
            </a:r>
          </a:p>
        </p:txBody>
      </p:sp>
      <p:sp>
        <p:nvSpPr>
          <p:cNvPr id="16" name="text-63">
            <a:extLst xmlns:a="http://schemas.openxmlformats.org/drawingml/2006/main">
              <a:ext uri="{FF2B5EF4-FFF2-40B4-BE49-F238E27FC236}">
                <a16:creationId xmlns:a16="http://schemas.microsoft.com/office/drawing/2014/main" id="{95488616-41A9-4BA6-8092-3CF97194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5848350"/>
            <a:ext cx="54959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이 페이지의 범위는 대표문서의 이미지 추출·대상 선정입니다</a:t>
            </a:r>
          </a:p>
        </p:txBody>
      </p:sp>
    </p:spTree>
    <p:extLst>
      <p:ext uri="{BB962C8B-B14F-4D97-AF65-F5344CB8AC3E}">
        <p14:creationId xmlns:p14="http://schemas.microsoft.com/office/powerpoint/2010/main" val="1645840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64">
            <a:extLst xmlns:a="http://schemas.openxmlformats.org/drawingml/2006/main">
              <a:ext uri="{FF2B5EF4-FFF2-40B4-BE49-F238E27FC236}">
                <a16:creationId xmlns:a16="http://schemas.microsoft.com/office/drawing/2014/main" id="{FDA7AC34-78AD-4BCA-BB20-B31CD766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04  문서 준비와 검증</a:t>
            </a:r>
          </a:p>
        </p:txBody>
      </p:sp>
      <p:sp>
        <p:nvSpPr>
          <p:cNvPr id="2" name="text-65">
            <a:extLst xmlns:a="http://schemas.openxmlformats.org/drawingml/2006/main">
              <a:ext uri="{FF2B5EF4-FFF2-40B4-BE49-F238E27FC236}">
                <a16:creationId xmlns:a16="http://schemas.microsoft.com/office/drawing/2014/main" id="{7422A507-F117-4E41-AA27-5A5CC8D3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대표문서 문자 정제</a:t>
            </a:r>
          </a:p>
        </p:txBody>
      </p:sp>
      <p:sp>
        <p:nvSpPr>
          <p:cNvPr id="3" name="text-66">
            <a:extLst xmlns:a="http://schemas.openxmlformats.org/drawingml/2006/main">
              <a:ext uri="{FF2B5EF4-FFF2-40B4-BE49-F238E27FC236}">
                <a16:creationId xmlns:a16="http://schemas.microsoft.com/office/drawing/2014/main" id="{6A1ED502-D2B6-4A64-ACE8-E2B25B6C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한자와 특수기호도 뜻을 확인한 뒤 정리했습니다</a:t>
            </a:r>
          </a:p>
        </p:txBody>
      </p:sp>
      <p:sp>
        <p:nvSpPr>
          <p:cNvPr id="4" name="diagram-67">
            <a:extLst xmlns:a="http://schemas.openxmlformats.org/drawingml/2006/main">
              <a:ext uri="{FF2B5EF4-FFF2-40B4-BE49-F238E27FC236}">
                <a16:creationId xmlns:a16="http://schemas.microsoft.com/office/drawing/2014/main" id="{2ECA6B15-08B5-4167-BDD2-97CA7736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noFill/>
          </a:ln>
        </p:spPr>
      </p:sp>
      <p:sp>
        <p:nvSpPr>
          <p:cNvPr id="5" name="text-68">
            <a:extLst xmlns:a="http://schemas.openxmlformats.org/drawingml/2006/main">
              <a:ext uri="{FF2B5EF4-FFF2-40B4-BE49-F238E27FC236}">
                <a16:creationId xmlns:a16="http://schemas.microsoft.com/office/drawing/2014/main" id="{BDA56612-9A73-4F62-A7E7-91778530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입찰메이트  /  데이터 탐색·전처리</a:t>
            </a:r>
          </a:p>
        </p:txBody>
      </p:sp>
      <p:sp>
        <p:nvSpPr>
          <p:cNvPr id="6" name="text-69">
            <a:extLst xmlns:a="http://schemas.openxmlformats.org/drawingml/2006/main">
              <a:ext uri="{FF2B5EF4-FFF2-40B4-BE49-F238E27FC236}">
                <a16:creationId xmlns:a16="http://schemas.microsoft.com/office/drawing/2014/main" id="{71F5ACA4-9E52-431E-9E8B-E471C567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341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7" name="text-70">
            <a:extLst xmlns:a="http://schemas.openxmlformats.org/drawingml/2006/main">
              <a:ext uri="{FF2B5EF4-FFF2-40B4-BE49-F238E27FC236}">
                <a16:creationId xmlns:a16="http://schemas.microsoft.com/office/drawing/2014/main" id="{F7DD3B25-185E-4274-9C21-49821F18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한자는 읽는 법을 덧붙이고, 뜻이 있는 기호는 그대로 남겼습니다</a:t>
            </a:r>
          </a:p>
        </p:txBody>
      </p:sp>
      <p:sp>
        <p:nvSpPr>
          <p:cNvPr id="8" name="text-71">
            <a:extLst xmlns:a="http://schemas.openxmlformats.org/drawingml/2006/main">
              <a:ext uri="{FF2B5EF4-FFF2-40B4-BE49-F238E27FC236}">
                <a16:creationId xmlns:a16="http://schemas.microsoft.com/office/drawing/2014/main" id="{81EF6D17-A4B5-42A2-8E4B-6777EF90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한자: 원래 글자에 읽는 법 추가</a:t>
            </a:r>
          </a:p>
        </p:txBody>
      </p:sp>
      <p:sp>
        <p:nvSpPr>
          <p:cNvPr id="9" name="text-72">
            <a:extLst xmlns:a="http://schemas.openxmlformats.org/drawingml/2006/main">
              <a:ext uri="{FF2B5EF4-FFF2-40B4-BE49-F238E27FC236}">
                <a16:creationId xmlns:a16="http://schemas.microsoft.com/office/drawing/2014/main" id="{492513EF-26A1-406D-B25A-636739FF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524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內 과업</a:t>
            </a:r>
          </a:p>
        </p:txBody>
      </p:sp>
      <p:sp>
        <p:nvSpPr>
          <p:cNvPr id="10" name="text-73">
            <a:extLst xmlns:a="http://schemas.openxmlformats.org/drawingml/2006/main">
              <a:ext uri="{FF2B5EF4-FFF2-40B4-BE49-F238E27FC236}">
                <a16:creationId xmlns:a16="http://schemas.microsoft.com/office/drawing/2014/main" id="{1E81CF30-35FF-4C9D-9D66-2E71A034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575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1" name="text-74">
            <a:extLst xmlns:a="http://schemas.openxmlformats.org/drawingml/2006/main">
              <a:ext uri="{FF2B5EF4-FFF2-40B4-BE49-F238E27FC236}">
                <a16:creationId xmlns:a16="http://schemas.microsoft.com/office/drawing/2014/main" id="{C486C428-DA89-4A1A-864B-013BF3CA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49149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內(내) 과업</a:t>
            </a:r>
          </a:p>
        </p:txBody>
      </p:sp>
      <p:sp>
        <p:nvSpPr>
          <p:cNvPr id="12" name="text-75">
            <a:extLst xmlns:a="http://schemas.openxmlformats.org/drawingml/2006/main">
              <a:ext uri="{FF2B5EF4-FFF2-40B4-BE49-F238E27FC236}">
                <a16:creationId xmlns:a16="http://schemas.microsoft.com/office/drawing/2014/main" id="{24FE27E0-593D-45C8-BD4A-1375A8FC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처리 방식 설명용 예시</a:t>
            </a:r>
          </a:p>
        </p:txBody>
      </p:sp>
      <p:sp>
        <p:nvSpPr>
          <p:cNvPr id="13" name="text-76">
            <a:extLst xmlns:a="http://schemas.openxmlformats.org/drawingml/2006/main">
              <a:ext uri="{FF2B5EF4-FFF2-40B4-BE49-F238E27FC236}">
                <a16:creationId xmlns:a16="http://schemas.microsoft.com/office/drawing/2014/main" id="{A8740E31-9126-482D-B2BD-DD4D04C3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71900"/>
            <a:ext cx="491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읽는 법이 확인된 한자에만 추가했습니다</a:t>
            </a:r>
          </a:p>
        </p:txBody>
      </p:sp>
      <p:sp>
        <p:nvSpPr>
          <p:cNvPr id="14" name="diagram-77">
            <a:extLst xmlns:a="http://schemas.openxmlformats.org/drawingml/2006/main">
              <a:ext uri="{FF2B5EF4-FFF2-40B4-BE49-F238E27FC236}">
                <a16:creationId xmlns:a16="http://schemas.microsoft.com/office/drawing/2014/main" id="{24CAC633-3B8A-4515-A363-30D70321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noFill/>
          </a:ln>
        </p:spPr>
      </p:sp>
      <p:sp>
        <p:nvSpPr>
          <p:cNvPr id="15" name="text-78">
            <a:extLst xmlns:a="http://schemas.openxmlformats.org/drawingml/2006/main">
              <a:ext uri="{FF2B5EF4-FFF2-40B4-BE49-F238E27FC236}">
                <a16:creationId xmlns:a16="http://schemas.microsoft.com/office/drawing/2014/main" id="{0B73835A-5E20-43BD-B457-98DB9778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특수기호: 숫자가 뜻하는 단위를 유지</a:t>
            </a:r>
          </a:p>
        </p:txBody>
      </p:sp>
      <p:sp>
        <p:nvSpPr>
          <p:cNvPr id="16" name="text-79">
            <a:extLst xmlns:a="http://schemas.openxmlformats.org/drawingml/2006/main">
              <a:ext uri="{FF2B5EF4-FFF2-40B4-BE49-F238E27FC236}">
                <a16:creationId xmlns:a16="http://schemas.microsoft.com/office/drawing/2014/main" id="{3EA0C3E2-89F0-47E9-91E0-BFDC4601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40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40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40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40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40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40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40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40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40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0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90%</a:t>
            </a:r>
          </a:p>
        </p:txBody>
      </p:sp>
      <p:sp>
        <p:nvSpPr>
          <p:cNvPr id="17" name="text-80">
            <a:extLst xmlns:a="http://schemas.openxmlformats.org/drawingml/2006/main">
              <a:ext uri="{FF2B5EF4-FFF2-40B4-BE49-F238E27FC236}">
                <a16:creationId xmlns:a16="http://schemas.microsoft.com/office/drawing/2014/main" id="{AD09E481-F7D9-4A60-8211-9EF15FA3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53025"/>
            <a:ext cx="7239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‘%’를 지우면 비율인지 알 수 없습니다</a:t>
            </a:r>
          </a:p>
          <a:p xmlns:a="http://schemas.openxmlformats.org/drawingml/2006/main">
            <a:pPr>
              <a:defRPr sz="21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그래서 숫자와 함께 남겼습니다</a:t>
            </a:r>
          </a:p>
        </p:txBody>
      </p:sp>
      <p:sp>
        <p:nvSpPr>
          <p:cNvPr id="18" name="text-81">
            <a:extLst xmlns:a="http://schemas.openxmlformats.org/drawingml/2006/main">
              <a:ext uri="{FF2B5EF4-FFF2-40B4-BE49-F238E27FC236}">
                <a16:creationId xmlns:a16="http://schemas.microsoft.com/office/drawing/2014/main" id="{BC604A9E-FDE6-4D4F-9A57-35A46AB8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실제 문맥: 기술평가(90%)와 가격평가(10%) · 노트북 발췌</a:t>
            </a:r>
          </a:p>
        </p:txBody>
      </p:sp>
    </p:spTree>
    <p:extLst>
      <p:ext uri="{BB962C8B-B14F-4D97-AF65-F5344CB8AC3E}">
        <p14:creationId xmlns:p14="http://schemas.microsoft.com/office/powerpoint/2010/main" val="17678139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82">
            <a:extLst xmlns:a="http://schemas.openxmlformats.org/drawingml/2006/main">
              <a:ext uri="{FF2B5EF4-FFF2-40B4-BE49-F238E27FC236}">
                <a16:creationId xmlns:a16="http://schemas.microsoft.com/office/drawing/2014/main" id="{A9067FE6-627E-4411-A5F8-886E5FBF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05  문서 준비와 검증</a:t>
            </a:r>
          </a:p>
        </p:txBody>
      </p:sp>
      <p:sp>
        <p:nvSpPr>
          <p:cNvPr id="2" name="text-83">
            <a:extLst xmlns:a="http://schemas.openxmlformats.org/drawingml/2006/main">
              <a:ext uri="{FF2B5EF4-FFF2-40B4-BE49-F238E27FC236}">
                <a16:creationId xmlns:a16="http://schemas.microsoft.com/office/drawing/2014/main" id="{14E69F5C-D836-4325-89A7-EA7FDF70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실제 요구사항 예시·공유 v12</a:t>
            </a:r>
          </a:p>
        </p:txBody>
      </p:sp>
      <p:sp>
        <p:nvSpPr>
          <p:cNvPr id="3" name="text-84">
            <a:extLst xmlns:a="http://schemas.openxmlformats.org/drawingml/2006/main">
              <a:ext uri="{FF2B5EF4-FFF2-40B4-BE49-F238E27FC236}">
                <a16:creationId xmlns:a16="http://schemas.microsoft.com/office/drawing/2014/main" id="{65889398-CF2A-47D9-87F1-46D28F38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같은 요구사항 번호라도 내용의 역할을 확인해야 합니다</a:t>
            </a:r>
          </a:p>
        </p:txBody>
      </p:sp>
      <p:sp>
        <p:nvSpPr>
          <p:cNvPr id="4" name="diagram-85">
            <a:extLst xmlns:a="http://schemas.openxmlformats.org/drawingml/2006/main">
              <a:ext uri="{FF2B5EF4-FFF2-40B4-BE49-F238E27FC236}">
                <a16:creationId xmlns:a16="http://schemas.microsoft.com/office/drawing/2014/main" id="{259F5044-1B1C-45CC-A6B0-8B1817BC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noFill/>
          </a:ln>
        </p:spPr>
      </p:sp>
      <p:sp>
        <p:nvSpPr>
          <p:cNvPr id="5" name="text-86">
            <a:extLst xmlns:a="http://schemas.openxmlformats.org/drawingml/2006/main">
              <a:ext uri="{FF2B5EF4-FFF2-40B4-BE49-F238E27FC236}">
                <a16:creationId xmlns:a16="http://schemas.microsoft.com/office/drawing/2014/main" id="{0CAF4273-9244-435F-8205-0A63A8DB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입찰메이트  /  데이터 탐색·전처리</a:t>
            </a:r>
          </a:p>
        </p:txBody>
      </p:sp>
      <p:sp>
        <p:nvSpPr>
          <p:cNvPr id="6" name="text-87">
            <a:extLst xmlns:a="http://schemas.openxmlformats.org/drawingml/2006/main">
              <a:ext uri="{FF2B5EF4-FFF2-40B4-BE49-F238E27FC236}">
                <a16:creationId xmlns:a16="http://schemas.microsoft.com/office/drawing/2014/main" id="{4437A6AA-1EF9-4428-BF7B-4691C23A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341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7" name="text-88">
            <a:extLst xmlns:a="http://schemas.openxmlformats.org/drawingml/2006/main">
              <a:ext uri="{FF2B5EF4-FFF2-40B4-BE49-F238E27FC236}">
                <a16:creationId xmlns:a16="http://schemas.microsoft.com/office/drawing/2014/main" id="{EE67BA62-5A95-4CE0-A8F7-4034BCEC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한국한의학연구원 RFP에서 같은 SFR-001을 목록과 상세에서 확인했습니다</a:t>
            </a:r>
          </a:p>
        </p:txBody>
      </p:sp>
      <p:sp>
        <p:nvSpPr>
          <p:cNvPr id="8" name="text-89">
            <a:extLst xmlns:a="http://schemas.openxmlformats.org/drawingml/2006/main">
              <a:ext uri="{FF2B5EF4-FFF2-40B4-BE49-F238E27FC236}">
                <a16:creationId xmlns:a16="http://schemas.microsoft.com/office/drawing/2014/main" id="{4FF5CEAA-665C-45BE-A369-3843EEDA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목록: 어떤 기능이 있는가</a:t>
            </a:r>
          </a:p>
        </p:txBody>
      </p:sp>
      <p:sp>
        <p:nvSpPr>
          <p:cNvPr id="9" name="text-90">
            <a:extLst xmlns:a="http://schemas.openxmlformats.org/drawingml/2006/main">
              <a:ext uri="{FF2B5EF4-FFF2-40B4-BE49-F238E27FC236}">
                <a16:creationId xmlns:a16="http://schemas.microsoft.com/office/drawing/2014/main" id="{6BC03AFE-66BE-4926-B8F0-612250C5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57425"/>
            <a:ext cx="516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상세: 무엇을 구현해야 하는가</a:t>
            </a:r>
          </a:p>
        </p:txBody>
      </p:sp>
      <p:sp>
        <p:nvSpPr>
          <p:cNvPr id="10" name="diagram-91">
            <a:extLst xmlns:a="http://schemas.openxmlformats.org/drawingml/2006/main">
              <a:ext uri="{FF2B5EF4-FFF2-40B4-BE49-F238E27FC236}">
                <a16:creationId xmlns:a16="http://schemas.microsoft.com/office/drawing/2014/main" id="{4F3B8233-AADB-48C4-84BD-0CF60545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noFill/>
          </a:ln>
        </p:spPr>
      </p:sp>
      <p:sp>
        <p:nvSpPr>
          <p:cNvPr id="11" name="diagram-92">
            <a:extLst xmlns:a="http://schemas.openxmlformats.org/drawingml/2006/main">
              <a:ext uri="{FF2B5EF4-FFF2-40B4-BE49-F238E27FC236}">
                <a16:creationId xmlns:a16="http://schemas.microsoft.com/office/drawing/2014/main" id="{A44258A4-9D20-4145-92B6-3DDE1940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90825"/>
            <a:ext cx="516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noFill/>
          </a:ln>
        </p:spPr>
      </p:sp>
      <p:sp>
        <p:nvSpPr>
          <p:cNvPr id="12" name="text-93">
            <a:extLst xmlns:a="http://schemas.openxmlformats.org/drawingml/2006/main">
              <a:ext uri="{FF2B5EF4-FFF2-40B4-BE49-F238E27FC236}">
                <a16:creationId xmlns:a16="http://schemas.microsoft.com/office/drawing/2014/main" id="{FFAB1B90-8674-4000-9E3B-64024AD9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000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SFR-001</a:t>
            </a:r>
          </a:p>
        </p:txBody>
      </p:sp>
      <p:sp>
        <p:nvSpPr>
          <p:cNvPr id="13" name="text-94">
            <a:extLst xmlns:a="http://schemas.openxmlformats.org/drawingml/2006/main">
              <a:ext uri="{FF2B5EF4-FFF2-40B4-BE49-F238E27FC236}">
                <a16:creationId xmlns:a16="http://schemas.microsoft.com/office/drawing/2014/main" id="{607E7797-867C-423D-A7F0-E51E0FA7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9900"/>
            <a:ext cx="516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SFR-001</a:t>
            </a:r>
          </a:p>
        </p:txBody>
      </p:sp>
      <p:sp>
        <p:nvSpPr>
          <p:cNvPr id="14" name="text-95">
            <a:extLst xmlns:a="http://schemas.openxmlformats.org/drawingml/2006/main">
              <a:ext uri="{FF2B5EF4-FFF2-40B4-BE49-F238E27FC236}">
                <a16:creationId xmlns:a16="http://schemas.microsoft.com/office/drawing/2014/main" id="{065AD832-C3A5-492F-BFD1-994D311C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50006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기관생명윤리</a:t>
            </a:r>
          </a:p>
          <a:p xmlns:a="http://schemas.openxmlformats.org/drawingml/2006/main">
            <a:pPr>
              <a:defRPr sz="225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임상연구 심의 신청</a:t>
            </a:r>
          </a:p>
        </p:txBody>
      </p:sp>
      <p:sp>
        <p:nvSpPr>
          <p:cNvPr id="15" name="text-96">
            <a:extLst xmlns:a="http://schemas.openxmlformats.org/drawingml/2006/main">
              <a:ext uri="{FF2B5EF4-FFF2-40B4-BE49-F238E27FC236}">
                <a16:creationId xmlns:a16="http://schemas.microsoft.com/office/drawing/2014/main" id="{7BCECBD1-353F-4532-BF7F-33A228C9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24275"/>
            <a:ext cx="51625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“기관생명윤리 임상연구 신청 정보</a:t>
            </a:r>
          </a:p>
          <a:p xmlns:a="http://schemas.openxmlformats.org/drawingml/2006/main">
            <a:pPr>
              <a:def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및 전자결재 연계”</a:t>
            </a:r>
          </a:p>
        </p:txBody>
      </p:sp>
      <p:sp>
        <p:nvSpPr>
          <p:cNvPr id="16" name="text-97">
            <a:extLst xmlns:a="http://schemas.openxmlformats.org/drawingml/2006/main">
              <a:ext uri="{FF2B5EF4-FFF2-40B4-BE49-F238E27FC236}">
                <a16:creationId xmlns:a16="http://schemas.microsoft.com/office/drawing/2014/main" id="{F0DB8797-6B44-4635-BFAE-528180C6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500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요구사항 이름을 한눈에 찾는 목록</a:t>
            </a:r>
          </a:p>
        </p:txBody>
      </p:sp>
      <p:sp>
        <p:nvSpPr>
          <p:cNvPr id="17" name="text-98">
            <a:extLst xmlns:a="http://schemas.openxmlformats.org/drawingml/2006/main">
              <a:ext uri="{FF2B5EF4-FFF2-40B4-BE49-F238E27FC236}">
                <a16:creationId xmlns:a16="http://schemas.microsoft.com/office/drawing/2014/main" id="{AD0A8CFA-78F3-48DE-9B28-27473400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5162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같은 번호에 속한 구체적인 기능 설명</a:t>
            </a:r>
          </a:p>
        </p:txBody>
      </p:sp>
      <p:sp>
        <p:nvSpPr>
          <p:cNvPr id="18" name="diagram-99">
            <a:extLst xmlns:a="http://schemas.openxmlformats.org/drawingml/2006/main">
              <a:ext uri="{FF2B5EF4-FFF2-40B4-BE49-F238E27FC236}">
                <a16:creationId xmlns:a16="http://schemas.microsoft.com/office/drawing/2014/main" id="{D16475CF-0A51-4614-BB14-FE63A203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noFill/>
          </a:ln>
        </p:spPr>
      </p:sp>
      <p:sp>
        <p:nvSpPr>
          <p:cNvPr id="19" name="text-100">
            <a:extLst xmlns:a="http://schemas.openxmlformats.org/drawingml/2006/main">
              <a:ext uri="{FF2B5EF4-FFF2-40B4-BE49-F238E27FC236}">
                <a16:creationId xmlns:a16="http://schemas.microsoft.com/office/drawing/2014/main" id="{5992F8CE-F40D-49BE-A3A5-E75BBB91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번호만 보고 중복 삭제하면 필요한 이름이나 상세 조건을 잃을 수 있습니다</a:t>
            </a:r>
          </a:p>
        </p:txBody>
      </p:sp>
      <p:sp>
        <p:nvSpPr>
          <p:cNvPr id="20" name="text-101">
            <a:extLst xmlns:a="http://schemas.openxmlformats.org/drawingml/2006/main">
              <a:ext uri="{FF2B5EF4-FFF2-40B4-BE49-F238E27FC236}">
                <a16:creationId xmlns:a16="http://schemas.microsoft.com/office/drawing/2014/main" id="{8A7B4A90-5EC6-48EA-B3B6-D2C1BE2C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그래서 번호와 함께 내용의 역할·원본 출처를 확인합니다</a:t>
            </a:r>
          </a:p>
        </p:txBody>
      </p:sp>
    </p:spTree>
    <p:extLst>
      <p:ext uri="{BB962C8B-B14F-4D97-AF65-F5344CB8AC3E}">
        <p14:creationId xmlns:p14="http://schemas.microsoft.com/office/powerpoint/2010/main" val="1286426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102">
            <a:extLst xmlns:a="http://schemas.openxmlformats.org/drawingml/2006/main">
              <a:ext uri="{FF2B5EF4-FFF2-40B4-BE49-F238E27FC236}">
                <a16:creationId xmlns:a16="http://schemas.microsoft.com/office/drawing/2014/main" id="{F99B1B08-FC12-4643-9FFB-5245E9BB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06  문서 준비와 검증</a:t>
            </a:r>
          </a:p>
        </p:txBody>
      </p:sp>
      <p:sp>
        <p:nvSpPr>
          <p:cNvPr id="2" name="text-103">
            <a:extLst xmlns:a="http://schemas.openxmlformats.org/drawingml/2006/main">
              <a:ext uri="{FF2B5EF4-FFF2-40B4-BE49-F238E27FC236}">
                <a16:creationId xmlns:a16="http://schemas.microsoft.com/office/drawing/2014/main" id="{541DDFF2-E58A-4F22-BF02-5B14FFD6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공유 v12 원문 단위 기준</a:t>
            </a:r>
          </a:p>
        </p:txBody>
      </p:sp>
      <p:sp>
        <p:nvSpPr>
          <p:cNvPr id="3" name="text-104">
            <a:extLst xmlns:a="http://schemas.openxmlformats.org/drawingml/2006/main">
              <a:ext uri="{FF2B5EF4-FFF2-40B4-BE49-F238E27FC236}">
                <a16:creationId xmlns:a16="http://schemas.microsoft.com/office/drawing/2014/main" id="{99F2490B-C80F-4CB3-8E09-F872FCF4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원문 보존 근거는 71.28%까지 확인했습니다</a:t>
            </a:r>
          </a:p>
        </p:txBody>
      </p:sp>
      <p:sp>
        <p:nvSpPr>
          <p:cNvPr id="4" name="diagram-105">
            <a:extLst xmlns:a="http://schemas.openxmlformats.org/drawingml/2006/main">
              <a:ext uri="{FF2B5EF4-FFF2-40B4-BE49-F238E27FC236}">
                <a16:creationId xmlns:a16="http://schemas.microsoft.com/office/drawing/2014/main" id="{26E77326-1327-4F78-8C33-95133E56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noFill/>
          </a:ln>
        </p:spPr>
      </p:sp>
      <p:sp>
        <p:nvSpPr>
          <p:cNvPr id="5" name="text-106">
            <a:extLst xmlns:a="http://schemas.openxmlformats.org/drawingml/2006/main">
              <a:ext uri="{FF2B5EF4-FFF2-40B4-BE49-F238E27FC236}">
                <a16:creationId xmlns:a16="http://schemas.microsoft.com/office/drawing/2014/main" id="{5463A9B3-DD47-474F-8E60-C804DEAA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입찰메이트  /  데이터 탐색·전처리</a:t>
            </a:r>
          </a:p>
        </p:txBody>
      </p:sp>
      <p:sp>
        <p:nvSpPr>
          <p:cNvPr id="6" name="text-107">
            <a:extLst xmlns:a="http://schemas.openxmlformats.org/drawingml/2006/main">
              <a:ext uri="{FF2B5EF4-FFF2-40B4-BE49-F238E27FC236}">
                <a16:creationId xmlns:a16="http://schemas.microsoft.com/office/drawing/2014/main" id="{2AE3B183-A5A6-42A8-8282-52FD512C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341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7" name="text-108">
            <a:extLst xmlns:a="http://schemas.openxmlformats.org/drawingml/2006/main">
              <a:ext uri="{FF2B5EF4-FFF2-40B4-BE49-F238E27FC236}">
                <a16:creationId xmlns:a16="http://schemas.microsoft.com/office/drawing/2014/main" id="{9CB97B3D-486F-4EC8-BEAD-2F6059CE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전처리·청킹 뒤에도 원문 정보가 정확히 전달됐는지 검증했습니다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60C9FBBD-6824-4815-9742-180C4D388FC7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72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1aff19f55f4ae5"/>
          </a:graphicData>
        </a:graphic>
      </p:graphicFrame>
      <p:sp>
        <p:nvSpPr>
          <p:cNvPr id="9" name="text-109">
            <a:extLst xmlns:a="http://schemas.openxmlformats.org/drawingml/2006/main">
              <a:ext uri="{FF2B5EF4-FFF2-40B4-BE49-F238E27FC236}">
                <a16:creationId xmlns:a16="http://schemas.microsoft.com/office/drawing/2014/main" id="{8F65A41D-120A-4B34-80E4-EDA10283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보존 근거 확인 71.28%</a:t>
            </a:r>
          </a:p>
        </p:txBody>
      </p:sp>
      <p:sp>
        <p:nvSpPr>
          <p:cNvPr id="10" name="text-110">
            <a:extLst xmlns:a="http://schemas.openxmlformats.org/drawingml/2006/main">
              <a:ext uri="{FF2B5EF4-FFF2-40B4-BE49-F238E27FC236}">
                <a16:creationId xmlns:a16="http://schemas.microsoft.com/office/drawing/2014/main" id="{AD16121B-6F5C-451C-AB81-F09C134C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추가 확인 필요 28.72%</a:t>
            </a:r>
          </a:p>
        </p:txBody>
      </p:sp>
      <p:sp>
        <p:nvSpPr>
          <p:cNvPr id="11" name="text-111">
            <a:extLst xmlns:a="http://schemas.openxmlformats.org/drawingml/2006/main">
              <a:ext uri="{FF2B5EF4-FFF2-40B4-BE49-F238E27FC236}">
                <a16:creationId xmlns:a16="http://schemas.microsoft.com/office/drawing/2014/main" id="{7975E9AE-25AE-4C30-B6D7-03150BFF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71.28%는 실제 보존율·검색 정확도가 아니며, 28.72%는 데이터 손실률이 아닙니다</a:t>
            </a:r>
          </a:p>
        </p:txBody>
      </p:sp>
      <p:sp>
        <p:nvSpPr>
          <p:cNvPr id="12" name="diagram-112">
            <a:extLst xmlns:a="http://schemas.openxmlformats.org/drawingml/2006/main">
              <a:ext uri="{FF2B5EF4-FFF2-40B4-BE49-F238E27FC236}">
                <a16:creationId xmlns:a16="http://schemas.microsoft.com/office/drawing/2014/main" id="{5269DD10-2028-4034-A1A9-EA0595D2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noFill/>
          </a:ln>
        </p:spPr>
      </p:sp>
      <p:sp>
        <p:nvSpPr>
          <p:cNvPr id="13" name="text-113">
            <a:extLst xmlns:a="http://schemas.openxmlformats.org/drawingml/2006/main">
              <a:ext uri="{FF2B5EF4-FFF2-40B4-BE49-F238E27FC236}">
                <a16:creationId xmlns:a16="http://schemas.microsoft.com/office/drawing/2014/main" id="{B793354D-FBF7-412E-A82F-BB8C2B64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어려웠던 점</a:t>
            </a:r>
          </a:p>
        </p:txBody>
      </p:sp>
      <p:sp>
        <p:nvSpPr>
          <p:cNvPr id="14" name="text-114">
            <a:extLst xmlns:a="http://schemas.openxmlformats.org/drawingml/2006/main">
              <a:ext uri="{FF2B5EF4-FFF2-40B4-BE49-F238E27FC236}">
                <a16:creationId xmlns:a16="http://schemas.microsoft.com/office/drawing/2014/main" id="{3BE773ED-8267-4D65-A31E-10DA8AA6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19550"/>
            <a:ext cx="8629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반복 문장과 표 안의 표에서는, 글이 남아 있어도</a:t>
            </a:r>
          </a:p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원래 어느 위치에서 왔고 어떤 항목에 속하는지 입증하기 어려웠습니다</a:t>
            </a:r>
          </a:p>
        </p:txBody>
      </p:sp>
      <p:sp>
        <p:nvSpPr>
          <p:cNvPr id="15" name="text-115">
            <a:extLst xmlns:a="http://schemas.openxmlformats.org/drawingml/2006/main">
              <a:ext uri="{FF2B5EF4-FFF2-40B4-BE49-F238E27FC236}">
                <a16:creationId xmlns:a16="http://schemas.microsoft.com/office/drawing/2014/main" id="{0D86A6AA-B17E-4D0B-9DBF-9CE54D4B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앞으로 확인할 것</a:t>
            </a:r>
          </a:p>
        </p:txBody>
      </p:sp>
      <p:sp>
        <p:nvSpPr>
          <p:cNvPr id="16" name="text-116">
            <a:extLst xmlns:a="http://schemas.openxmlformats.org/drawingml/2006/main">
              <a:ext uri="{FF2B5EF4-FFF2-40B4-BE49-F238E27FC236}">
                <a16:creationId xmlns:a16="http://schemas.microsoft.com/office/drawing/2014/main" id="{3C67889F-7801-403A-AFC0-8156A936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72050"/>
            <a:ext cx="8629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원문 위치·표 구조·요구사항 소속과 글자 변환 이력을 기록해,</a:t>
            </a:r>
          </a:p>
          <a:p xmlns:a="http://schemas.openxmlformats.org/drawingml/2006/main">
            <a:pPr>
              <a:def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334155"/>
                </a:solidFill>
                <a:latin typeface="Apple SD Gothic Neo"/>
                <a:ea typeface="Apple SD Gothic Neo"/>
                <a:cs typeface="Apple SD Gothic Neo"/>
              </a:rPr>
              <a:t>원문과 다시 대조하는 방법을 사용해 보겠습니다</a:t>
            </a:r>
          </a:p>
        </p:txBody>
      </p:sp>
      <p:sp>
        <p:nvSpPr>
          <p:cNvPr id="17" name="diagram-117">
            <a:extLst xmlns:a="http://schemas.openxmlformats.org/drawingml/2006/main">
              <a:ext uri="{FF2B5EF4-FFF2-40B4-BE49-F238E27FC236}">
                <a16:creationId xmlns:a16="http://schemas.microsoft.com/office/drawing/2014/main" id="{20FA85F5-8FE9-420B-82BE-3AFA032E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0"/>
          </a:solidFill>
          <a:ln xmlns:a="http://schemas.openxmlformats.org/drawingml/2006/main" w="0">
            <a:noFill/>
          </a:ln>
        </p:spPr>
      </p:sp>
      <p:sp>
        <p:nvSpPr>
          <p:cNvPr id="18" name="text-118">
            <a:extLst xmlns:a="http://schemas.openxmlformats.org/drawingml/2006/main">
              <a:ext uri="{FF2B5EF4-FFF2-40B4-BE49-F238E27FC236}">
                <a16:creationId xmlns:a16="http://schemas.microsoft.com/office/drawing/2014/main" id="{81194FC7-F362-4FCC-9DAE-801B1B3A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배운 점</a:t>
            </a:r>
          </a:p>
        </p:txBody>
      </p:sp>
      <p:sp>
        <p:nvSpPr>
          <p:cNvPr id="19" name="text-119">
            <a:extLst xmlns:a="http://schemas.openxmlformats.org/drawingml/2006/main">
              <a:ext uri="{FF2B5EF4-FFF2-40B4-BE49-F238E27FC236}">
                <a16:creationId xmlns:a16="http://schemas.microsoft.com/office/drawing/2014/main" id="{E05D98FA-0D3F-485E-BDED-1497B09C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019800"/>
            <a:ext cx="906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E3A5F"/>
                </a:solidFill>
                <a:latin typeface="Apple SD Gothic Neo"/>
                <a:ea typeface="Apple SD Gothic Neo"/>
                <a:cs typeface="Apple SD Gothic Neo"/>
              </a:rPr>
              <a:t>전처리한 텍스트의 존재와 원문 보존 입증은 다르다는 것을 배웠습니다</a:t>
            </a:r>
          </a:p>
        </p:txBody>
      </p:sp>
    </p:spTree>
    <p:extLst>
      <p:ext uri="{BB962C8B-B14F-4D97-AF65-F5344CB8AC3E}">
        <p14:creationId xmlns:p14="http://schemas.microsoft.com/office/powerpoint/2010/main" val="280644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2026-10-21T02:51:40.9000000Z</dcterms:created>
  <dcterms:modified xsi:type="dcterms:W3CDTF">2026-10-21T02:51:40.9010000Z</dcterms:modified>
</coreProperties>
</file>