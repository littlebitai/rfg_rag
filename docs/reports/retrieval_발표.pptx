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64" r:id="rId5"/>
    <p:sldId id="259" r:id="rId6"/>
    <p:sldId id="260" r:id="rId7"/>
    <p:sldId id="265"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42875799"/>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오늘은 RFP 질의응답 AI 중 검색 파트를 말씀드리겠습니다. 핵심 메시지는 하나입니다. AI가 좋은 답을 하려면 먼저 문서에서 맞는 근거를 찾아야 하고, 검색 파트가 그 일을 합니다. 검색 대상은 공공기관 제안요청서 98건입니다. 문서가 길어서 그대로 쓰지 않고, 본문 18,989개와 그림 설명 375개를 합친 19,364개의 조각으로 나눠 두고 그중에서 고릅니다. 그리고 검색이 잘 되는지 확인하는 평가 질문은 Golden 396문항에 기존 88문항을 더한 484문항입니다.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노련한 자료 담당자에게 질문을 맡긴다고 생각하시면 됩니다. 먼저 질문을 알아듣기 쉽게 다듬습니다. 앞선 대화에서 ‘거기’가 어디인지 찾아 넣고 오타도 고칩니다. 이때 기관명, 숫자, ‘않는다’ 같은 조건은 바꾸지 않고 없는 내용은 덧붙이지 않도록 지시해 두었습니다. 둘째로 질문 속 기관명을 보고 그 기관 문서 안으로 범위를 좁힙니다. 셋째로 뜻이 비슷한 곳과 단어가 같은 곳을 각각 50개씩 찾고, 넷째로 두 결과를 순위로 합친 뒤 상위 30개를 질문과 나란히 놓고 다시 읽어 순서를 바로잡습니다. 마지막으로 2,500토큰이라는 정해진 분량 안에서 본문과 출처를 함께 답변 단계에 넘깁니다. 2단계부터 5단계까지는 모두 우리 GPU에서 돌기 때문에 외부 AI 사용료가 없고, 돈이 드는 외부 AI는 질문 다듬기 한 곳뿐입니다.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찾는 방식은 두 가지입니다. 첫째는 뜻으로 찾기입니다. KURE-v1이라는 한국어 검색용 임베딩 모델로 질문과 조각의 뜻을 숫자 벡터로 바꾸고, FAISS로 가까운 조각을 찾습니다. 질문은 ‘하자 보증 기간’인데 문서에는 ‘무상 보수 기간’이라고 적혀 있어도 뜻이 비슷하니 찾아냅니다. 다만 SFR-001 같은 번호는 뜻이 없어서 약합니다. 둘째는 단어로 찾기입니다. Kiwi 형태소 분석기로 문장을 낱말로 나누고 BM25 점수식으로 같은 낱말이 있는 조각을 찾습니다. 번호, 기관명, 전문 용어에 강하고, ‘지체 상금’과 ‘지체상금’, ‘부가세’와 ‘부가가치세’처럼 띄어쓰기나 줄임말도 같은 말로 맞춰 둡니다. 대신 표현이 바뀌면 놓칠 수 있습니다. 그래서 둘을 함께 쓰고, 이것을 하이브리드 검색이라고 부릅니다. 색인은 미리 만들어 faiss.index와 bm25_tokens.json으로 저장해 둡니다.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임베딩 모델은 처음에 KURE와 Nemotron을 두고 고민했습니다. 임베딩만으로 찾을 때는 Nemotron이 약 5%p 앞섰습니다. 그런데 BM25와 함께 쓰니, 답변 모델에 실제로 넘어가는 근거 기준으로는 차이가 약 다섯 문항으로 줄었고, 근거가 하나인 질문에서는 오히려 KURE가 앞섰습니다. 반면 Nemotron은 GPU 메모리를 두 배 넘게 썼습니다. 그래서 비용 대비 효과를 따져 BM25와 KURE를 선택했습니다.</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방식의 결과를 합칠 때는 점수 대신 순위만 씁니다. 두 방식은 점수 단위가 달라서, 100점 만점과 5점 만점 점수를 그냥 더하는 것과 같은 문제가 생기기 때문입니다. 두 심사위원이 각자 순위표를 냈을 때 양쪽 모두에서 상위권인 후보가 최종 1등이 되는 방식이고, 이를 RRF라고 부릅니다. 예시에서 조각 B는 2위와 1위, 조각 A는 1위와 3위라 둘 다 앞으로 옵니다. 최근에 점수 비율로 섞던 방식에서 이 순위 합산 방식으로 바꿨습니다. 예외로 질문에 요구사항 번호가 있고 그 번호가 정확히 맞는 조각은 무조건 맨 앞에 둡니다. 오른쪽은 전체 흐름입니다. 기관 문서로 좁힌 뒤 방식마다 50개 후보를 뽑아 순위로 합치고, 그중 상위 30개는 리랭커라는 정독 담당이 질문과 후보를 함께 읽어 다시 순서를 매깁니다. 느리지만 더 정확합니다. 마지막으로 2,500토큰 분량까지만 근거로 넘깁니다. 리랭커도 외부 서비스가 아니라 우리 GPU에서 직접 실행합니다.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제안요청서는 표가 많고 요구사항이 번호로 정리되어 있어서, 문서를 잘게 나누면 정보가 끊기기 쉽습니다. 그래서 여섯 가지 안전장치를 두었습니다. 첫째, 요구사항 번호와 상세 내용이 서로 다른 조각에 있어도 함께 가져옵니다. 둘째, 6조각 이하로 나뉜 표는 나머지 부분도 같이 담되, 연결 조각이 분량을 다 차지하지 않도록 결과 하나당 600토큰까지만 붙입니다. 셋째, 비슷한 문장을 중복으로 지울 때 숫자나 포함한다, 포함하지 않는다가 다르면 둘 다 남깁니다. 공공 사업에서는 이 차이가 결정적이기 때문입니다. 넷째, 두 기관을 비교하는 질문은 기관마다 따로 찾아 한쪽 근거만 잔뜩 들어오지 않게 합니다. 다섯째, 같은 그림에서 나온 OCR 설명 조각은 하나만 남깁니다. 여섯째, 검색 글이 바뀌었는데 색인이 예전 것이면 멈추고 다시 만들도록 알립니다. 이 장치들이 정답을 보장하는 것은 아니어서, 효과는 평가 수치로 확인합니다.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질문 재작성 단계의 추론 강도를 none, low, medium으로 바꿔 비교했습니다. 추론 토큰은 평균 0, 75, 120개입니다. 근거 속 핵심 사실 비율은 세 설정 모두 0.89 수준으로 거의 같았고, 답 속 핵심 사실 비율은 none이 0.689로 오히려 조금 높았습니다. 반면 재작성 단계만 보면 medium은 none보다 1.8배 느리고 비용은 2.6배였습니다. 추론을 늘릴수록 질문을 바꾸는 비율도 430개에서 394개로 줄었습니다. 그래서 질문 재작성은 none으로도 충분하다고 판단합니다. 다만 medium 실행이 438문항에서 멈췄고 설정마다 한 번씩 돌린 결과라, medium을 끝까지 돌리고 none을 한 번 더 확인할 계획입니다.</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9FB"/>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12" y="1018536"/>
            <a:ext cx="10566577" cy="426751"/>
          </a:xfrm>
          <a:prstGeom prst="rect">
            <a:avLst/>
          </a:prstGeom>
          <a:noFill/>
          <a:ln/>
        </p:spPr>
        <p:txBody>
          <a:bodyPr wrap="square" lIns="0" tIns="0" rIns="0" bIns="0" rtlCol="0" anchor="t"/>
          <a:lstStyle>
            <a:lvl1pPr marL="0" indent="0" algn="l">
              <a:lnSpc>
                <a:spcPct val="115000"/>
              </a:lnSpc>
              <a:buNone/>
              <a:defRPr lang="en-US" sz="2800" dirty="0">
                <a:solidFill>
                  <a:srgbClr val="172E45"/>
                </a:solidFill>
                <a:latin typeface="Arial" pitchFamily="34" charset="0"/>
                <a:ea typeface="Arial" pitchFamily="34" charset="-122"/>
                <a:cs typeface="Arial" pitchFamily="34" charset="-120"/>
              </a:defRPr>
            </a:lvl1pPr>
          </a:lstStyle>
          <a:p>
            <a:pPr marL="0" indent="0" algn="l">
              <a:lnSpc>
                <a:spcPct val="115000"/>
              </a:lnSpc>
              <a:buNone/>
            </a:pPr>
            <a:endParaRPr lang="en-US" sz="2800" dirty="0"/>
          </a:p>
        </p:txBody>
      </p:sp>
      <p:sp>
        <p:nvSpPr>
          <p:cNvPr id="3" name="Text Placeholder 2"/>
          <p:cNvSpPr>
            <a:spLocks noGrp="1"/>
          </p:cNvSpPr>
          <p:nvPr>
            <p:ph type="body" idx="101"/>
          </p:nvPr>
        </p:nvSpPr>
        <p:spPr>
          <a:xfrm>
            <a:off x="812712" y="1750086"/>
            <a:ext cx="10566488" cy="4295114"/>
          </a:xfrm>
          <a:prstGeom prst="rect">
            <a:avLst/>
          </a:prstGeom>
          <a:noFill/>
          <a:ln/>
        </p:spPr>
        <p:txBody>
          <a:bodyPr wrap="square" lIns="0" tIns="0" rIns="0" bIns="0" rtlCol="0" anchor="t"/>
          <a:lstStyle>
            <a:lvl1pPr marL="0" indent="0" algn="l">
              <a:lnSpc>
                <a:spcPct val="140000"/>
              </a:lnSpc>
              <a:buNone/>
              <a:defRPr lang="en-US" sz="1600" dirty="0">
                <a:solidFill>
                  <a:srgbClr val="172E45"/>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12" y="1018536"/>
            <a:ext cx="10566577" cy="426751"/>
          </a:xfrm>
          <a:prstGeom prst="rect">
            <a:avLst/>
          </a:prstGeom>
          <a:noFill/>
          <a:ln/>
        </p:spPr>
        <p:txBody>
          <a:bodyPr wrap="square" lIns="0" tIns="0" rIns="0" bIns="0" rtlCol="0" anchor="t"/>
          <a:lstStyle>
            <a:lvl1pPr marL="0" indent="0" algn="l">
              <a:lnSpc>
                <a:spcPct val="115000"/>
              </a:lnSpc>
              <a:buNone/>
              <a:defRPr lang="en-US" sz="2800" dirty="0">
                <a:solidFill>
                  <a:srgbClr val="172E45"/>
                </a:solidFill>
                <a:latin typeface="Arial" pitchFamily="34" charset="0"/>
                <a:ea typeface="Arial" pitchFamily="34" charset="-122"/>
                <a:cs typeface="Arial" pitchFamily="34" charset="-120"/>
              </a:defRPr>
            </a:lvl1pPr>
          </a:lstStyle>
          <a:p>
            <a:pPr marL="0" indent="0" algn="l">
              <a:lnSpc>
                <a:spcPct val="115000"/>
              </a:lnSpc>
              <a:buNone/>
            </a:pPr>
            <a:endParaRPr lang="en-US" sz="2800" dirty="0"/>
          </a:p>
        </p:txBody>
      </p:sp>
      <p:sp>
        <p:nvSpPr>
          <p:cNvPr id="3" name="Text Placeholder 2"/>
          <p:cNvSpPr>
            <a:spLocks noGrp="1"/>
          </p:cNvSpPr>
          <p:nvPr>
            <p:ph type="body" idx="101"/>
          </p:nvPr>
        </p:nvSpPr>
        <p:spPr>
          <a:xfrm>
            <a:off x="812712" y="1750086"/>
            <a:ext cx="10566488" cy="4295114"/>
          </a:xfrm>
          <a:prstGeom prst="rect">
            <a:avLst/>
          </a:prstGeom>
          <a:noFill/>
          <a:ln/>
        </p:spPr>
        <p:txBody>
          <a:bodyPr wrap="square" lIns="0" tIns="0" rIns="0" bIns="0" rtlCol="0" anchor="t"/>
          <a:lstStyle>
            <a:lvl1pPr marL="0" indent="0" algn="l">
              <a:lnSpc>
                <a:spcPct val="140000"/>
              </a:lnSpc>
              <a:buNone/>
              <a:defRPr lang="en-US" sz="1600" dirty="0">
                <a:solidFill>
                  <a:srgbClr val="172E45"/>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E45"/>
        </a:solidFill>
        <a:effectLst/>
      </p:bgPr>
    </p:bg>
    <p:spTree>
      <p:nvGrpSpPr>
        <p:cNvPr id="1" name=""/>
        <p:cNvGrpSpPr/>
        <p:nvPr/>
      </p:nvGrpSpPr>
      <p:grpSpPr>
        <a:xfrm>
          <a:off x="0" y="0"/>
          <a:ext cx="0" cy="0"/>
          <a:chOff x="0" y="0"/>
          <a:chExt cx="0" cy="0"/>
        </a:xfrm>
      </p:grpSpPr>
      <p:sp>
        <p:nvSpPr>
          <p:cNvPr id="2" name="Text 0"/>
          <p:cNvSpPr/>
          <p:nvPr/>
        </p:nvSpPr>
        <p:spPr>
          <a:xfrm>
            <a:off x="812712" y="812712"/>
            <a:ext cx="10883574" cy="274329"/>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8FB3D9"/>
                </a:solidFill>
                <a:latin typeface="Arial" pitchFamily="34" charset="0"/>
                <a:ea typeface="Arial" pitchFamily="34" charset="-122"/>
                <a:cs typeface="Arial" pitchFamily="34" charset="-120"/>
              </a:rPr>
              <a:t>RFP 질의응답 AI · 검색(Retrieval) 파트</a:t>
            </a:r>
            <a:endParaRPr lang="en-US" sz="1400" dirty="0"/>
          </a:p>
        </p:txBody>
      </p:sp>
      <p:sp>
        <p:nvSpPr>
          <p:cNvPr id="3" name="Text 1"/>
          <p:cNvSpPr>
            <a:spLocks noGrp="1"/>
          </p:cNvSpPr>
          <p:nvPr>
            <p:ph type="title"/>
          </p:nvPr>
        </p:nvSpPr>
        <p:spPr>
          <a:xfrm>
            <a:off x="812712" y="1239352"/>
            <a:ext cx="10883574" cy="1310614"/>
          </a:xfrm>
          <a:prstGeom prst="rect">
            <a:avLst/>
          </a:prstGeom>
          <a:noFill/>
          <a:ln/>
        </p:spPr>
        <p:txBody>
          <a:bodyPr wrap="square" lIns="0" tIns="0" rIns="0" bIns="0" rtlCol="0" anchor="t">
            <a:normAutofit/>
          </a:bodyPr>
          <a:lstStyle/>
          <a:p>
            <a:pPr marL="0" indent="0" algn="l">
              <a:lnSpc>
                <a:spcPts val="5060"/>
              </a:lnSpc>
              <a:buNone/>
            </a:pPr>
            <a:r>
              <a:rPr lang="en-US" sz="4400" b="1" i="0" dirty="0">
                <a:solidFill>
                  <a:srgbClr val="F7F9FB"/>
                </a:solidFill>
                <a:latin typeface="Arial" pitchFamily="34" charset="0"/>
                <a:ea typeface="Arial" pitchFamily="34" charset="-122"/>
                <a:cs typeface="Arial" pitchFamily="34" charset="-120"/>
              </a:rPr>
              <a:t>AI가 답하기 전에,</a:t>
            </a:r>
            <a:endParaRPr lang="en-US" sz="4400" dirty="0"/>
          </a:p>
          <a:p>
            <a:pPr marL="0" indent="0" algn="l">
              <a:lnSpc>
                <a:spcPts val="5060"/>
              </a:lnSpc>
              <a:buNone/>
            </a:pPr>
            <a:r>
              <a:rPr lang="en-US" sz="4400" b="1" i="0" dirty="0">
                <a:solidFill>
                  <a:srgbClr val="F7F9FB"/>
                </a:solidFill>
                <a:latin typeface="Arial" pitchFamily="34" charset="0"/>
                <a:ea typeface="Arial" pitchFamily="34" charset="-122"/>
                <a:cs typeface="Arial" pitchFamily="34" charset="-120"/>
              </a:rPr>
              <a:t>맞는 근거부터 찾습니다</a:t>
            </a:r>
            <a:endParaRPr lang="en-US" sz="4400" dirty="0"/>
          </a:p>
        </p:txBody>
      </p:sp>
      <p:sp>
        <p:nvSpPr>
          <p:cNvPr id="4" name="Text 2"/>
          <p:cNvSpPr/>
          <p:nvPr/>
        </p:nvSpPr>
        <p:spPr>
          <a:xfrm>
            <a:off x="812712" y="2702278"/>
            <a:ext cx="10883574"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FD3E6"/>
                </a:solidFill>
                <a:latin typeface="Arial" pitchFamily="34" charset="0"/>
                <a:ea typeface="Arial" pitchFamily="34" charset="-122"/>
                <a:cs typeface="Arial" pitchFamily="34" charset="-120"/>
              </a:rPr>
              <a:t>질문이 들어오면 제안요청서에서 답의 근거가 되는 조각만 골라, 출처와 함께 답변 단계에 넘깁니다.</a:t>
            </a:r>
            <a:endParaRPr lang="en-US" sz="1600" dirty="0"/>
          </a:p>
        </p:txBody>
      </p:sp>
      <p:sp>
        <p:nvSpPr>
          <p:cNvPr id="5" name="Shape 3"/>
          <p:cNvSpPr/>
          <p:nvPr/>
        </p:nvSpPr>
        <p:spPr>
          <a:xfrm>
            <a:off x="812712" y="4475648"/>
            <a:ext cx="3386667" cy="1366352"/>
          </a:xfrm>
          <a:prstGeom prst="roundRect">
            <a:avLst>
              <a:gd name="adj" fmla="val 7436"/>
            </a:avLst>
          </a:prstGeom>
          <a:solidFill>
            <a:srgbClr val="1F3A57"/>
          </a:solidFill>
          <a:ln/>
        </p:spPr>
      </p:sp>
      <p:sp>
        <p:nvSpPr>
          <p:cNvPr id="6" name="Text 4"/>
          <p:cNvSpPr/>
          <p:nvPr/>
        </p:nvSpPr>
        <p:spPr>
          <a:xfrm>
            <a:off x="1041246" y="4678826"/>
            <a:ext cx="3017487" cy="472325"/>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F7F9FB"/>
                </a:solidFill>
                <a:latin typeface="Arial" pitchFamily="34" charset="0"/>
                <a:ea typeface="Arial" pitchFamily="34" charset="-122"/>
                <a:cs typeface="Arial" pitchFamily="34" charset="-120"/>
              </a:rPr>
              <a:t>98건</a:t>
            </a:r>
            <a:endParaRPr lang="en-US" sz="3200" dirty="0"/>
          </a:p>
        </p:txBody>
      </p:sp>
      <p:sp>
        <p:nvSpPr>
          <p:cNvPr id="7" name="Text 5"/>
          <p:cNvSpPr/>
          <p:nvPr/>
        </p:nvSpPr>
        <p:spPr>
          <a:xfrm>
            <a:off x="1041246" y="5176463"/>
            <a:ext cx="3017487" cy="2565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FD3E6"/>
                </a:solidFill>
                <a:latin typeface="Arial" pitchFamily="34" charset="0"/>
                <a:ea typeface="Arial" pitchFamily="34" charset="-122"/>
                <a:cs typeface="Arial" pitchFamily="34" charset="-120"/>
              </a:rPr>
              <a:t>검색 대상 공공기관 제안요청서</a:t>
            </a:r>
            <a:endParaRPr lang="en-US" sz="1300" dirty="0"/>
          </a:p>
        </p:txBody>
      </p:sp>
      <p:sp>
        <p:nvSpPr>
          <p:cNvPr id="8" name="Shape 6"/>
          <p:cNvSpPr/>
          <p:nvPr/>
        </p:nvSpPr>
        <p:spPr>
          <a:xfrm>
            <a:off x="4402556" y="4475648"/>
            <a:ext cx="3386777" cy="1366352"/>
          </a:xfrm>
          <a:prstGeom prst="roundRect">
            <a:avLst>
              <a:gd name="adj" fmla="val 7436"/>
            </a:avLst>
          </a:prstGeom>
          <a:solidFill>
            <a:srgbClr val="1F3A57"/>
          </a:solidFill>
          <a:ln/>
        </p:spPr>
      </p:sp>
      <p:sp>
        <p:nvSpPr>
          <p:cNvPr id="9" name="Text 7"/>
          <p:cNvSpPr/>
          <p:nvPr/>
        </p:nvSpPr>
        <p:spPr>
          <a:xfrm>
            <a:off x="4631091" y="4678826"/>
            <a:ext cx="3017601" cy="472325"/>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F7F9FB"/>
                </a:solidFill>
                <a:latin typeface="Arial" pitchFamily="34" charset="0"/>
                <a:ea typeface="Arial" pitchFamily="34" charset="-122"/>
                <a:cs typeface="Arial" pitchFamily="34" charset="-120"/>
              </a:rPr>
              <a:t>19,364개</a:t>
            </a:r>
            <a:endParaRPr lang="en-US" sz="3200" dirty="0"/>
          </a:p>
        </p:txBody>
      </p:sp>
      <p:sp>
        <p:nvSpPr>
          <p:cNvPr id="10" name="Text 8"/>
          <p:cNvSpPr/>
          <p:nvPr/>
        </p:nvSpPr>
        <p:spPr>
          <a:xfrm>
            <a:off x="4631091" y="5176463"/>
            <a:ext cx="3017601" cy="48775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FD3E6"/>
                </a:solidFill>
                <a:latin typeface="Arial" pitchFamily="34" charset="0"/>
                <a:ea typeface="Arial" pitchFamily="34" charset="-122"/>
                <a:cs typeface="Arial" pitchFamily="34" charset="-120"/>
              </a:rPr>
              <a:t>검색 조각 · 본문 18,989 + 그림 설명 375</a:t>
            </a:r>
            <a:endParaRPr lang="en-US" sz="1300" dirty="0"/>
          </a:p>
        </p:txBody>
      </p:sp>
      <p:sp>
        <p:nvSpPr>
          <p:cNvPr id="11" name="Shape 9"/>
          <p:cNvSpPr/>
          <p:nvPr/>
        </p:nvSpPr>
        <p:spPr>
          <a:xfrm>
            <a:off x="7992511" y="4475648"/>
            <a:ext cx="3386777" cy="1366352"/>
          </a:xfrm>
          <a:prstGeom prst="roundRect">
            <a:avLst>
              <a:gd name="adj" fmla="val 7436"/>
            </a:avLst>
          </a:prstGeom>
          <a:solidFill>
            <a:srgbClr val="1F3A57"/>
          </a:solidFill>
          <a:ln/>
        </p:spPr>
      </p:sp>
      <p:sp>
        <p:nvSpPr>
          <p:cNvPr id="12" name="Text 10"/>
          <p:cNvSpPr/>
          <p:nvPr/>
        </p:nvSpPr>
        <p:spPr>
          <a:xfrm>
            <a:off x="8221045" y="4678826"/>
            <a:ext cx="3017601" cy="472325"/>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F7F9FB"/>
                </a:solidFill>
                <a:latin typeface="Arial" pitchFamily="34" charset="0"/>
                <a:ea typeface="Arial" pitchFamily="34" charset="-122"/>
                <a:cs typeface="Arial" pitchFamily="34" charset="-120"/>
              </a:rPr>
              <a:t>484문항</a:t>
            </a:r>
            <a:endParaRPr lang="en-US" sz="3200" dirty="0"/>
          </a:p>
        </p:txBody>
      </p:sp>
      <p:sp>
        <p:nvSpPr>
          <p:cNvPr id="13" name="Text 11"/>
          <p:cNvSpPr/>
          <p:nvPr/>
        </p:nvSpPr>
        <p:spPr>
          <a:xfrm>
            <a:off x="8221045" y="5176463"/>
            <a:ext cx="3017601" cy="2565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FD3E6"/>
                </a:solidFill>
                <a:latin typeface="Arial" pitchFamily="34" charset="0"/>
                <a:ea typeface="Arial" pitchFamily="34" charset="-122"/>
                <a:cs typeface="Arial" pitchFamily="34" charset="-120"/>
              </a:rPr>
              <a:t>평가 질문 · Golden 396 + 기존 88</a:t>
            </a:r>
            <a:endParaRPr lang="en-US" sz="1300" dirty="0"/>
          </a:p>
        </p:txBody>
      </p:sp>
      <p:sp>
        <p:nvSpPr>
          <p:cNvPr id="14" name="Text 12"/>
          <p:cNvSpPr/>
          <p:nvPr/>
        </p:nvSpPr>
        <p:spPr>
          <a:xfrm>
            <a:off x="812712" y="6238434"/>
            <a:ext cx="10883347" cy="2386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B3D9"/>
                </a:solidFill>
                <a:latin typeface="Arial" pitchFamily="34" charset="0"/>
                <a:ea typeface="Arial" pitchFamily="34" charset="-122"/>
                <a:cs typeface="Arial" pitchFamily="34" charset="-120"/>
              </a:rPr>
              <a:t>2026. 10. 20 · 발표자 [이름] · LittleBitAI/rfg_rag (feature/Retrieval)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812712" y="711178"/>
            <a:ext cx="10883574" cy="2565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764A3"/>
                </a:solidFill>
                <a:latin typeface="Arial" pitchFamily="34" charset="0"/>
                <a:ea typeface="Arial" pitchFamily="34" charset="-122"/>
                <a:cs typeface="Arial" pitchFamily="34" charset="-120"/>
              </a:rPr>
              <a:t>전체 흐름</a:t>
            </a:r>
            <a:endParaRPr lang="en-US" sz="1300" dirty="0"/>
          </a:p>
        </p:txBody>
      </p:sp>
      <p:sp>
        <p:nvSpPr>
          <p:cNvPr id="3" name="Text 1"/>
          <p:cNvSpPr>
            <a:spLocks noGrp="1"/>
          </p:cNvSpPr>
          <p:nvPr>
            <p:ph type="title"/>
          </p:nvPr>
        </p:nvSpPr>
        <p:spPr>
          <a:xfrm>
            <a:off x="812712" y="1018536"/>
            <a:ext cx="10883574" cy="452151"/>
          </a:xfrm>
          <a:prstGeom prst="rect">
            <a:avLst/>
          </a:prstGeom>
          <a:noFill/>
          <a:ln/>
        </p:spPr>
        <p:txBody>
          <a:bodyPr wrap="square" lIns="0" tIns="0" rIns="0" bIns="0" rtlCol="0" anchor="t">
            <a:normAutofit/>
          </a:bodyPr>
          <a:lstStyle/>
          <a:p>
            <a:pPr marL="0" indent="0" algn="l">
              <a:lnSpc>
                <a:spcPts val="3360"/>
              </a:lnSpc>
              <a:buNone/>
            </a:pPr>
            <a:r>
              <a:rPr lang="en-US" sz="2800" b="1" i="0" dirty="0">
                <a:solidFill>
                  <a:srgbClr val="172E45"/>
                </a:solidFill>
                <a:latin typeface="Arial" pitchFamily="34" charset="0"/>
                <a:ea typeface="Arial" pitchFamily="34" charset="-122"/>
                <a:cs typeface="Arial" pitchFamily="34" charset="-120"/>
              </a:rPr>
              <a:t>질문 하나가 근거가 되기까지 다섯 단계</a:t>
            </a:r>
            <a:endParaRPr lang="en-US" sz="2800" dirty="0"/>
          </a:p>
        </p:txBody>
      </p:sp>
      <p:sp>
        <p:nvSpPr>
          <p:cNvPr id="4" name="Shape 2"/>
          <p:cNvSpPr/>
          <p:nvPr/>
        </p:nvSpPr>
        <p:spPr>
          <a:xfrm>
            <a:off x="815887" y="1727818"/>
            <a:ext cx="2005365" cy="2366191"/>
          </a:xfrm>
          <a:prstGeom prst="roundRect">
            <a:avLst>
              <a:gd name="adj" fmla="val 4908"/>
            </a:avLst>
          </a:prstGeom>
          <a:solidFill>
            <a:srgbClr val="FFFFFF"/>
          </a:solidFill>
          <a:ln w="6350">
            <a:solidFill>
              <a:srgbClr val="D9E1E8"/>
            </a:solidFill>
            <a:prstDash val="solid"/>
          </a:ln>
        </p:spPr>
      </p:sp>
      <p:sp>
        <p:nvSpPr>
          <p:cNvPr id="5" name="Text 3"/>
          <p:cNvSpPr/>
          <p:nvPr/>
        </p:nvSpPr>
        <p:spPr>
          <a:xfrm>
            <a:off x="997479" y="1909410"/>
            <a:ext cx="330178" cy="330178"/>
          </a:xfrm>
          <a:custGeom>
            <a:avLst/>
            <a:gdLst/>
            <a:ahLst/>
            <a:cxnLst/>
            <a:rect l="l" t="t" r="r" b="b"/>
            <a:pathLst>
              <a:path w="330178" h="330178">
                <a:moveTo>
                  <a:pt x="165089" y="0"/>
                </a:moveTo>
                <a:lnTo>
                  <a:pt x="165089" y="0"/>
                </a:lnTo>
                <a:arcTo wR="165089" hR="165089" stAng="16200000" swAng="5400000"/>
                <a:lnTo>
                  <a:pt x="330178" y="165089"/>
                </a:lnTo>
                <a:arcTo wR="165089" hR="165089" stAng="0" swAng="5400000"/>
                <a:lnTo>
                  <a:pt x="165089" y="330178"/>
                </a:lnTo>
                <a:arcTo wR="165089" hR="165089" stAng="5400000" swAng="5400000"/>
                <a:lnTo>
                  <a:pt x="0" y="165089"/>
                </a:lnTo>
                <a:arcTo wR="165089" hR="165089" stAng="10800000" swAng="5400000"/>
                <a:close/>
              </a:path>
            </a:pathLst>
          </a:custGeom>
          <a:solidFill>
            <a:srgbClr val="1764A3"/>
          </a:solidFill>
          <a:ln/>
        </p:spPr>
        <p:txBody>
          <a:bodyPr wrap="square" lIns="0" tIns="0" rIns="0" bIns="0" rtlCol="0" anchor="t">
            <a:normAutofit/>
          </a:bodyPr>
          <a:lstStyle/>
          <a:p>
            <a:pPr marL="0" indent="0" algn="ctr">
              <a:lnSpc>
                <a:spcPts val="2600"/>
              </a:lnSpc>
              <a:buNone/>
            </a:pPr>
            <a:r>
              <a:rPr lang="en-US" sz="1300" b="1" dirty="0">
                <a:solidFill>
                  <a:srgbClr val="F7F9FB"/>
                </a:solidFill>
                <a:latin typeface="Arial" pitchFamily="34" charset="0"/>
                <a:ea typeface="Arial" pitchFamily="34" charset="-122"/>
                <a:cs typeface="Arial" pitchFamily="34" charset="-120"/>
              </a:rPr>
              <a:t>1</a:t>
            </a:r>
            <a:endParaRPr lang="en-US" sz="1300" dirty="0"/>
          </a:p>
        </p:txBody>
      </p:sp>
      <p:sp>
        <p:nvSpPr>
          <p:cNvPr id="6" name="Text 4"/>
          <p:cNvSpPr/>
          <p:nvPr/>
        </p:nvSpPr>
        <p:spPr>
          <a:xfrm>
            <a:off x="997479" y="2328444"/>
            <a:ext cx="1692981" cy="25393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72E45"/>
                </a:solidFill>
                <a:latin typeface="Arial" pitchFamily="34" charset="0"/>
                <a:ea typeface="Arial" pitchFamily="34" charset="-122"/>
                <a:cs typeface="Arial" pitchFamily="34" charset="-120"/>
              </a:rPr>
              <a:t>질문 다듬기</a:t>
            </a:r>
            <a:endParaRPr lang="en-US" sz="1500" dirty="0"/>
          </a:p>
        </p:txBody>
      </p:sp>
      <p:sp>
        <p:nvSpPr>
          <p:cNvPr id="7" name="Text 5"/>
          <p:cNvSpPr/>
          <p:nvPr/>
        </p:nvSpPr>
        <p:spPr>
          <a:xfrm>
            <a:off x="997479" y="2645834"/>
            <a:ext cx="1692981" cy="687851"/>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526478"/>
                </a:solidFill>
                <a:latin typeface="Arial" pitchFamily="34" charset="0"/>
                <a:ea typeface="Arial" pitchFamily="34" charset="-122"/>
                <a:cs typeface="Arial" pitchFamily="34" charset="-120"/>
              </a:rPr>
              <a:t>오타와 “거기” 같은 말을 앞선 대화로 풀어 또렷한 질문으로</a:t>
            </a:r>
            <a:endParaRPr lang="en-US" sz="1200" dirty="0"/>
          </a:p>
        </p:txBody>
      </p:sp>
      <p:sp>
        <p:nvSpPr>
          <p:cNvPr id="8" name="Text 6"/>
          <p:cNvSpPr/>
          <p:nvPr/>
        </p:nvSpPr>
        <p:spPr>
          <a:xfrm>
            <a:off x="997479" y="3699206"/>
            <a:ext cx="1692981" cy="2386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64A3"/>
                </a:solidFill>
                <a:latin typeface="Arial" pitchFamily="34" charset="0"/>
                <a:ea typeface="Arial" pitchFamily="34" charset="-122"/>
                <a:cs typeface="Arial" pitchFamily="34" charset="-120"/>
              </a:rPr>
              <a:t>Query Rewrite · LLM</a:t>
            </a:r>
            <a:endParaRPr lang="en-US" sz="1200" dirty="0"/>
          </a:p>
        </p:txBody>
      </p:sp>
      <p:sp>
        <p:nvSpPr>
          <p:cNvPr id="9" name="Shape 7"/>
          <p:cNvSpPr/>
          <p:nvPr/>
        </p:nvSpPr>
        <p:spPr>
          <a:xfrm>
            <a:off x="2954602" y="1727818"/>
            <a:ext cx="2005365" cy="2366191"/>
          </a:xfrm>
          <a:prstGeom prst="roundRect">
            <a:avLst>
              <a:gd name="adj" fmla="val 4908"/>
            </a:avLst>
          </a:prstGeom>
          <a:solidFill>
            <a:srgbClr val="FFFFFF"/>
          </a:solidFill>
          <a:ln w="6350">
            <a:solidFill>
              <a:srgbClr val="D9E1E8"/>
            </a:solidFill>
            <a:prstDash val="solid"/>
          </a:ln>
        </p:spPr>
      </p:sp>
      <p:sp>
        <p:nvSpPr>
          <p:cNvPr id="10" name="Text 8"/>
          <p:cNvSpPr/>
          <p:nvPr/>
        </p:nvSpPr>
        <p:spPr>
          <a:xfrm>
            <a:off x="3136195" y="1909410"/>
            <a:ext cx="330178" cy="330178"/>
          </a:xfrm>
          <a:custGeom>
            <a:avLst/>
            <a:gdLst/>
            <a:ahLst/>
            <a:cxnLst/>
            <a:rect l="l" t="t" r="r" b="b"/>
            <a:pathLst>
              <a:path w="330178" h="330178">
                <a:moveTo>
                  <a:pt x="165089" y="0"/>
                </a:moveTo>
                <a:lnTo>
                  <a:pt x="165089" y="0"/>
                </a:lnTo>
                <a:arcTo wR="165089" hR="165089" stAng="16200000" swAng="5400000"/>
                <a:lnTo>
                  <a:pt x="330178" y="165089"/>
                </a:lnTo>
                <a:arcTo wR="165089" hR="165089" stAng="0" swAng="5400000"/>
                <a:lnTo>
                  <a:pt x="165089" y="330178"/>
                </a:lnTo>
                <a:arcTo wR="165089" hR="165089" stAng="5400000" swAng="5400000"/>
                <a:lnTo>
                  <a:pt x="0" y="165089"/>
                </a:lnTo>
                <a:arcTo wR="165089" hR="165089" stAng="10800000" swAng="5400000"/>
                <a:close/>
              </a:path>
            </a:pathLst>
          </a:custGeom>
          <a:solidFill>
            <a:srgbClr val="1764A3"/>
          </a:solidFill>
          <a:ln/>
        </p:spPr>
        <p:txBody>
          <a:bodyPr wrap="square" lIns="0" tIns="0" rIns="0" bIns="0" rtlCol="0" anchor="t">
            <a:normAutofit/>
          </a:bodyPr>
          <a:lstStyle/>
          <a:p>
            <a:pPr marL="0" indent="0" algn="ctr">
              <a:lnSpc>
                <a:spcPts val="2600"/>
              </a:lnSpc>
              <a:buNone/>
            </a:pPr>
            <a:r>
              <a:rPr lang="en-US" sz="1300" b="1" dirty="0">
                <a:solidFill>
                  <a:srgbClr val="F7F9FB"/>
                </a:solidFill>
                <a:latin typeface="Arial" pitchFamily="34" charset="0"/>
                <a:ea typeface="Arial" pitchFamily="34" charset="-122"/>
                <a:cs typeface="Arial" pitchFamily="34" charset="-120"/>
              </a:rPr>
              <a:t>2</a:t>
            </a:r>
            <a:endParaRPr lang="en-US" sz="1300" dirty="0"/>
          </a:p>
        </p:txBody>
      </p:sp>
      <p:sp>
        <p:nvSpPr>
          <p:cNvPr id="11" name="Text 9"/>
          <p:cNvSpPr/>
          <p:nvPr/>
        </p:nvSpPr>
        <p:spPr>
          <a:xfrm>
            <a:off x="3136195" y="2328444"/>
            <a:ext cx="1692981" cy="25393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72E45"/>
                </a:solidFill>
                <a:latin typeface="Arial" pitchFamily="34" charset="0"/>
                <a:ea typeface="Arial" pitchFamily="34" charset="-122"/>
                <a:cs typeface="Arial" pitchFamily="34" charset="-120"/>
              </a:rPr>
              <a:t>범위 좁히기</a:t>
            </a:r>
            <a:endParaRPr lang="en-US" sz="1500" dirty="0"/>
          </a:p>
        </p:txBody>
      </p:sp>
      <p:sp>
        <p:nvSpPr>
          <p:cNvPr id="12" name="Text 10"/>
          <p:cNvSpPr/>
          <p:nvPr/>
        </p:nvSpPr>
        <p:spPr>
          <a:xfrm>
            <a:off x="3136195" y="2645834"/>
            <a:ext cx="1692981" cy="687851"/>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526478"/>
                </a:solidFill>
                <a:latin typeface="Arial" pitchFamily="34" charset="0"/>
                <a:ea typeface="Arial" pitchFamily="34" charset="-122"/>
                <a:cs typeface="Arial" pitchFamily="34" charset="-120"/>
              </a:rPr>
              <a:t>질문 속 기관명을 보고 그 기관 문서 안에서만 찾기</a:t>
            </a:r>
            <a:endParaRPr lang="en-US" sz="1200" dirty="0"/>
          </a:p>
        </p:txBody>
      </p:sp>
      <p:sp>
        <p:nvSpPr>
          <p:cNvPr id="13" name="Text 11"/>
          <p:cNvSpPr/>
          <p:nvPr/>
        </p:nvSpPr>
        <p:spPr>
          <a:xfrm>
            <a:off x="3136195" y="3699206"/>
            <a:ext cx="1692981" cy="2386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64A3"/>
                </a:solidFill>
                <a:latin typeface="Arial" pitchFamily="34" charset="0"/>
                <a:ea typeface="Arial" pitchFamily="34" charset="-122"/>
                <a:cs typeface="Arial" pitchFamily="34" charset="-120"/>
              </a:rPr>
              <a:t>기관 라우팅</a:t>
            </a:r>
            <a:endParaRPr lang="en-US" sz="1200" dirty="0"/>
          </a:p>
        </p:txBody>
      </p:sp>
      <p:sp>
        <p:nvSpPr>
          <p:cNvPr id="14" name="Shape 12"/>
          <p:cNvSpPr/>
          <p:nvPr/>
        </p:nvSpPr>
        <p:spPr>
          <a:xfrm>
            <a:off x="5093318" y="1727818"/>
            <a:ext cx="2005365" cy="2366191"/>
          </a:xfrm>
          <a:prstGeom prst="roundRect">
            <a:avLst>
              <a:gd name="adj" fmla="val 4908"/>
            </a:avLst>
          </a:prstGeom>
          <a:solidFill>
            <a:srgbClr val="FFFFFF"/>
          </a:solidFill>
          <a:ln w="6350">
            <a:solidFill>
              <a:srgbClr val="D9E1E8"/>
            </a:solidFill>
            <a:prstDash val="solid"/>
          </a:ln>
        </p:spPr>
      </p:sp>
      <p:sp>
        <p:nvSpPr>
          <p:cNvPr id="15" name="Text 13"/>
          <p:cNvSpPr/>
          <p:nvPr/>
        </p:nvSpPr>
        <p:spPr>
          <a:xfrm>
            <a:off x="5274910" y="1909410"/>
            <a:ext cx="330178" cy="330178"/>
          </a:xfrm>
          <a:custGeom>
            <a:avLst/>
            <a:gdLst/>
            <a:ahLst/>
            <a:cxnLst/>
            <a:rect l="l" t="t" r="r" b="b"/>
            <a:pathLst>
              <a:path w="330178" h="330178">
                <a:moveTo>
                  <a:pt x="165089" y="0"/>
                </a:moveTo>
                <a:lnTo>
                  <a:pt x="165089" y="0"/>
                </a:lnTo>
                <a:arcTo wR="165089" hR="165089" stAng="16200000" swAng="5400000"/>
                <a:lnTo>
                  <a:pt x="330178" y="165089"/>
                </a:lnTo>
                <a:arcTo wR="165089" hR="165089" stAng="0" swAng="5400000"/>
                <a:lnTo>
                  <a:pt x="165089" y="330178"/>
                </a:lnTo>
                <a:arcTo wR="165089" hR="165089" stAng="5400000" swAng="5400000"/>
                <a:lnTo>
                  <a:pt x="0" y="165089"/>
                </a:lnTo>
                <a:arcTo wR="165089" hR="165089" stAng="10800000" swAng="5400000"/>
                <a:close/>
              </a:path>
            </a:pathLst>
          </a:custGeom>
          <a:solidFill>
            <a:srgbClr val="1764A3"/>
          </a:solidFill>
          <a:ln/>
        </p:spPr>
        <p:txBody>
          <a:bodyPr wrap="square" lIns="0" tIns="0" rIns="0" bIns="0" rtlCol="0" anchor="t">
            <a:normAutofit/>
          </a:bodyPr>
          <a:lstStyle/>
          <a:p>
            <a:pPr marL="0" indent="0" algn="ctr">
              <a:lnSpc>
                <a:spcPts val="2600"/>
              </a:lnSpc>
              <a:buNone/>
            </a:pPr>
            <a:r>
              <a:rPr lang="en-US" sz="1300" b="1" dirty="0">
                <a:solidFill>
                  <a:srgbClr val="F7F9FB"/>
                </a:solidFill>
                <a:latin typeface="Arial" pitchFamily="34" charset="0"/>
                <a:ea typeface="Arial" pitchFamily="34" charset="-122"/>
                <a:cs typeface="Arial" pitchFamily="34" charset="-120"/>
              </a:rPr>
              <a:t>3</a:t>
            </a:r>
            <a:endParaRPr lang="en-US" sz="1300" dirty="0"/>
          </a:p>
        </p:txBody>
      </p:sp>
      <p:sp>
        <p:nvSpPr>
          <p:cNvPr id="16" name="Text 14"/>
          <p:cNvSpPr/>
          <p:nvPr/>
        </p:nvSpPr>
        <p:spPr>
          <a:xfrm>
            <a:off x="5274910" y="2328444"/>
            <a:ext cx="1692981" cy="25393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72E45"/>
                </a:solidFill>
                <a:latin typeface="Arial" pitchFamily="34" charset="0"/>
                <a:ea typeface="Arial" pitchFamily="34" charset="-122"/>
                <a:cs typeface="Arial" pitchFamily="34" charset="-120"/>
              </a:rPr>
              <a:t>두 방식으로 찾기</a:t>
            </a:r>
            <a:endParaRPr lang="en-US" sz="1500" dirty="0"/>
          </a:p>
        </p:txBody>
      </p:sp>
      <p:sp>
        <p:nvSpPr>
          <p:cNvPr id="17" name="Text 15"/>
          <p:cNvSpPr/>
          <p:nvPr/>
        </p:nvSpPr>
        <p:spPr>
          <a:xfrm>
            <a:off x="5274910" y="2645834"/>
            <a:ext cx="1692981" cy="687851"/>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526478"/>
                </a:solidFill>
                <a:latin typeface="Arial" pitchFamily="34" charset="0"/>
                <a:ea typeface="Arial" pitchFamily="34" charset="-122"/>
                <a:cs typeface="Arial" pitchFamily="34" charset="-120"/>
              </a:rPr>
              <a:t>‘뜻’이 비슷한 곳과 ‘단어’가 같은 곳을 각각 50개씩</a:t>
            </a:r>
            <a:endParaRPr lang="en-US" sz="1200" dirty="0"/>
          </a:p>
        </p:txBody>
      </p:sp>
      <p:sp>
        <p:nvSpPr>
          <p:cNvPr id="18" name="Text 16"/>
          <p:cNvSpPr/>
          <p:nvPr/>
        </p:nvSpPr>
        <p:spPr>
          <a:xfrm>
            <a:off x="5274910" y="3485997"/>
            <a:ext cx="1692981" cy="4518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64A3"/>
                </a:solidFill>
                <a:latin typeface="Arial" pitchFamily="34" charset="0"/>
                <a:ea typeface="Arial" pitchFamily="34" charset="-122"/>
                <a:cs typeface="Arial" pitchFamily="34" charset="-120"/>
              </a:rPr>
              <a:t>KURE + FAISS · Kiwi + BM25</a:t>
            </a:r>
            <a:endParaRPr lang="en-US" sz="1200" dirty="0"/>
          </a:p>
        </p:txBody>
      </p:sp>
      <p:sp>
        <p:nvSpPr>
          <p:cNvPr id="19" name="Shape 17"/>
          <p:cNvSpPr/>
          <p:nvPr/>
        </p:nvSpPr>
        <p:spPr>
          <a:xfrm>
            <a:off x="7232033" y="1727818"/>
            <a:ext cx="2005365" cy="2366191"/>
          </a:xfrm>
          <a:prstGeom prst="roundRect">
            <a:avLst>
              <a:gd name="adj" fmla="val 4908"/>
            </a:avLst>
          </a:prstGeom>
          <a:solidFill>
            <a:srgbClr val="FFFFFF"/>
          </a:solidFill>
          <a:ln w="6350">
            <a:solidFill>
              <a:srgbClr val="D9E1E8"/>
            </a:solidFill>
            <a:prstDash val="solid"/>
          </a:ln>
        </p:spPr>
      </p:sp>
      <p:sp>
        <p:nvSpPr>
          <p:cNvPr id="20" name="Text 18"/>
          <p:cNvSpPr/>
          <p:nvPr/>
        </p:nvSpPr>
        <p:spPr>
          <a:xfrm>
            <a:off x="7413625" y="1909410"/>
            <a:ext cx="330178" cy="330178"/>
          </a:xfrm>
          <a:custGeom>
            <a:avLst/>
            <a:gdLst/>
            <a:ahLst/>
            <a:cxnLst/>
            <a:rect l="l" t="t" r="r" b="b"/>
            <a:pathLst>
              <a:path w="330178" h="330178">
                <a:moveTo>
                  <a:pt x="165089" y="0"/>
                </a:moveTo>
                <a:lnTo>
                  <a:pt x="165089" y="0"/>
                </a:lnTo>
                <a:arcTo wR="165089" hR="165089" stAng="16200000" swAng="5400000"/>
                <a:lnTo>
                  <a:pt x="330178" y="165089"/>
                </a:lnTo>
                <a:arcTo wR="165089" hR="165089" stAng="0" swAng="5400000"/>
                <a:lnTo>
                  <a:pt x="165089" y="330178"/>
                </a:lnTo>
                <a:arcTo wR="165089" hR="165089" stAng="5400000" swAng="5400000"/>
                <a:lnTo>
                  <a:pt x="0" y="165089"/>
                </a:lnTo>
                <a:arcTo wR="165089" hR="165089" stAng="10800000" swAng="5400000"/>
                <a:close/>
              </a:path>
            </a:pathLst>
          </a:custGeom>
          <a:solidFill>
            <a:srgbClr val="1764A3"/>
          </a:solidFill>
          <a:ln/>
        </p:spPr>
        <p:txBody>
          <a:bodyPr wrap="square" lIns="0" tIns="0" rIns="0" bIns="0" rtlCol="0" anchor="t">
            <a:normAutofit/>
          </a:bodyPr>
          <a:lstStyle/>
          <a:p>
            <a:pPr marL="0" indent="0" algn="ctr">
              <a:lnSpc>
                <a:spcPts val="2600"/>
              </a:lnSpc>
              <a:buNone/>
            </a:pPr>
            <a:r>
              <a:rPr lang="en-US" sz="1300" b="1" dirty="0">
                <a:solidFill>
                  <a:srgbClr val="F7F9FB"/>
                </a:solidFill>
                <a:latin typeface="Arial" pitchFamily="34" charset="0"/>
                <a:ea typeface="Arial" pitchFamily="34" charset="-122"/>
                <a:cs typeface="Arial" pitchFamily="34" charset="-120"/>
              </a:rPr>
              <a:t>4</a:t>
            </a:r>
            <a:endParaRPr lang="en-US" sz="1300" dirty="0"/>
          </a:p>
        </p:txBody>
      </p:sp>
      <p:sp>
        <p:nvSpPr>
          <p:cNvPr id="21" name="Text 19"/>
          <p:cNvSpPr/>
          <p:nvPr/>
        </p:nvSpPr>
        <p:spPr>
          <a:xfrm>
            <a:off x="7413625" y="2328444"/>
            <a:ext cx="1692981" cy="25393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72E45"/>
                </a:solidFill>
                <a:latin typeface="Arial" pitchFamily="34" charset="0"/>
                <a:ea typeface="Arial" pitchFamily="34" charset="-122"/>
                <a:cs typeface="Arial" pitchFamily="34" charset="-120"/>
              </a:rPr>
              <a:t>합치고 다시 읽기</a:t>
            </a:r>
            <a:endParaRPr lang="en-US" sz="1500" dirty="0"/>
          </a:p>
        </p:txBody>
      </p:sp>
      <p:sp>
        <p:nvSpPr>
          <p:cNvPr id="22" name="Text 20"/>
          <p:cNvSpPr/>
          <p:nvPr/>
        </p:nvSpPr>
        <p:spPr>
          <a:xfrm>
            <a:off x="7413625" y="2645834"/>
            <a:ext cx="1692981" cy="687851"/>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526478"/>
                </a:solidFill>
                <a:latin typeface="Arial" pitchFamily="34" charset="0"/>
                <a:ea typeface="Arial" pitchFamily="34" charset="-122"/>
                <a:cs typeface="Arial" pitchFamily="34" charset="-120"/>
              </a:rPr>
              <a:t>두 결과를 순위로 합친 뒤 상위 30개를 질문과 나란히 정독</a:t>
            </a:r>
            <a:endParaRPr lang="en-US" sz="1200" dirty="0"/>
          </a:p>
        </p:txBody>
      </p:sp>
      <p:sp>
        <p:nvSpPr>
          <p:cNvPr id="23" name="Text 21"/>
          <p:cNvSpPr/>
          <p:nvPr/>
        </p:nvSpPr>
        <p:spPr>
          <a:xfrm>
            <a:off x="7413625" y="3699206"/>
            <a:ext cx="1692981" cy="2386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64A3"/>
                </a:solidFill>
                <a:latin typeface="Arial" pitchFamily="34" charset="0"/>
                <a:ea typeface="Arial" pitchFamily="34" charset="-122"/>
                <a:cs typeface="Arial" pitchFamily="34" charset="-120"/>
              </a:rPr>
              <a:t>RRF · 리랭커</a:t>
            </a:r>
            <a:endParaRPr lang="en-US" sz="1200" dirty="0"/>
          </a:p>
        </p:txBody>
      </p:sp>
      <p:sp>
        <p:nvSpPr>
          <p:cNvPr id="24" name="Shape 22"/>
          <p:cNvSpPr/>
          <p:nvPr/>
        </p:nvSpPr>
        <p:spPr>
          <a:xfrm>
            <a:off x="9370748" y="1727818"/>
            <a:ext cx="2005365" cy="2366191"/>
          </a:xfrm>
          <a:prstGeom prst="roundRect">
            <a:avLst>
              <a:gd name="adj" fmla="val 4908"/>
            </a:avLst>
          </a:prstGeom>
          <a:solidFill>
            <a:srgbClr val="FFFFFF"/>
          </a:solidFill>
          <a:ln w="6350">
            <a:solidFill>
              <a:srgbClr val="D9E1E8"/>
            </a:solidFill>
            <a:prstDash val="solid"/>
          </a:ln>
        </p:spPr>
      </p:sp>
      <p:sp>
        <p:nvSpPr>
          <p:cNvPr id="25" name="Text 23"/>
          <p:cNvSpPr/>
          <p:nvPr/>
        </p:nvSpPr>
        <p:spPr>
          <a:xfrm>
            <a:off x="9552341" y="1909410"/>
            <a:ext cx="330178" cy="330178"/>
          </a:xfrm>
          <a:custGeom>
            <a:avLst/>
            <a:gdLst/>
            <a:ahLst/>
            <a:cxnLst/>
            <a:rect l="l" t="t" r="r" b="b"/>
            <a:pathLst>
              <a:path w="330178" h="330178">
                <a:moveTo>
                  <a:pt x="165089" y="0"/>
                </a:moveTo>
                <a:lnTo>
                  <a:pt x="165089" y="0"/>
                </a:lnTo>
                <a:arcTo wR="165089" hR="165089" stAng="16200000" swAng="5400000"/>
                <a:lnTo>
                  <a:pt x="330178" y="165089"/>
                </a:lnTo>
                <a:arcTo wR="165089" hR="165089" stAng="0" swAng="5400000"/>
                <a:lnTo>
                  <a:pt x="165089" y="330178"/>
                </a:lnTo>
                <a:arcTo wR="165089" hR="165089" stAng="5400000" swAng="5400000"/>
                <a:lnTo>
                  <a:pt x="0" y="165089"/>
                </a:lnTo>
                <a:arcTo wR="165089" hR="165089" stAng="10800000" swAng="5400000"/>
                <a:close/>
              </a:path>
            </a:pathLst>
          </a:custGeom>
          <a:solidFill>
            <a:srgbClr val="1764A3"/>
          </a:solidFill>
          <a:ln/>
        </p:spPr>
        <p:txBody>
          <a:bodyPr wrap="square" lIns="0" tIns="0" rIns="0" bIns="0" rtlCol="0" anchor="t">
            <a:normAutofit/>
          </a:bodyPr>
          <a:lstStyle/>
          <a:p>
            <a:pPr marL="0" indent="0" algn="ctr">
              <a:lnSpc>
                <a:spcPts val="2600"/>
              </a:lnSpc>
              <a:buNone/>
            </a:pPr>
            <a:r>
              <a:rPr lang="en-US" sz="1300" b="1" dirty="0">
                <a:solidFill>
                  <a:srgbClr val="F7F9FB"/>
                </a:solidFill>
                <a:latin typeface="Arial" pitchFamily="34" charset="0"/>
                <a:ea typeface="Arial" pitchFamily="34" charset="-122"/>
                <a:cs typeface="Arial" pitchFamily="34" charset="-120"/>
              </a:rPr>
              <a:t>5</a:t>
            </a:r>
            <a:endParaRPr lang="en-US" sz="1300" dirty="0"/>
          </a:p>
        </p:txBody>
      </p:sp>
      <p:sp>
        <p:nvSpPr>
          <p:cNvPr id="26" name="Text 24"/>
          <p:cNvSpPr/>
          <p:nvPr/>
        </p:nvSpPr>
        <p:spPr>
          <a:xfrm>
            <a:off x="9552341" y="2328444"/>
            <a:ext cx="1692981" cy="25393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72E45"/>
                </a:solidFill>
                <a:latin typeface="Arial" pitchFamily="34" charset="0"/>
                <a:ea typeface="Arial" pitchFamily="34" charset="-122"/>
                <a:cs typeface="Arial" pitchFamily="34" charset="-120"/>
              </a:rPr>
              <a:t>근거 전달</a:t>
            </a:r>
            <a:endParaRPr lang="en-US" sz="1500" dirty="0"/>
          </a:p>
        </p:txBody>
      </p:sp>
      <p:sp>
        <p:nvSpPr>
          <p:cNvPr id="27" name="Text 25"/>
          <p:cNvSpPr/>
          <p:nvPr/>
        </p:nvSpPr>
        <p:spPr>
          <a:xfrm>
            <a:off x="9552341" y="2645834"/>
            <a:ext cx="1692981" cy="687851"/>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526478"/>
                </a:solidFill>
                <a:latin typeface="Arial" pitchFamily="34" charset="0"/>
                <a:ea typeface="Arial" pitchFamily="34" charset="-122"/>
                <a:cs typeface="Arial" pitchFamily="34" charset="-120"/>
              </a:rPr>
              <a:t>정해진 분량 안에서 본문과 출처를 함께 넘기기</a:t>
            </a:r>
            <a:endParaRPr lang="en-US" sz="1200" dirty="0"/>
          </a:p>
        </p:txBody>
      </p:sp>
      <p:sp>
        <p:nvSpPr>
          <p:cNvPr id="28" name="Text 26"/>
          <p:cNvSpPr/>
          <p:nvPr/>
        </p:nvSpPr>
        <p:spPr>
          <a:xfrm>
            <a:off x="9552341" y="3699206"/>
            <a:ext cx="1692981" cy="2386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64A3"/>
                </a:solidFill>
                <a:latin typeface="Arial" pitchFamily="34" charset="0"/>
                <a:ea typeface="Arial" pitchFamily="34" charset="-122"/>
                <a:cs typeface="Arial" pitchFamily="34" charset="-120"/>
              </a:rPr>
              <a:t>2,500토큰 예산</a:t>
            </a:r>
            <a:endParaRPr lang="en-US" sz="1200" dirty="0"/>
          </a:p>
        </p:txBody>
      </p:sp>
      <p:sp>
        <p:nvSpPr>
          <p:cNvPr id="32" name="Text 29"/>
          <p:cNvSpPr/>
          <p:nvPr/>
        </p:nvSpPr>
        <p:spPr>
          <a:xfrm>
            <a:off x="812712" y="6238435"/>
            <a:ext cx="10883347" cy="2386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26478"/>
                </a:solidFill>
                <a:latin typeface="Arial" pitchFamily="34" charset="0"/>
                <a:ea typeface="Arial" pitchFamily="34" charset="-122"/>
                <a:cs typeface="Arial" pitchFamily="34" charset="-120"/>
              </a:rPr>
              <a:t>검색(Retrieval) 파트 발표 · 2 · 코드: rag/retrieval/rewrite.py · indexing.py · retrieval.py · 설정: 02_retrieval.ipynb, config.yaml</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812712" y="711178"/>
            <a:ext cx="10883574" cy="2565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764A3"/>
                </a:solidFill>
                <a:latin typeface="Arial" pitchFamily="34" charset="0"/>
                <a:ea typeface="Arial" pitchFamily="34" charset="-122"/>
                <a:cs typeface="Arial" pitchFamily="34" charset="-120"/>
              </a:rPr>
              <a:t>3단계 · 하이브리드 검색</a:t>
            </a:r>
            <a:endParaRPr lang="en-US" sz="1300" dirty="0"/>
          </a:p>
        </p:txBody>
      </p:sp>
      <p:sp>
        <p:nvSpPr>
          <p:cNvPr id="3" name="Text 1"/>
          <p:cNvSpPr>
            <a:spLocks noGrp="1"/>
          </p:cNvSpPr>
          <p:nvPr>
            <p:ph type="title"/>
          </p:nvPr>
        </p:nvSpPr>
        <p:spPr>
          <a:xfrm>
            <a:off x="812712" y="1018536"/>
            <a:ext cx="10883574" cy="452151"/>
          </a:xfrm>
          <a:prstGeom prst="rect">
            <a:avLst/>
          </a:prstGeom>
          <a:noFill/>
          <a:ln/>
        </p:spPr>
        <p:txBody>
          <a:bodyPr wrap="square" lIns="0" tIns="0" rIns="0" bIns="0" rtlCol="0" anchor="t">
            <a:normAutofit/>
          </a:bodyPr>
          <a:lstStyle/>
          <a:p>
            <a:pPr marL="0" indent="0" algn="l">
              <a:lnSpc>
                <a:spcPts val="3360"/>
              </a:lnSpc>
              <a:buNone/>
            </a:pPr>
            <a:r>
              <a:rPr lang="en-US" sz="2800" b="1" i="0" dirty="0">
                <a:solidFill>
                  <a:srgbClr val="172E45"/>
                </a:solidFill>
                <a:latin typeface="Arial" pitchFamily="34" charset="0"/>
                <a:ea typeface="Arial" pitchFamily="34" charset="-122"/>
                <a:cs typeface="Arial" pitchFamily="34" charset="-120"/>
              </a:rPr>
              <a:t>두 가지 방식으로 동시에 찾습니다</a:t>
            </a:r>
            <a:endParaRPr lang="en-US" sz="2800" dirty="0"/>
          </a:p>
        </p:txBody>
      </p:sp>
      <p:sp>
        <p:nvSpPr>
          <p:cNvPr id="4" name="Shape 2"/>
          <p:cNvSpPr/>
          <p:nvPr/>
        </p:nvSpPr>
        <p:spPr>
          <a:xfrm>
            <a:off x="815887" y="1702462"/>
            <a:ext cx="5175294" cy="2955991"/>
          </a:xfrm>
          <a:prstGeom prst="roundRect">
            <a:avLst>
              <a:gd name="adj" fmla="val 3330"/>
            </a:avLst>
          </a:prstGeom>
          <a:solidFill>
            <a:srgbClr val="FFFFFF"/>
          </a:solidFill>
          <a:ln w="6350">
            <a:solidFill>
              <a:srgbClr val="D9E1E8"/>
            </a:solidFill>
            <a:prstDash val="solid"/>
          </a:ln>
        </p:spPr>
      </p:sp>
      <p:sp>
        <p:nvSpPr>
          <p:cNvPr id="5" name="Text 3"/>
          <p:cNvSpPr/>
          <p:nvPr/>
        </p:nvSpPr>
        <p:spPr>
          <a:xfrm>
            <a:off x="1048301" y="1934877"/>
            <a:ext cx="4851780" cy="284361"/>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72E45"/>
                </a:solidFill>
                <a:latin typeface="Arial" pitchFamily="34" charset="0"/>
                <a:ea typeface="Arial" pitchFamily="34" charset="-122"/>
                <a:cs typeface="Arial" pitchFamily="34" charset="-120"/>
              </a:rPr>
              <a:t>방식 1 · 뜻으로 찾기</a:t>
            </a:r>
            <a:endParaRPr lang="en-US" sz="1700" dirty="0"/>
          </a:p>
        </p:txBody>
      </p:sp>
      <p:sp>
        <p:nvSpPr>
          <p:cNvPr id="6" name="Text 4"/>
          <p:cNvSpPr/>
          <p:nvPr/>
        </p:nvSpPr>
        <p:spPr>
          <a:xfrm>
            <a:off x="1048301" y="2308050"/>
            <a:ext cx="4851780" cy="2565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764A3"/>
                </a:solidFill>
                <a:latin typeface="Arial" pitchFamily="34" charset="0"/>
                <a:ea typeface="Arial" pitchFamily="34" charset="-122"/>
                <a:cs typeface="Arial" pitchFamily="34" charset="-120"/>
              </a:rPr>
              <a:t>KURE-v1 임베딩 + FAISS IndexFlatIP</a:t>
            </a:r>
            <a:endParaRPr lang="en-US" sz="1300" dirty="0"/>
          </a:p>
        </p:txBody>
      </p:sp>
      <p:sp>
        <p:nvSpPr>
          <p:cNvPr id="7" name="Shape 5"/>
          <p:cNvSpPr/>
          <p:nvPr/>
        </p:nvSpPr>
        <p:spPr>
          <a:xfrm>
            <a:off x="1048301" y="2653441"/>
            <a:ext cx="4710466" cy="754393"/>
          </a:xfrm>
          <a:prstGeom prst="roundRect">
            <a:avLst>
              <a:gd name="adj" fmla="val 10101"/>
            </a:avLst>
          </a:prstGeom>
          <a:solidFill>
            <a:srgbClr val="EDF2F6"/>
          </a:solidFill>
          <a:ln/>
        </p:spPr>
      </p:sp>
      <p:sp>
        <p:nvSpPr>
          <p:cNvPr id="8" name="Text 6"/>
          <p:cNvSpPr/>
          <p:nvPr/>
        </p:nvSpPr>
        <p:spPr>
          <a:xfrm>
            <a:off x="1200657" y="2780441"/>
            <a:ext cx="4537926" cy="2565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72E45"/>
                </a:solidFill>
                <a:latin typeface="Arial" pitchFamily="34" charset="0"/>
                <a:ea typeface="Arial" pitchFamily="34" charset="-122"/>
                <a:cs typeface="Arial" pitchFamily="34" charset="-120"/>
              </a:rPr>
              <a:t>질문 “하자 보증 기간은?”</a:t>
            </a:r>
            <a:endParaRPr lang="en-US" sz="1300" dirty="0"/>
          </a:p>
        </p:txBody>
      </p:sp>
      <p:sp>
        <p:nvSpPr>
          <p:cNvPr id="9" name="Text 7"/>
          <p:cNvSpPr/>
          <p:nvPr/>
        </p:nvSpPr>
        <p:spPr>
          <a:xfrm>
            <a:off x="1200657" y="3049654"/>
            <a:ext cx="4537926" cy="2565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72E45"/>
                </a:solidFill>
                <a:latin typeface="Arial" pitchFamily="34" charset="0"/>
                <a:ea typeface="Arial" pitchFamily="34" charset="-122"/>
                <a:cs typeface="Arial" pitchFamily="34" charset="-120"/>
              </a:rPr>
              <a:t>→ 문서 속 “무상 보수 기간” 조항도 찾음</a:t>
            </a:r>
            <a:endParaRPr lang="en-US" sz="1300" dirty="0"/>
          </a:p>
        </p:txBody>
      </p:sp>
      <p:sp>
        <p:nvSpPr>
          <p:cNvPr id="10" name="Text 8"/>
          <p:cNvSpPr/>
          <p:nvPr/>
        </p:nvSpPr>
        <p:spPr>
          <a:xfrm>
            <a:off x="1048301" y="3522045"/>
            <a:ext cx="4851780" cy="2565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72E45"/>
                </a:solidFill>
                <a:latin typeface="Arial" pitchFamily="34" charset="0"/>
                <a:ea typeface="Arial" pitchFamily="34" charset="-122"/>
                <a:cs typeface="Arial" pitchFamily="34" charset="-120"/>
              </a:rPr>
              <a:t>강점</a:t>
            </a:r>
            <a:r>
              <a:rPr lang="en-US" sz="1300" dirty="0">
                <a:solidFill>
                  <a:srgbClr val="172E45"/>
                </a:solidFill>
                <a:latin typeface="Arial" pitchFamily="34" charset="0"/>
                <a:ea typeface="Arial" pitchFamily="34" charset="-122"/>
                <a:cs typeface="Arial" pitchFamily="34" charset="-120"/>
              </a:rPr>
              <a:t> 표현이 달라도 뜻이 같으면 찾음</a:t>
            </a:r>
            <a:endParaRPr lang="en-US" sz="1300" dirty="0"/>
          </a:p>
        </p:txBody>
      </p:sp>
      <p:sp>
        <p:nvSpPr>
          <p:cNvPr id="11" name="Text 9"/>
          <p:cNvSpPr/>
          <p:nvPr/>
        </p:nvSpPr>
        <p:spPr>
          <a:xfrm>
            <a:off x="1048301" y="3867437"/>
            <a:ext cx="4851780" cy="2565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72E45"/>
                </a:solidFill>
                <a:latin typeface="Arial" pitchFamily="34" charset="0"/>
                <a:ea typeface="Arial" pitchFamily="34" charset="-122"/>
                <a:cs typeface="Arial" pitchFamily="34" charset="-120"/>
              </a:rPr>
              <a:t>약점</a:t>
            </a:r>
            <a:r>
              <a:rPr lang="en-US" sz="1300" dirty="0">
                <a:solidFill>
                  <a:srgbClr val="172E45"/>
                </a:solidFill>
                <a:latin typeface="Arial" pitchFamily="34" charset="0"/>
                <a:ea typeface="Arial" pitchFamily="34" charset="-122"/>
                <a:cs typeface="Arial" pitchFamily="34" charset="-120"/>
              </a:rPr>
              <a:t> 번호 · 코드처럼 글자가 정확해야 하는 말</a:t>
            </a:r>
            <a:endParaRPr lang="en-US" sz="1300" dirty="0"/>
          </a:p>
        </p:txBody>
      </p:sp>
      <p:sp>
        <p:nvSpPr>
          <p:cNvPr id="12" name="Text 10"/>
          <p:cNvSpPr/>
          <p:nvPr/>
        </p:nvSpPr>
        <p:spPr>
          <a:xfrm>
            <a:off x="1048301" y="4212830"/>
            <a:ext cx="4851780" cy="2386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26478"/>
                </a:solidFill>
                <a:latin typeface="Arial" pitchFamily="34" charset="0"/>
                <a:ea typeface="Arial" pitchFamily="34" charset="-122"/>
                <a:cs typeface="Arial" pitchFamily="34" charset="-120"/>
              </a:rPr>
              <a:t>Embedder · build_index() → faiss.index · HybridIndex._dense()</a:t>
            </a:r>
            <a:endParaRPr lang="en-US" sz="1200" dirty="0"/>
          </a:p>
        </p:txBody>
      </p:sp>
      <p:sp>
        <p:nvSpPr>
          <p:cNvPr id="13" name="Shape 11"/>
          <p:cNvSpPr/>
          <p:nvPr/>
        </p:nvSpPr>
        <p:spPr>
          <a:xfrm>
            <a:off x="6200709" y="1702462"/>
            <a:ext cx="5175405" cy="2955991"/>
          </a:xfrm>
          <a:prstGeom prst="roundRect">
            <a:avLst>
              <a:gd name="adj" fmla="val 3330"/>
            </a:avLst>
          </a:prstGeom>
          <a:solidFill>
            <a:srgbClr val="FFFFFF"/>
          </a:solidFill>
          <a:ln w="6350">
            <a:solidFill>
              <a:srgbClr val="D9E1E8"/>
            </a:solidFill>
            <a:prstDash val="solid"/>
          </a:ln>
        </p:spPr>
      </p:sp>
      <p:sp>
        <p:nvSpPr>
          <p:cNvPr id="14" name="Text 12"/>
          <p:cNvSpPr/>
          <p:nvPr/>
        </p:nvSpPr>
        <p:spPr>
          <a:xfrm>
            <a:off x="6433124" y="1934877"/>
            <a:ext cx="4851893" cy="284361"/>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72E45"/>
                </a:solidFill>
                <a:latin typeface="Arial" pitchFamily="34" charset="0"/>
                <a:ea typeface="Arial" pitchFamily="34" charset="-122"/>
                <a:cs typeface="Arial" pitchFamily="34" charset="-120"/>
              </a:rPr>
              <a:t>방식 2 · 단어로 찾기</a:t>
            </a:r>
            <a:endParaRPr lang="en-US" sz="1700" dirty="0"/>
          </a:p>
        </p:txBody>
      </p:sp>
      <p:sp>
        <p:nvSpPr>
          <p:cNvPr id="15" name="Text 13"/>
          <p:cNvSpPr/>
          <p:nvPr/>
        </p:nvSpPr>
        <p:spPr>
          <a:xfrm>
            <a:off x="6433124" y="2308050"/>
            <a:ext cx="4851893" cy="2565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764A3"/>
                </a:solidFill>
                <a:latin typeface="Arial" pitchFamily="34" charset="0"/>
                <a:ea typeface="Arial" pitchFamily="34" charset="-122"/>
                <a:cs typeface="Arial" pitchFamily="34" charset="-120"/>
              </a:rPr>
              <a:t>Kiwi 형태소 분석 + BM25</a:t>
            </a:r>
            <a:endParaRPr lang="en-US" sz="1300" dirty="0"/>
          </a:p>
        </p:txBody>
      </p:sp>
      <p:sp>
        <p:nvSpPr>
          <p:cNvPr id="16" name="Shape 14"/>
          <p:cNvSpPr/>
          <p:nvPr/>
        </p:nvSpPr>
        <p:spPr>
          <a:xfrm>
            <a:off x="6433124" y="2653441"/>
            <a:ext cx="4710576" cy="754393"/>
          </a:xfrm>
          <a:prstGeom prst="roundRect">
            <a:avLst>
              <a:gd name="adj" fmla="val 10101"/>
            </a:avLst>
          </a:prstGeom>
          <a:solidFill>
            <a:srgbClr val="EDF2F6"/>
          </a:solidFill>
          <a:ln/>
        </p:spPr>
      </p:sp>
      <p:sp>
        <p:nvSpPr>
          <p:cNvPr id="17" name="Text 15"/>
          <p:cNvSpPr/>
          <p:nvPr/>
        </p:nvSpPr>
        <p:spPr>
          <a:xfrm>
            <a:off x="6585479" y="2780441"/>
            <a:ext cx="4538040" cy="2565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72E45"/>
                </a:solidFill>
                <a:latin typeface="Arial" pitchFamily="34" charset="0"/>
                <a:ea typeface="Arial" pitchFamily="34" charset="-122"/>
                <a:cs typeface="Arial" pitchFamily="34" charset="-120"/>
              </a:rPr>
              <a:t>질문 “SFR-001 요구사항은?”</a:t>
            </a:r>
            <a:endParaRPr lang="en-US" sz="1300" dirty="0"/>
          </a:p>
        </p:txBody>
      </p:sp>
      <p:sp>
        <p:nvSpPr>
          <p:cNvPr id="18" name="Text 16"/>
          <p:cNvSpPr/>
          <p:nvPr/>
        </p:nvSpPr>
        <p:spPr>
          <a:xfrm>
            <a:off x="6585479" y="3049654"/>
            <a:ext cx="4538040" cy="2565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72E45"/>
                </a:solidFill>
                <a:latin typeface="Arial" pitchFamily="34" charset="0"/>
                <a:ea typeface="Arial" pitchFamily="34" charset="-122"/>
                <a:cs typeface="Arial" pitchFamily="34" charset="-120"/>
              </a:rPr>
              <a:t>→ ‘SFR-001’이 적힌 조각을 정확히 찾음</a:t>
            </a:r>
            <a:endParaRPr lang="en-US" sz="1300" dirty="0"/>
          </a:p>
        </p:txBody>
      </p:sp>
      <p:sp>
        <p:nvSpPr>
          <p:cNvPr id="19" name="Text 17"/>
          <p:cNvSpPr/>
          <p:nvPr/>
        </p:nvSpPr>
        <p:spPr>
          <a:xfrm>
            <a:off x="6433124" y="3522045"/>
            <a:ext cx="4851893" cy="2565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72E45"/>
                </a:solidFill>
                <a:latin typeface="Arial" pitchFamily="34" charset="0"/>
                <a:ea typeface="Arial" pitchFamily="34" charset="-122"/>
                <a:cs typeface="Arial" pitchFamily="34" charset="-120"/>
              </a:rPr>
              <a:t>강점</a:t>
            </a:r>
            <a:r>
              <a:rPr lang="en-US" sz="1300" dirty="0">
                <a:solidFill>
                  <a:srgbClr val="172E45"/>
                </a:solidFill>
                <a:latin typeface="Arial" pitchFamily="34" charset="0"/>
                <a:ea typeface="Arial" pitchFamily="34" charset="-122"/>
                <a:cs typeface="Arial" pitchFamily="34" charset="-120"/>
              </a:rPr>
              <a:t> 요구사항 번호 · 기관명 · 전문 용어</a:t>
            </a:r>
            <a:endParaRPr lang="en-US" sz="1300" dirty="0"/>
          </a:p>
        </p:txBody>
      </p:sp>
      <p:sp>
        <p:nvSpPr>
          <p:cNvPr id="20" name="Text 18"/>
          <p:cNvSpPr/>
          <p:nvPr/>
        </p:nvSpPr>
        <p:spPr>
          <a:xfrm>
            <a:off x="6433124" y="3867437"/>
            <a:ext cx="4851893" cy="2565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72E45"/>
                </a:solidFill>
                <a:latin typeface="Arial" pitchFamily="34" charset="0"/>
                <a:ea typeface="Arial" pitchFamily="34" charset="-122"/>
                <a:cs typeface="Arial" pitchFamily="34" charset="-120"/>
              </a:rPr>
              <a:t>약점</a:t>
            </a:r>
            <a:r>
              <a:rPr lang="en-US" sz="1300" dirty="0">
                <a:solidFill>
                  <a:srgbClr val="172E45"/>
                </a:solidFill>
                <a:latin typeface="Arial" pitchFamily="34" charset="0"/>
                <a:ea typeface="Arial" pitchFamily="34" charset="-122"/>
                <a:cs typeface="Arial" pitchFamily="34" charset="-120"/>
              </a:rPr>
              <a:t> 표현이 바뀌면 놓칠 수 있음</a:t>
            </a:r>
            <a:endParaRPr lang="en-US" sz="1300" dirty="0"/>
          </a:p>
        </p:txBody>
      </p:sp>
      <p:sp>
        <p:nvSpPr>
          <p:cNvPr id="21" name="Text 19"/>
          <p:cNvSpPr/>
          <p:nvPr/>
        </p:nvSpPr>
        <p:spPr>
          <a:xfrm>
            <a:off x="6433124" y="4212830"/>
            <a:ext cx="4851893" cy="2386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26478"/>
                </a:solidFill>
                <a:latin typeface="Arial" pitchFamily="34" charset="0"/>
                <a:ea typeface="Arial" pitchFamily="34" charset="-122"/>
                <a:cs typeface="Arial" pitchFamily="34" charset="-120"/>
              </a:rPr>
              <a:t>KiwiTokenizer → bm25_tokens.json · HybridIndex._sparse()</a:t>
            </a:r>
            <a:endParaRPr lang="en-US" sz="1200" dirty="0"/>
          </a:p>
        </p:txBody>
      </p:sp>
      <p:sp>
        <p:nvSpPr>
          <p:cNvPr id="22" name="Text 20"/>
          <p:cNvSpPr/>
          <p:nvPr/>
        </p:nvSpPr>
        <p:spPr>
          <a:xfrm>
            <a:off x="812712" y="4915629"/>
            <a:ext cx="10883574" cy="274329"/>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72E45"/>
                </a:solidFill>
                <a:latin typeface="Arial" pitchFamily="34" charset="0"/>
                <a:ea typeface="Arial" pitchFamily="34" charset="-122"/>
                <a:cs typeface="Arial" pitchFamily="34" charset="-120"/>
              </a:rPr>
              <a:t>두 방식이 서로의 빈틈을 메웁니다. ‘지체 상금’과 ‘지체상금’처럼 띄어쓰기 · 줄임말도 같은 말로 맞춰 둡니다.</a:t>
            </a:r>
            <a:endParaRPr lang="en-US" sz="1400" dirty="0"/>
          </a:p>
        </p:txBody>
      </p:sp>
      <p:sp>
        <p:nvSpPr>
          <p:cNvPr id="23" name="Text 21"/>
          <p:cNvSpPr/>
          <p:nvPr/>
        </p:nvSpPr>
        <p:spPr>
          <a:xfrm>
            <a:off x="812712" y="6238435"/>
            <a:ext cx="10883347" cy="2386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26478"/>
                </a:solidFill>
                <a:latin typeface="Arial" pitchFamily="34" charset="0"/>
                <a:ea typeface="Arial" pitchFamily="34" charset="-122"/>
                <a:cs typeface="Arial" pitchFamily="34" charset="-120"/>
              </a:rPr>
              <a:t>검색(Retrieval) 파트 발표 · 3 · 예시는 개념 설명용이며 실제 측정 결과가 아닙니다 · 문서와 질문에 같은 처리를 적용</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133" name="eyebrow"/>
          <p:cNvSpPr/>
          <p:nvPr/>
        </p:nvSpPr>
        <p:spPr>
          <a:xfrm>
            <a:off x="812712" y="711178"/>
            <a:ext cx="10883574" cy="2565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764A3"/>
                </a:solidFill>
                <a:latin typeface="Arial" pitchFamily="34" charset="0"/>
                <a:ea typeface="Arial" pitchFamily="34" charset="-122"/>
                <a:cs typeface="Arial" pitchFamily="34" charset="-120"/>
              </a:rPr>
              <a:t>3단계 · 임베딩 모델 선택</a:t>
            </a:r>
            <a:endParaRPr lang="en-US" sz="1300" dirty="0"/>
          </a:p>
        </p:txBody>
      </p:sp>
      <p:sp>
        <p:nvSpPr>
          <p:cNvPr id="134" name="title"/>
          <p:cNvSpPr>
            <a:spLocks noGrp="1"/>
          </p:cNvSpPr>
          <p:nvPr>
            <p:ph type="title"/>
          </p:nvPr>
        </p:nvSpPr>
        <p:spPr>
          <a:xfrm>
            <a:off x="812712" y="1018536"/>
            <a:ext cx="10883574" cy="452151"/>
          </a:xfrm>
          <a:prstGeom prst="rect">
            <a:avLst/>
          </a:prstGeom>
          <a:noFill/>
          <a:ln/>
        </p:spPr>
        <p:txBody>
          <a:bodyPr wrap="square" lIns="0" tIns="0" rIns="0" bIns="0" rtlCol="0" anchor="t">
            <a:normAutofit/>
          </a:bodyPr>
          <a:lstStyle/>
          <a:p>
            <a:pPr marL="0" indent="0" algn="l">
              <a:lnSpc>
                <a:spcPts val="3360"/>
              </a:lnSpc>
              <a:buNone/>
            </a:pPr>
            <a:r>
              <a:rPr lang="en-US" sz="2800" b="1" i="0" dirty="0">
                <a:solidFill>
                  <a:srgbClr val="172E45"/>
                </a:solidFill>
                <a:latin typeface="Arial" pitchFamily="34" charset="0"/>
                <a:ea typeface="Arial" pitchFamily="34" charset="-122"/>
                <a:cs typeface="Arial" pitchFamily="34" charset="-120"/>
              </a:rPr>
              <a:t>Nemotron과 비교해 KURE를 선택했습니다</a:t>
            </a:r>
            <a:endParaRPr lang="en-US" sz="2800" dirty="0"/>
          </a:p>
        </p:txBody>
      </p:sp>
      <p:graphicFrame>
        <p:nvGraphicFramePr>
          <p:cNvPr id="135" name="data-table"/>
          <p:cNvGraphicFramePr>
            <a:graphicFrameLocks noGrp="1"/>
          </p:cNvGraphicFramePr>
          <p:nvPr>
            <p:extLst>
              <p:ext uri="{D42A27DB-BD31-4B8C-83A1-F6EECF244321}">
                <p14:modId xmlns:p14="http://schemas.microsoft.com/office/powerpoint/2010/main" val="1579011935"/>
              </p:ext>
            </p:extLst>
          </p:nvPr>
        </p:nvGraphicFramePr>
        <p:xfrm>
          <a:off x="813816" y="1700784"/>
          <a:ext cx="6492240" cy="3200400"/>
        </p:xfrm>
        <a:graphic>
          <a:graphicData uri="http://schemas.openxmlformats.org/drawingml/2006/table">
            <a:tbl>
              <a:tblPr/>
              <a:tblGrid>
                <a:gridCol w="3017520">
                  <a:extLst>
                    <a:ext uri="{9D8B030D-6E8A-4147-A177-3AD203B41FA5}">
                      <a16:colId xmlns:a16="http://schemas.microsoft.com/office/drawing/2014/main" val="40000"/>
                    </a:ext>
                  </a:extLst>
                </a:gridCol>
                <a:gridCol w="1737360">
                  <a:extLst>
                    <a:ext uri="{9D8B030D-6E8A-4147-A177-3AD203B41FA5}">
                      <a16:colId xmlns:a16="http://schemas.microsoft.com/office/drawing/2014/main" val="40001"/>
                    </a:ext>
                  </a:extLst>
                </a:gridCol>
                <a:gridCol w="1737360">
                  <a:extLst>
                    <a:ext uri="{9D8B030D-6E8A-4147-A177-3AD203B41FA5}">
                      <a16:colId xmlns:a16="http://schemas.microsoft.com/office/drawing/2014/main" val="40002"/>
                    </a:ext>
                  </a:extLst>
                </a:gridCol>
              </a:tblGrid>
              <a:tr h="457200">
                <a:tc>
                  <a:txBody>
                    <a:bodyPr/>
                    <a:lstStyle/>
                    <a:p>
                      <a:pPr marL="0" indent="0">
                        <a:lnSpc>
                          <a:spcPts val="1820"/>
                        </a:lnSpc>
                        <a:buNone/>
                      </a:pPr>
                      <a:r>
                        <a:rPr lang="en-US" sz="1300" b="1" dirty="0">
                          <a:solidFill>
                            <a:srgbClr val="FFFFFF"/>
                          </a:solidFill>
                          <a:latin typeface="Arial" pitchFamily="34" charset="0"/>
                          <a:ea typeface="Arial" pitchFamily="34" charset="-122"/>
                          <a:cs typeface="Arial" pitchFamily="34" charset="-120"/>
                        </a:rPr>
                        <a:t>항목</a:t>
                      </a:r>
                      <a:endParaRPr lang="en-US" sz="1300" dirty="0">
                        <a:latin typeface="Arial" charset="0"/>
                        <a:ea typeface="Arial" charset="0"/>
                        <a:cs typeface="Arial" charset="0"/>
                      </a:endParaRPr>
                    </a:p>
                  </a:txBody>
                  <a:tcPr marL="57785" marR="57785" marT="57785" marB="57785">
                    <a:lnL w="12700" cap="flat" cmpd="sng" algn="ctr">
                      <a:solidFill>
                        <a:srgbClr val="C5C7C8"/>
                      </a:solidFill>
                      <a:prstDash val="solid"/>
                      <a:round/>
                      <a:headEnd type="none" w="med" len="med"/>
                      <a:tailEnd type="none" w="med" len="med"/>
                    </a:lnL>
                    <a:lnR w="12700" cap="flat" cmpd="sng" algn="ctr">
                      <a:solidFill>
                        <a:srgbClr val="16283A"/>
                      </a:solidFill>
                      <a:prstDash val="solid"/>
                      <a:round/>
                      <a:headEnd type="none" w="med" len="med"/>
                      <a:tailEnd type="none" w="med" len="med"/>
                    </a:lnR>
                    <a:lnT w="12700" cap="flat" cmpd="sng" algn="ctr">
                      <a:solidFill>
                        <a:srgbClr val="C5C7C8"/>
                      </a:solidFill>
                      <a:prstDash val="solid"/>
                      <a:round/>
                      <a:headEnd type="none" w="med" len="med"/>
                      <a:tailEnd type="none" w="med" len="med"/>
                    </a:lnT>
                    <a:lnB w="12700" cap="flat" cmpd="sng" algn="ctr">
                      <a:solidFill>
                        <a:srgbClr val="16283A"/>
                      </a:solidFill>
                      <a:prstDash val="solid"/>
                      <a:round/>
                      <a:headEnd type="none" w="med" len="med"/>
                      <a:tailEnd type="none" w="med" len="med"/>
                    </a:lnB>
                    <a:solidFill>
                      <a:srgbClr val="172E45"/>
                    </a:solidFill>
                  </a:tcPr>
                </a:tc>
                <a:tc>
                  <a:txBody>
                    <a:bodyPr/>
                    <a:lstStyle/>
                    <a:p>
                      <a:pPr marL="0" indent="0">
                        <a:lnSpc>
                          <a:spcPts val="1820"/>
                        </a:lnSpc>
                        <a:buNone/>
                      </a:pPr>
                      <a:r>
                        <a:rPr lang="en-US" sz="1300" b="1" dirty="0">
                          <a:solidFill>
                            <a:srgbClr val="FFFFFF"/>
                          </a:solidFill>
                          <a:latin typeface="Arial" pitchFamily="34" charset="0"/>
                          <a:ea typeface="Arial" pitchFamily="34" charset="-122"/>
                          <a:cs typeface="Arial" pitchFamily="34" charset="-120"/>
                        </a:rPr>
                        <a:t>Nemotron</a:t>
                      </a:r>
                      <a:endParaRPr lang="en-US" sz="1300" dirty="0">
                        <a:latin typeface="Arial" charset="0"/>
                        <a:ea typeface="Arial" charset="0"/>
                        <a:cs typeface="Arial" charset="0"/>
                      </a:endParaRPr>
                    </a:p>
                  </a:txBody>
                  <a:tcPr marL="57785" marR="57785" marT="57785" marB="57785">
                    <a:lnL w="12700" cap="flat" cmpd="sng" algn="ctr">
                      <a:solidFill>
                        <a:srgbClr val="16283A"/>
                      </a:solidFill>
                      <a:prstDash val="solid"/>
                      <a:round/>
                      <a:headEnd type="none" w="med" len="med"/>
                      <a:tailEnd type="none" w="med" len="med"/>
                    </a:lnL>
                    <a:lnR w="12700" cap="flat" cmpd="sng" algn="ctr">
                      <a:solidFill>
                        <a:srgbClr val="16283A"/>
                      </a:solidFill>
                      <a:prstDash val="solid"/>
                      <a:round/>
                      <a:headEnd type="none" w="med" len="med"/>
                      <a:tailEnd type="none" w="med" len="med"/>
                    </a:lnR>
                    <a:lnT w="12700" cap="flat" cmpd="sng" algn="ctr">
                      <a:solidFill>
                        <a:srgbClr val="C5C7C8"/>
                      </a:solidFill>
                      <a:prstDash val="solid"/>
                      <a:round/>
                      <a:headEnd type="none" w="med" len="med"/>
                      <a:tailEnd type="none" w="med" len="med"/>
                    </a:lnT>
                    <a:lnB w="12700" cap="flat" cmpd="sng" algn="ctr">
                      <a:solidFill>
                        <a:srgbClr val="16283A"/>
                      </a:solidFill>
                      <a:prstDash val="solid"/>
                      <a:round/>
                      <a:headEnd type="none" w="med" len="med"/>
                      <a:tailEnd type="none" w="med" len="med"/>
                    </a:lnB>
                    <a:solidFill>
                      <a:srgbClr val="172E45"/>
                    </a:solidFill>
                  </a:tcPr>
                </a:tc>
                <a:tc>
                  <a:txBody>
                    <a:bodyPr/>
                    <a:lstStyle/>
                    <a:p>
                      <a:pPr marL="0" indent="0">
                        <a:lnSpc>
                          <a:spcPts val="1820"/>
                        </a:lnSpc>
                        <a:buNone/>
                      </a:pPr>
                      <a:r>
                        <a:rPr lang="en-US" sz="1300" b="1" dirty="0">
                          <a:solidFill>
                            <a:srgbClr val="FFFFFF"/>
                          </a:solidFill>
                          <a:latin typeface="Arial" pitchFamily="34" charset="0"/>
                          <a:ea typeface="Arial" pitchFamily="34" charset="-122"/>
                          <a:cs typeface="Arial" pitchFamily="34" charset="-120"/>
                        </a:rPr>
                        <a:t>KURE</a:t>
                      </a:r>
                      <a:endParaRPr lang="en-US" sz="1300" dirty="0">
                        <a:latin typeface="Arial" charset="0"/>
                        <a:ea typeface="Arial" charset="0"/>
                        <a:cs typeface="Arial" charset="0"/>
                      </a:endParaRPr>
                    </a:p>
                  </a:txBody>
                  <a:tcPr marL="57785" marR="57785" marT="57785" marB="57785">
                    <a:lnL w="12700" cap="flat" cmpd="sng" algn="ctr">
                      <a:solidFill>
                        <a:srgbClr val="16283A"/>
                      </a:solidFill>
                      <a:prstDash val="solid"/>
                      <a:round/>
                      <a:headEnd type="none" w="med" len="med"/>
                      <a:tailEnd type="none" w="med" len="med"/>
                    </a:lnL>
                    <a:lnR w="12700" cap="flat" cmpd="sng" algn="ctr">
                      <a:solidFill>
                        <a:srgbClr val="16283A"/>
                      </a:solidFill>
                      <a:prstDash val="solid"/>
                      <a:round/>
                      <a:headEnd type="none" w="med" len="med"/>
                      <a:tailEnd type="none" w="med" len="med"/>
                    </a:lnR>
                    <a:lnT w="12700" cap="flat" cmpd="sng" algn="ctr">
                      <a:solidFill>
                        <a:srgbClr val="C5C7C8"/>
                      </a:solidFill>
                      <a:prstDash val="solid"/>
                      <a:round/>
                      <a:headEnd type="none" w="med" len="med"/>
                      <a:tailEnd type="none" w="med" len="med"/>
                    </a:lnT>
                    <a:lnB w="12700" cap="flat" cmpd="sng" algn="ctr">
                      <a:solidFill>
                        <a:srgbClr val="16283A"/>
                      </a:solidFill>
                      <a:prstDash val="solid"/>
                      <a:round/>
                      <a:headEnd type="none" w="med" len="med"/>
                      <a:tailEnd type="none" w="med" len="med"/>
                    </a:lnB>
                    <a:solidFill>
                      <a:srgbClr val="172E45"/>
                    </a:solidFill>
                  </a:tcPr>
                </a:tc>
                <a:extLst>
                  <a:ext uri="{0D108BD9-81ED-4DB2-BD59-A6C34878D82A}">
                    <a16:rowId xmlns:a16="http://schemas.microsoft.com/office/drawing/2014/main" val="10000"/>
                  </a:ext>
                </a:extLst>
              </a:tr>
              <a:tr h="457200">
                <a:tc>
                  <a:txBody>
                    <a:bodyPr/>
                    <a:lstStyle/>
                    <a:p>
                      <a:pPr marL="0" indent="0">
                        <a:lnSpc>
                          <a:spcPts val="1820"/>
                        </a:lnSpc>
                        <a:buNone/>
                      </a:pPr>
                      <a:r>
                        <a:rPr lang="en-US" sz="1300" b="0" dirty="0">
                          <a:solidFill>
                            <a:srgbClr val="172E45"/>
                          </a:solidFill>
                          <a:latin typeface="Arial" pitchFamily="34" charset="0"/>
                          <a:ea typeface="Arial" pitchFamily="34" charset="-122"/>
                          <a:cs typeface="Arial" pitchFamily="34" charset="-120"/>
                        </a:rPr>
                        <a:t>임베딩 단독 R@10</a:t>
                      </a:r>
                      <a:endParaRPr lang="en-US" sz="1300" dirty="0">
                        <a:latin typeface="Arial" charset="0"/>
                        <a:ea typeface="Arial" charset="0"/>
                        <a:cs typeface="Arial" charset="0"/>
                      </a:endParaRPr>
                    </a:p>
                  </a:txBody>
                  <a:tcPr marL="57785" marR="57785" marT="57785" marB="57785">
                    <a:lnL w="12700" cap="flat" cmpd="sng" algn="ctr">
                      <a:solidFill>
                        <a:srgbClr val="D9E1E8"/>
                      </a:solidFill>
                      <a:prstDash val="solid"/>
                      <a:round/>
                      <a:headEnd type="none" w="med" len="med"/>
                      <a:tailEnd type="none" w="med" len="med"/>
                    </a:lnL>
                    <a:lnR w="12700" cap="flat" cmpd="sng" algn="ctr">
                      <a:solidFill>
                        <a:srgbClr val="D9E1E8"/>
                      </a:solidFill>
                      <a:prstDash val="solid"/>
                      <a:round/>
                      <a:headEnd type="none" w="med" len="med"/>
                      <a:tailEnd type="none" w="med" len="med"/>
                    </a:lnR>
                    <a:lnT w="12700" cap="flat" cmpd="sng" algn="ctr">
                      <a:solidFill>
                        <a:srgbClr val="16283A"/>
                      </a:solidFill>
                      <a:prstDash val="solid"/>
                      <a:round/>
                      <a:headEnd type="none" w="med" len="med"/>
                      <a:tailEnd type="none" w="med" len="med"/>
                    </a:lnT>
                    <a:lnB w="12700" cap="flat" cmpd="sng" algn="ctr">
                      <a:solidFill>
                        <a:srgbClr val="D9E1E8"/>
                      </a:solidFill>
                      <a:prstDash val="solid"/>
                      <a:round/>
                      <a:headEnd type="none" w="med" len="med"/>
                      <a:tailEnd type="none" w="med" len="med"/>
                    </a:lnB>
                    <a:solidFill>
                      <a:srgbClr val="FFFFFF"/>
                    </a:solidFill>
                  </a:tcPr>
                </a:tc>
                <a:tc>
                  <a:txBody>
                    <a:bodyPr/>
                    <a:lstStyle/>
                    <a:p>
                      <a:pPr marL="0" indent="0">
                        <a:lnSpc>
                          <a:spcPts val="1820"/>
                        </a:lnSpc>
                        <a:buNone/>
                      </a:pPr>
                      <a:r>
                        <a:rPr lang="en-US" sz="1300" b="0" dirty="0">
                          <a:solidFill>
                            <a:srgbClr val="172E45"/>
                          </a:solidFill>
                          <a:latin typeface="Arial" pitchFamily="34" charset="0"/>
                          <a:ea typeface="Arial" pitchFamily="34" charset="-122"/>
                          <a:cs typeface="Arial" pitchFamily="34" charset="-120"/>
                        </a:rPr>
                        <a:t>75.84%</a:t>
                      </a:r>
                      <a:endParaRPr lang="en-US" sz="1300" dirty="0">
                        <a:latin typeface="Arial" charset="0"/>
                        <a:ea typeface="Arial" charset="0"/>
                        <a:cs typeface="Arial" charset="0"/>
                      </a:endParaRPr>
                    </a:p>
                  </a:txBody>
                  <a:tcPr marL="57785" marR="57785" marT="57785" marB="57785">
                    <a:lnL w="12700" cap="flat" cmpd="sng" algn="ctr">
                      <a:solidFill>
                        <a:srgbClr val="D9E1E8"/>
                      </a:solidFill>
                      <a:prstDash val="solid"/>
                      <a:round/>
                      <a:headEnd type="none" w="med" len="med"/>
                      <a:tailEnd type="none" w="med" len="med"/>
                    </a:lnL>
                    <a:lnR w="12700" cap="flat" cmpd="sng" algn="ctr">
                      <a:solidFill>
                        <a:srgbClr val="D9E1E8"/>
                      </a:solidFill>
                      <a:prstDash val="solid"/>
                      <a:round/>
                      <a:headEnd type="none" w="med" len="med"/>
                      <a:tailEnd type="none" w="med" len="med"/>
                    </a:lnR>
                    <a:lnT w="12700" cap="flat" cmpd="sng" algn="ctr">
                      <a:solidFill>
                        <a:srgbClr val="16283A"/>
                      </a:solidFill>
                      <a:prstDash val="solid"/>
                      <a:round/>
                      <a:headEnd type="none" w="med" len="med"/>
                      <a:tailEnd type="none" w="med" len="med"/>
                    </a:lnT>
                    <a:lnB w="12700" cap="flat" cmpd="sng" algn="ctr">
                      <a:solidFill>
                        <a:srgbClr val="D9E1E8"/>
                      </a:solidFill>
                      <a:prstDash val="solid"/>
                      <a:round/>
                      <a:headEnd type="none" w="med" len="med"/>
                      <a:tailEnd type="none" w="med" len="med"/>
                    </a:lnB>
                    <a:solidFill>
                      <a:srgbClr val="FFFFFF"/>
                    </a:solidFill>
                  </a:tcPr>
                </a:tc>
                <a:tc>
                  <a:txBody>
                    <a:bodyPr/>
                    <a:lstStyle/>
                    <a:p>
                      <a:pPr marL="0" indent="0">
                        <a:lnSpc>
                          <a:spcPts val="1820"/>
                        </a:lnSpc>
                        <a:buNone/>
                      </a:pPr>
                      <a:r>
                        <a:rPr lang="en-US" sz="1300" b="0" dirty="0">
                          <a:solidFill>
                            <a:srgbClr val="172E45"/>
                          </a:solidFill>
                          <a:latin typeface="Arial" pitchFamily="34" charset="0"/>
                          <a:ea typeface="Arial" pitchFamily="34" charset="-122"/>
                          <a:cs typeface="Arial" pitchFamily="34" charset="-120"/>
                        </a:rPr>
                        <a:t>70.82%</a:t>
                      </a:r>
                      <a:endParaRPr lang="en-US" sz="1300" dirty="0">
                        <a:latin typeface="Arial" charset="0"/>
                        <a:ea typeface="Arial" charset="0"/>
                        <a:cs typeface="Arial" charset="0"/>
                      </a:endParaRPr>
                    </a:p>
                  </a:txBody>
                  <a:tcPr marL="57785" marR="57785" marT="57785" marB="57785">
                    <a:lnL w="12700" cap="flat" cmpd="sng" algn="ctr">
                      <a:solidFill>
                        <a:srgbClr val="D9E1E8"/>
                      </a:solidFill>
                      <a:prstDash val="solid"/>
                      <a:round/>
                      <a:headEnd type="none" w="med" len="med"/>
                      <a:tailEnd type="none" w="med" len="med"/>
                    </a:lnL>
                    <a:lnR w="12700" cap="flat" cmpd="sng" algn="ctr">
                      <a:solidFill>
                        <a:srgbClr val="D9E1E8"/>
                      </a:solidFill>
                      <a:prstDash val="solid"/>
                      <a:round/>
                      <a:headEnd type="none" w="med" len="med"/>
                      <a:tailEnd type="none" w="med" len="med"/>
                    </a:lnR>
                    <a:lnT w="12700" cap="flat" cmpd="sng" algn="ctr">
                      <a:solidFill>
                        <a:srgbClr val="16283A"/>
                      </a:solidFill>
                      <a:prstDash val="solid"/>
                      <a:round/>
                      <a:headEnd type="none" w="med" len="med"/>
                      <a:tailEnd type="none" w="med" len="med"/>
                    </a:lnT>
                    <a:lnB w="12700" cap="flat" cmpd="sng" algn="ctr">
                      <a:solidFill>
                        <a:srgbClr val="D9E1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nSpc>
                          <a:spcPts val="1820"/>
                        </a:lnSpc>
                        <a:buNone/>
                      </a:pPr>
                      <a:r>
                        <a:rPr lang="en-US" sz="1300" b="0" dirty="0">
                          <a:solidFill>
                            <a:srgbClr val="172E45"/>
                          </a:solidFill>
                          <a:latin typeface="Arial" pitchFamily="34" charset="0"/>
                          <a:ea typeface="Arial" pitchFamily="34" charset="-122"/>
                          <a:cs typeface="Arial" pitchFamily="34" charset="-120"/>
                        </a:rPr>
                        <a:t>BM25 하이브리드 R@10</a:t>
                      </a:r>
                      <a:endParaRPr lang="en-US" sz="1300" dirty="0">
                        <a:latin typeface="Arial" charset="0"/>
                        <a:ea typeface="Arial" charset="0"/>
                        <a:cs typeface="Arial" charset="0"/>
                      </a:endParaRPr>
                    </a:p>
                  </a:txBody>
                  <a:tcPr marL="57785" marR="57785" marT="57785" marB="57785">
                    <a:lnL w="12700" cap="flat" cmpd="sng" algn="ctr">
                      <a:solidFill>
                        <a:srgbClr val="D9E1E8"/>
                      </a:solidFill>
                      <a:prstDash val="solid"/>
                      <a:round/>
                      <a:headEnd type="none" w="med" len="med"/>
                      <a:tailEnd type="none" w="med" len="med"/>
                    </a:lnL>
                    <a:lnR w="12700" cap="flat" cmpd="sng" algn="ctr">
                      <a:solidFill>
                        <a:srgbClr val="D9E1E8"/>
                      </a:solidFill>
                      <a:prstDash val="solid"/>
                      <a:round/>
                      <a:headEnd type="none" w="med" len="med"/>
                      <a:tailEnd type="none" w="med" len="med"/>
                    </a:lnR>
                    <a:lnT w="12700" cap="flat" cmpd="sng" algn="ctr">
                      <a:solidFill>
                        <a:srgbClr val="D9E1E8"/>
                      </a:solidFill>
                      <a:prstDash val="solid"/>
                      <a:round/>
                      <a:headEnd type="none" w="med" len="med"/>
                      <a:tailEnd type="none" w="med" len="med"/>
                    </a:lnT>
                    <a:lnB w="12700" cap="flat" cmpd="sng" algn="ctr">
                      <a:solidFill>
                        <a:srgbClr val="D9E1E8"/>
                      </a:solidFill>
                      <a:prstDash val="solid"/>
                      <a:round/>
                      <a:headEnd type="none" w="med" len="med"/>
                      <a:tailEnd type="none" w="med" len="med"/>
                    </a:lnB>
                    <a:solidFill>
                      <a:srgbClr val="EDF2F6"/>
                    </a:solidFill>
                  </a:tcPr>
                </a:tc>
                <a:tc>
                  <a:txBody>
                    <a:bodyPr/>
                    <a:lstStyle/>
                    <a:p>
                      <a:pPr marL="0" indent="0">
                        <a:lnSpc>
                          <a:spcPts val="1820"/>
                        </a:lnSpc>
                        <a:buNone/>
                      </a:pPr>
                      <a:r>
                        <a:rPr lang="en-US" sz="1300" b="0" dirty="0">
                          <a:solidFill>
                            <a:srgbClr val="172E45"/>
                          </a:solidFill>
                          <a:latin typeface="Arial" pitchFamily="34" charset="0"/>
                          <a:ea typeface="Arial" pitchFamily="34" charset="-122"/>
                          <a:cs typeface="Arial" pitchFamily="34" charset="-120"/>
                        </a:rPr>
                        <a:t>78.12%</a:t>
                      </a:r>
                      <a:endParaRPr lang="en-US" sz="1300" dirty="0">
                        <a:latin typeface="Arial" charset="0"/>
                        <a:ea typeface="Arial" charset="0"/>
                        <a:cs typeface="Arial" charset="0"/>
                      </a:endParaRPr>
                    </a:p>
                  </a:txBody>
                  <a:tcPr marL="57785" marR="57785" marT="57785" marB="57785">
                    <a:lnL w="12700" cap="flat" cmpd="sng" algn="ctr">
                      <a:solidFill>
                        <a:srgbClr val="D9E1E8"/>
                      </a:solidFill>
                      <a:prstDash val="solid"/>
                      <a:round/>
                      <a:headEnd type="none" w="med" len="med"/>
                      <a:tailEnd type="none" w="med" len="med"/>
                    </a:lnL>
                    <a:lnR w="12700" cap="flat" cmpd="sng" algn="ctr">
                      <a:solidFill>
                        <a:srgbClr val="D9E1E8"/>
                      </a:solidFill>
                      <a:prstDash val="solid"/>
                      <a:round/>
                      <a:headEnd type="none" w="med" len="med"/>
                      <a:tailEnd type="none" w="med" len="med"/>
                    </a:lnR>
                    <a:lnT w="12700" cap="flat" cmpd="sng" algn="ctr">
                      <a:solidFill>
                        <a:srgbClr val="D9E1E8"/>
                      </a:solidFill>
                      <a:prstDash val="solid"/>
                      <a:round/>
                      <a:headEnd type="none" w="med" len="med"/>
                      <a:tailEnd type="none" w="med" len="med"/>
                    </a:lnT>
                    <a:lnB w="12700" cap="flat" cmpd="sng" algn="ctr">
                      <a:solidFill>
                        <a:srgbClr val="D9E1E8"/>
                      </a:solidFill>
                      <a:prstDash val="solid"/>
                      <a:round/>
                      <a:headEnd type="none" w="med" len="med"/>
                      <a:tailEnd type="none" w="med" len="med"/>
                    </a:lnB>
                    <a:solidFill>
                      <a:srgbClr val="EDF2F6"/>
                    </a:solidFill>
                  </a:tcPr>
                </a:tc>
                <a:tc>
                  <a:txBody>
                    <a:bodyPr/>
                    <a:lstStyle/>
                    <a:p>
                      <a:pPr marL="0" indent="0">
                        <a:lnSpc>
                          <a:spcPts val="1820"/>
                        </a:lnSpc>
                        <a:buNone/>
                      </a:pPr>
                      <a:r>
                        <a:rPr lang="en-US" sz="1300" b="0" dirty="0">
                          <a:solidFill>
                            <a:srgbClr val="172E45"/>
                          </a:solidFill>
                          <a:latin typeface="Arial" pitchFamily="34" charset="0"/>
                          <a:ea typeface="Arial" pitchFamily="34" charset="-122"/>
                          <a:cs typeface="Arial" pitchFamily="34" charset="-120"/>
                        </a:rPr>
                        <a:t>73.56%</a:t>
                      </a:r>
                      <a:endParaRPr lang="en-US" sz="1300" dirty="0">
                        <a:latin typeface="Arial" charset="0"/>
                        <a:ea typeface="Arial" charset="0"/>
                        <a:cs typeface="Arial" charset="0"/>
                      </a:endParaRPr>
                    </a:p>
                  </a:txBody>
                  <a:tcPr marL="57785" marR="57785" marT="57785" marB="57785">
                    <a:lnL w="12700" cap="flat" cmpd="sng" algn="ctr">
                      <a:solidFill>
                        <a:srgbClr val="D9E1E8"/>
                      </a:solidFill>
                      <a:prstDash val="solid"/>
                      <a:round/>
                      <a:headEnd type="none" w="med" len="med"/>
                      <a:tailEnd type="none" w="med" len="med"/>
                    </a:lnL>
                    <a:lnR w="12700" cap="flat" cmpd="sng" algn="ctr">
                      <a:solidFill>
                        <a:srgbClr val="D9E1E8"/>
                      </a:solidFill>
                      <a:prstDash val="solid"/>
                      <a:round/>
                      <a:headEnd type="none" w="med" len="med"/>
                      <a:tailEnd type="none" w="med" len="med"/>
                    </a:lnR>
                    <a:lnT w="12700" cap="flat" cmpd="sng" algn="ctr">
                      <a:solidFill>
                        <a:srgbClr val="D9E1E8"/>
                      </a:solidFill>
                      <a:prstDash val="solid"/>
                      <a:round/>
                      <a:headEnd type="none" w="med" len="med"/>
                      <a:tailEnd type="none" w="med" len="med"/>
                    </a:lnT>
                    <a:lnB w="12700" cap="flat" cmpd="sng" algn="ctr">
                      <a:solidFill>
                        <a:srgbClr val="D9E1E8"/>
                      </a:solidFill>
                      <a:prstDash val="solid"/>
                      <a:round/>
                      <a:headEnd type="none" w="med" len="med"/>
                      <a:tailEnd type="none" w="med" len="med"/>
                    </a:lnB>
                    <a:solidFill>
                      <a:srgbClr val="EDF2F6"/>
                    </a:solidFill>
                  </a:tcPr>
                </a:tc>
                <a:extLst>
                  <a:ext uri="{0D108BD9-81ED-4DB2-BD59-A6C34878D82A}">
                    <a16:rowId xmlns:a16="http://schemas.microsoft.com/office/drawing/2014/main" val="3195154752"/>
                  </a:ext>
                </a:extLst>
              </a:tr>
              <a:tr h="457200">
                <a:tc>
                  <a:txBody>
                    <a:bodyPr/>
                    <a:lstStyle/>
                    <a:p>
                      <a:pPr marL="0" indent="0">
                        <a:lnSpc>
                          <a:spcPts val="1820"/>
                        </a:lnSpc>
                        <a:buNone/>
                      </a:pPr>
                      <a:r>
                        <a:rPr lang="en-US" sz="1300" b="1" dirty="0">
                          <a:solidFill>
                            <a:srgbClr val="172E45"/>
                          </a:solidFill>
                          <a:latin typeface="Arial" pitchFamily="34" charset="0"/>
                          <a:ea typeface="Arial" pitchFamily="34" charset="-122"/>
                          <a:cs typeface="Arial" pitchFamily="34" charset="-120"/>
                        </a:rPr>
                        <a:t>답변 모델에 넘긴 근거 (Coverage)</a:t>
                      </a:r>
                      <a:endParaRPr lang="en-US" sz="1300" dirty="0">
                        <a:latin typeface="Arial" charset="0"/>
                        <a:ea typeface="Arial" charset="0"/>
                        <a:cs typeface="Arial" charset="0"/>
                      </a:endParaRPr>
                    </a:p>
                  </a:txBody>
                  <a:tcPr marL="57785" marR="57785" marT="57785" marB="57785">
                    <a:lnL w="12700" cap="flat" cmpd="sng" algn="ctr">
                      <a:solidFill>
                        <a:srgbClr val="D9E1E8"/>
                      </a:solidFill>
                      <a:prstDash val="solid"/>
                      <a:round/>
                      <a:headEnd type="none" w="med" len="med"/>
                      <a:tailEnd type="none" w="med" len="med"/>
                    </a:lnL>
                    <a:lnR w="12700" cap="flat" cmpd="sng" algn="ctr">
                      <a:solidFill>
                        <a:srgbClr val="D9E1E8"/>
                      </a:solidFill>
                      <a:prstDash val="solid"/>
                      <a:round/>
                      <a:headEnd type="none" w="med" len="med"/>
                      <a:tailEnd type="none" w="med" len="med"/>
                    </a:lnR>
                    <a:lnT w="12700" cap="flat" cmpd="sng" algn="ctr">
                      <a:solidFill>
                        <a:srgbClr val="D9E1E8"/>
                      </a:solidFill>
                      <a:prstDash val="solid"/>
                      <a:round/>
                      <a:headEnd type="none" w="med" len="med"/>
                      <a:tailEnd type="none" w="med" len="med"/>
                    </a:lnT>
                    <a:lnB w="12700" cap="flat" cmpd="sng" algn="ctr">
                      <a:solidFill>
                        <a:srgbClr val="D9E1E8"/>
                      </a:solidFill>
                      <a:prstDash val="solid"/>
                      <a:round/>
                      <a:headEnd type="none" w="med" len="med"/>
                      <a:tailEnd type="none" w="med" len="med"/>
                    </a:lnB>
                    <a:solidFill>
                      <a:srgbClr val="FFFFFF"/>
                    </a:solidFill>
                  </a:tcPr>
                </a:tc>
                <a:tc>
                  <a:txBody>
                    <a:bodyPr/>
                    <a:lstStyle/>
                    <a:p>
                      <a:pPr marL="0" indent="0">
                        <a:lnSpc>
                          <a:spcPts val="1820"/>
                        </a:lnSpc>
                        <a:buNone/>
                      </a:pPr>
                      <a:r>
                        <a:rPr lang="en-US" sz="1300" b="1" dirty="0">
                          <a:solidFill>
                            <a:srgbClr val="172E45"/>
                          </a:solidFill>
                          <a:latin typeface="Arial" pitchFamily="34" charset="0"/>
                          <a:ea typeface="Arial" pitchFamily="34" charset="-122"/>
                          <a:cs typeface="Arial" pitchFamily="34" charset="-120"/>
                        </a:rPr>
                        <a:t>75.23%</a:t>
                      </a:r>
                      <a:endParaRPr lang="en-US" sz="1300" dirty="0">
                        <a:latin typeface="Arial" charset="0"/>
                        <a:ea typeface="Arial" charset="0"/>
                        <a:cs typeface="Arial" charset="0"/>
                      </a:endParaRPr>
                    </a:p>
                  </a:txBody>
                  <a:tcPr marL="57785" marR="57785" marT="57785" marB="57785">
                    <a:lnL w="12700" cap="flat" cmpd="sng" algn="ctr">
                      <a:solidFill>
                        <a:srgbClr val="D9E1E8"/>
                      </a:solidFill>
                      <a:prstDash val="solid"/>
                      <a:round/>
                      <a:headEnd type="none" w="med" len="med"/>
                      <a:tailEnd type="none" w="med" len="med"/>
                    </a:lnL>
                    <a:lnR w="12700" cap="flat" cmpd="sng" algn="ctr">
                      <a:solidFill>
                        <a:srgbClr val="D9E1E8"/>
                      </a:solidFill>
                      <a:prstDash val="solid"/>
                      <a:round/>
                      <a:headEnd type="none" w="med" len="med"/>
                      <a:tailEnd type="none" w="med" len="med"/>
                    </a:lnR>
                    <a:lnT w="12700" cap="flat" cmpd="sng" algn="ctr">
                      <a:solidFill>
                        <a:srgbClr val="D9E1E8"/>
                      </a:solidFill>
                      <a:prstDash val="solid"/>
                      <a:round/>
                      <a:headEnd type="none" w="med" len="med"/>
                      <a:tailEnd type="none" w="med" len="med"/>
                    </a:lnT>
                    <a:lnB w="12700" cap="flat" cmpd="sng" algn="ctr">
                      <a:solidFill>
                        <a:srgbClr val="D9E1E8"/>
                      </a:solidFill>
                      <a:prstDash val="solid"/>
                      <a:round/>
                      <a:headEnd type="none" w="med" len="med"/>
                      <a:tailEnd type="none" w="med" len="med"/>
                    </a:lnB>
                    <a:solidFill>
                      <a:srgbClr val="FFFFFF"/>
                    </a:solidFill>
                  </a:tcPr>
                </a:tc>
                <a:tc>
                  <a:txBody>
                    <a:bodyPr/>
                    <a:lstStyle/>
                    <a:p>
                      <a:pPr marL="0" indent="0">
                        <a:lnSpc>
                          <a:spcPts val="1820"/>
                        </a:lnSpc>
                        <a:buNone/>
                      </a:pPr>
                      <a:r>
                        <a:rPr lang="en-US" sz="1300" b="1" dirty="0">
                          <a:solidFill>
                            <a:srgbClr val="172E45"/>
                          </a:solidFill>
                          <a:latin typeface="Arial" pitchFamily="34" charset="0"/>
                          <a:ea typeface="Arial" pitchFamily="34" charset="-122"/>
                          <a:cs typeface="Arial" pitchFamily="34" charset="-120"/>
                        </a:rPr>
                        <a:t>73.56%</a:t>
                      </a:r>
                      <a:endParaRPr lang="en-US" sz="1300" dirty="0">
                        <a:latin typeface="Arial" charset="0"/>
                        <a:ea typeface="Arial" charset="0"/>
                        <a:cs typeface="Arial" charset="0"/>
                      </a:endParaRPr>
                    </a:p>
                  </a:txBody>
                  <a:tcPr marL="57785" marR="57785" marT="57785" marB="57785">
                    <a:lnL w="12700" cap="flat" cmpd="sng" algn="ctr">
                      <a:solidFill>
                        <a:srgbClr val="D9E1E8"/>
                      </a:solidFill>
                      <a:prstDash val="solid"/>
                      <a:round/>
                      <a:headEnd type="none" w="med" len="med"/>
                      <a:tailEnd type="none" w="med" len="med"/>
                    </a:lnL>
                    <a:lnR w="12700" cap="flat" cmpd="sng" algn="ctr">
                      <a:solidFill>
                        <a:srgbClr val="D9E1E8"/>
                      </a:solidFill>
                      <a:prstDash val="solid"/>
                      <a:round/>
                      <a:headEnd type="none" w="med" len="med"/>
                      <a:tailEnd type="none" w="med" len="med"/>
                    </a:lnR>
                    <a:lnT w="12700" cap="flat" cmpd="sng" algn="ctr">
                      <a:solidFill>
                        <a:srgbClr val="D9E1E8"/>
                      </a:solidFill>
                      <a:prstDash val="solid"/>
                      <a:round/>
                      <a:headEnd type="none" w="med" len="med"/>
                      <a:tailEnd type="none" w="med" len="med"/>
                    </a:lnT>
                    <a:lnB w="12700" cap="flat" cmpd="sng" algn="ctr">
                      <a:solidFill>
                        <a:srgbClr val="D9E1E8"/>
                      </a:solidFill>
                      <a:prstDash val="solid"/>
                      <a:round/>
                      <a:headEnd type="none" w="med" len="med"/>
                      <a:tailEnd type="none" w="med" len="med"/>
                    </a:lnB>
                    <a:solidFill>
                      <a:srgbClr val="FFFFFF"/>
                    </a:solidFill>
                  </a:tcPr>
                </a:tc>
                <a:extLst>
                  <a:ext uri="{0D108BD9-81ED-4DB2-BD59-A6C34878D82A}">
                    <a16:rowId xmlns:a16="http://schemas.microsoft.com/office/drawing/2014/main" val="4258053823"/>
                  </a:ext>
                </a:extLst>
              </a:tr>
              <a:tr h="457200">
                <a:tc>
                  <a:txBody>
                    <a:bodyPr/>
                    <a:lstStyle/>
                    <a:p>
                      <a:pPr marL="0" indent="0">
                        <a:lnSpc>
                          <a:spcPts val="1820"/>
                        </a:lnSpc>
                        <a:buNone/>
                      </a:pPr>
                      <a:r>
                        <a:rPr lang="en-US" sz="1300" b="1" dirty="0">
                          <a:solidFill>
                            <a:srgbClr val="172E45"/>
                          </a:solidFill>
                          <a:latin typeface="Arial" pitchFamily="34" charset="0"/>
                          <a:ea typeface="Arial" pitchFamily="34" charset="-122"/>
                          <a:cs typeface="Arial" pitchFamily="34" charset="-120"/>
                        </a:rPr>
                        <a:t>근거 1개 질문, 근거 모두 전달</a:t>
                      </a:r>
                      <a:endParaRPr lang="en-US" sz="1300" dirty="0">
                        <a:latin typeface="Arial" charset="0"/>
                        <a:ea typeface="Arial" charset="0"/>
                        <a:cs typeface="Arial" charset="0"/>
                      </a:endParaRPr>
                    </a:p>
                  </a:txBody>
                  <a:tcPr marL="57785" marR="57785" marT="57785" marB="57785">
                    <a:lnL w="12700" cap="flat" cmpd="sng" algn="ctr">
                      <a:solidFill>
                        <a:srgbClr val="D9E1E8"/>
                      </a:solidFill>
                      <a:prstDash val="solid"/>
                      <a:round/>
                      <a:headEnd type="none" w="med" len="med"/>
                      <a:tailEnd type="none" w="med" len="med"/>
                    </a:lnL>
                    <a:lnR w="12700" cap="flat" cmpd="sng" algn="ctr">
                      <a:solidFill>
                        <a:srgbClr val="D9E1E8"/>
                      </a:solidFill>
                      <a:prstDash val="solid"/>
                      <a:round/>
                      <a:headEnd type="none" w="med" len="med"/>
                      <a:tailEnd type="none" w="med" len="med"/>
                    </a:lnR>
                    <a:lnT w="12700" cap="flat" cmpd="sng" algn="ctr">
                      <a:solidFill>
                        <a:srgbClr val="D9E1E8"/>
                      </a:solidFill>
                      <a:prstDash val="solid"/>
                      <a:round/>
                      <a:headEnd type="none" w="med" len="med"/>
                      <a:tailEnd type="none" w="med" len="med"/>
                    </a:lnT>
                    <a:lnB w="12700" cap="flat" cmpd="sng" algn="ctr">
                      <a:solidFill>
                        <a:srgbClr val="D9E1E8"/>
                      </a:solidFill>
                      <a:prstDash val="solid"/>
                      <a:round/>
                      <a:headEnd type="none" w="med" len="med"/>
                      <a:tailEnd type="none" w="med" len="med"/>
                    </a:lnB>
                    <a:solidFill>
                      <a:srgbClr val="EDF2F6"/>
                    </a:solidFill>
                  </a:tcPr>
                </a:tc>
                <a:tc>
                  <a:txBody>
                    <a:bodyPr/>
                    <a:lstStyle/>
                    <a:p>
                      <a:pPr marL="0" indent="0">
                        <a:lnSpc>
                          <a:spcPts val="1820"/>
                        </a:lnSpc>
                        <a:buNone/>
                      </a:pPr>
                      <a:r>
                        <a:rPr lang="en-US" sz="1300" b="1" dirty="0">
                          <a:solidFill>
                            <a:srgbClr val="172E45"/>
                          </a:solidFill>
                          <a:latin typeface="Arial" pitchFamily="34" charset="0"/>
                          <a:ea typeface="Arial" pitchFamily="34" charset="-122"/>
                          <a:cs typeface="Arial" pitchFamily="34" charset="-120"/>
                        </a:rPr>
                        <a:t>126 / 165</a:t>
                      </a:r>
                      <a:endParaRPr lang="en-US" sz="1300" dirty="0">
                        <a:latin typeface="Arial" charset="0"/>
                        <a:ea typeface="Arial" charset="0"/>
                        <a:cs typeface="Arial" charset="0"/>
                      </a:endParaRPr>
                    </a:p>
                  </a:txBody>
                  <a:tcPr marL="57785" marR="57785" marT="57785" marB="57785">
                    <a:lnL w="12700" cap="flat" cmpd="sng" algn="ctr">
                      <a:solidFill>
                        <a:srgbClr val="D9E1E8"/>
                      </a:solidFill>
                      <a:prstDash val="solid"/>
                      <a:round/>
                      <a:headEnd type="none" w="med" len="med"/>
                      <a:tailEnd type="none" w="med" len="med"/>
                    </a:lnL>
                    <a:lnR w="12700" cap="flat" cmpd="sng" algn="ctr">
                      <a:solidFill>
                        <a:srgbClr val="D9E1E8"/>
                      </a:solidFill>
                      <a:prstDash val="solid"/>
                      <a:round/>
                      <a:headEnd type="none" w="med" len="med"/>
                      <a:tailEnd type="none" w="med" len="med"/>
                    </a:lnR>
                    <a:lnT w="12700" cap="flat" cmpd="sng" algn="ctr">
                      <a:solidFill>
                        <a:srgbClr val="D9E1E8"/>
                      </a:solidFill>
                      <a:prstDash val="solid"/>
                      <a:round/>
                      <a:headEnd type="none" w="med" len="med"/>
                      <a:tailEnd type="none" w="med" len="med"/>
                    </a:lnT>
                    <a:lnB w="12700" cap="flat" cmpd="sng" algn="ctr">
                      <a:solidFill>
                        <a:srgbClr val="D9E1E8"/>
                      </a:solidFill>
                      <a:prstDash val="solid"/>
                      <a:round/>
                      <a:headEnd type="none" w="med" len="med"/>
                      <a:tailEnd type="none" w="med" len="med"/>
                    </a:lnB>
                    <a:solidFill>
                      <a:srgbClr val="EDF2F6"/>
                    </a:solidFill>
                  </a:tcPr>
                </a:tc>
                <a:tc>
                  <a:txBody>
                    <a:bodyPr/>
                    <a:lstStyle/>
                    <a:p>
                      <a:pPr marL="0" indent="0">
                        <a:lnSpc>
                          <a:spcPts val="1820"/>
                        </a:lnSpc>
                        <a:buNone/>
                      </a:pPr>
                      <a:r>
                        <a:rPr lang="en-US" sz="1300" b="1" dirty="0">
                          <a:solidFill>
                            <a:srgbClr val="172E45"/>
                          </a:solidFill>
                          <a:latin typeface="Arial" pitchFamily="34" charset="0"/>
                          <a:ea typeface="Arial" pitchFamily="34" charset="-122"/>
                          <a:cs typeface="Arial" pitchFamily="34" charset="-120"/>
                        </a:rPr>
                        <a:t>128 / 165</a:t>
                      </a:r>
                      <a:endParaRPr lang="en-US" sz="1300" dirty="0">
                        <a:latin typeface="Arial" charset="0"/>
                        <a:ea typeface="Arial" charset="0"/>
                        <a:cs typeface="Arial" charset="0"/>
                      </a:endParaRPr>
                    </a:p>
                  </a:txBody>
                  <a:tcPr marL="57785" marR="57785" marT="57785" marB="57785">
                    <a:lnL w="12700" cap="flat" cmpd="sng" algn="ctr">
                      <a:solidFill>
                        <a:srgbClr val="D9E1E8"/>
                      </a:solidFill>
                      <a:prstDash val="solid"/>
                      <a:round/>
                      <a:headEnd type="none" w="med" len="med"/>
                      <a:tailEnd type="none" w="med" len="med"/>
                    </a:lnL>
                    <a:lnR w="12700" cap="flat" cmpd="sng" algn="ctr">
                      <a:solidFill>
                        <a:srgbClr val="D9E1E8"/>
                      </a:solidFill>
                      <a:prstDash val="solid"/>
                      <a:round/>
                      <a:headEnd type="none" w="med" len="med"/>
                      <a:tailEnd type="none" w="med" len="med"/>
                    </a:lnR>
                    <a:lnT w="12700" cap="flat" cmpd="sng" algn="ctr">
                      <a:solidFill>
                        <a:srgbClr val="D9E1E8"/>
                      </a:solidFill>
                      <a:prstDash val="solid"/>
                      <a:round/>
                      <a:headEnd type="none" w="med" len="med"/>
                      <a:tailEnd type="none" w="med" len="med"/>
                    </a:lnT>
                    <a:lnB w="12700" cap="flat" cmpd="sng" algn="ctr">
                      <a:solidFill>
                        <a:srgbClr val="D9E1E8"/>
                      </a:solidFill>
                      <a:prstDash val="solid"/>
                      <a:round/>
                      <a:headEnd type="none" w="med" len="med"/>
                      <a:tailEnd type="none" w="med" len="med"/>
                    </a:lnB>
                    <a:solidFill>
                      <a:srgbClr val="EDF2F6"/>
                    </a:solidFill>
                  </a:tcPr>
                </a:tc>
                <a:extLst>
                  <a:ext uri="{0D108BD9-81ED-4DB2-BD59-A6C34878D82A}">
                    <a16:rowId xmlns:a16="http://schemas.microsoft.com/office/drawing/2014/main" val="643938271"/>
                  </a:ext>
                </a:extLst>
              </a:tr>
              <a:tr h="457200">
                <a:tc>
                  <a:txBody>
                    <a:bodyPr/>
                    <a:lstStyle/>
                    <a:p>
                      <a:pPr marL="0" indent="0">
                        <a:lnSpc>
                          <a:spcPts val="1820"/>
                        </a:lnSpc>
                        <a:buNone/>
                      </a:pPr>
                      <a:r>
                        <a:rPr lang="en-US" sz="1300" b="0" dirty="0">
                          <a:solidFill>
                            <a:srgbClr val="172E45"/>
                          </a:solidFill>
                          <a:latin typeface="Arial" pitchFamily="34" charset="0"/>
                          <a:ea typeface="Arial" pitchFamily="34" charset="-122"/>
                          <a:cs typeface="Arial" pitchFamily="34" charset="-120"/>
                        </a:rPr>
                        <a:t>GPU 메모리</a:t>
                      </a:r>
                      <a:endParaRPr lang="en-US" sz="1300" dirty="0">
                        <a:latin typeface="Arial" charset="0"/>
                        <a:ea typeface="Arial" charset="0"/>
                        <a:cs typeface="Arial" charset="0"/>
                      </a:endParaRPr>
                    </a:p>
                  </a:txBody>
                  <a:tcPr marL="57785" marR="57785" marT="57785" marB="57785">
                    <a:lnL w="12700" cap="flat" cmpd="sng" algn="ctr">
                      <a:solidFill>
                        <a:srgbClr val="D9E1E8"/>
                      </a:solidFill>
                      <a:prstDash val="solid"/>
                      <a:round/>
                      <a:headEnd type="none" w="med" len="med"/>
                      <a:tailEnd type="none" w="med" len="med"/>
                    </a:lnL>
                    <a:lnR w="12700" cap="flat" cmpd="sng" algn="ctr">
                      <a:solidFill>
                        <a:srgbClr val="D9E1E8"/>
                      </a:solidFill>
                      <a:prstDash val="solid"/>
                      <a:round/>
                      <a:headEnd type="none" w="med" len="med"/>
                      <a:tailEnd type="none" w="med" len="med"/>
                    </a:lnR>
                    <a:lnT w="12700" cap="flat" cmpd="sng" algn="ctr">
                      <a:solidFill>
                        <a:srgbClr val="D9E1E8"/>
                      </a:solidFill>
                      <a:prstDash val="solid"/>
                      <a:round/>
                      <a:headEnd type="none" w="med" len="med"/>
                      <a:tailEnd type="none" w="med" len="med"/>
                    </a:lnT>
                    <a:lnB w="12700" cap="flat" cmpd="sng" algn="ctr">
                      <a:solidFill>
                        <a:srgbClr val="D9E1E8"/>
                      </a:solidFill>
                      <a:prstDash val="solid"/>
                      <a:round/>
                      <a:headEnd type="none" w="med" len="med"/>
                      <a:tailEnd type="none" w="med" len="med"/>
                    </a:lnB>
                    <a:solidFill>
                      <a:srgbClr val="FFFFFF"/>
                    </a:solidFill>
                  </a:tcPr>
                </a:tc>
                <a:tc>
                  <a:txBody>
                    <a:bodyPr/>
                    <a:lstStyle/>
                    <a:p>
                      <a:pPr marL="0" indent="0">
                        <a:lnSpc>
                          <a:spcPts val="1820"/>
                        </a:lnSpc>
                        <a:buNone/>
                      </a:pPr>
                      <a:r>
                        <a:rPr lang="en-US" sz="1300" b="0" dirty="0">
                          <a:solidFill>
                            <a:srgbClr val="172E45"/>
                          </a:solidFill>
                          <a:latin typeface="Arial" pitchFamily="34" charset="0"/>
                          <a:ea typeface="Arial" pitchFamily="34" charset="-122"/>
                          <a:cs typeface="Arial" pitchFamily="34" charset="-120"/>
                        </a:rPr>
                        <a:t>2.64 GiB</a:t>
                      </a:r>
                      <a:endParaRPr lang="en-US" sz="1300" dirty="0">
                        <a:latin typeface="Arial" charset="0"/>
                        <a:ea typeface="Arial" charset="0"/>
                        <a:cs typeface="Arial" charset="0"/>
                      </a:endParaRPr>
                    </a:p>
                  </a:txBody>
                  <a:tcPr marL="57785" marR="57785" marT="57785" marB="57785">
                    <a:lnL w="12700" cap="flat" cmpd="sng" algn="ctr">
                      <a:solidFill>
                        <a:srgbClr val="D9E1E8"/>
                      </a:solidFill>
                      <a:prstDash val="solid"/>
                      <a:round/>
                      <a:headEnd type="none" w="med" len="med"/>
                      <a:tailEnd type="none" w="med" len="med"/>
                    </a:lnL>
                    <a:lnR w="12700" cap="flat" cmpd="sng" algn="ctr">
                      <a:solidFill>
                        <a:srgbClr val="D9E1E8"/>
                      </a:solidFill>
                      <a:prstDash val="solid"/>
                      <a:round/>
                      <a:headEnd type="none" w="med" len="med"/>
                      <a:tailEnd type="none" w="med" len="med"/>
                    </a:lnR>
                    <a:lnT w="12700" cap="flat" cmpd="sng" algn="ctr">
                      <a:solidFill>
                        <a:srgbClr val="D9E1E8"/>
                      </a:solidFill>
                      <a:prstDash val="solid"/>
                      <a:round/>
                      <a:headEnd type="none" w="med" len="med"/>
                      <a:tailEnd type="none" w="med" len="med"/>
                    </a:lnT>
                    <a:lnB w="12700" cap="flat" cmpd="sng" algn="ctr">
                      <a:solidFill>
                        <a:srgbClr val="D9E1E8"/>
                      </a:solidFill>
                      <a:prstDash val="solid"/>
                      <a:round/>
                      <a:headEnd type="none" w="med" len="med"/>
                      <a:tailEnd type="none" w="med" len="med"/>
                    </a:lnB>
                    <a:solidFill>
                      <a:srgbClr val="FFFFFF"/>
                    </a:solidFill>
                  </a:tcPr>
                </a:tc>
                <a:tc>
                  <a:txBody>
                    <a:bodyPr/>
                    <a:lstStyle/>
                    <a:p>
                      <a:pPr marL="0" indent="0">
                        <a:lnSpc>
                          <a:spcPts val="1820"/>
                        </a:lnSpc>
                        <a:buNone/>
                      </a:pPr>
                      <a:r>
                        <a:rPr lang="en-US" sz="1300" b="0" dirty="0">
                          <a:solidFill>
                            <a:srgbClr val="172E45"/>
                          </a:solidFill>
                          <a:latin typeface="Arial" pitchFamily="34" charset="0"/>
                          <a:ea typeface="Arial" pitchFamily="34" charset="-122"/>
                          <a:cs typeface="Arial" pitchFamily="34" charset="-120"/>
                        </a:rPr>
                        <a:t>1.25 GiB</a:t>
                      </a:r>
                      <a:endParaRPr lang="en-US" sz="1300" dirty="0">
                        <a:latin typeface="Arial" charset="0"/>
                        <a:ea typeface="Arial" charset="0"/>
                        <a:cs typeface="Arial" charset="0"/>
                      </a:endParaRPr>
                    </a:p>
                  </a:txBody>
                  <a:tcPr marL="57785" marR="57785" marT="57785" marB="57785">
                    <a:lnL w="12700" cap="flat" cmpd="sng" algn="ctr">
                      <a:solidFill>
                        <a:srgbClr val="D9E1E8"/>
                      </a:solidFill>
                      <a:prstDash val="solid"/>
                      <a:round/>
                      <a:headEnd type="none" w="med" len="med"/>
                      <a:tailEnd type="none" w="med" len="med"/>
                    </a:lnL>
                    <a:lnR w="12700" cap="flat" cmpd="sng" algn="ctr">
                      <a:solidFill>
                        <a:srgbClr val="D9E1E8"/>
                      </a:solidFill>
                      <a:prstDash val="solid"/>
                      <a:round/>
                      <a:headEnd type="none" w="med" len="med"/>
                      <a:tailEnd type="none" w="med" len="med"/>
                    </a:lnR>
                    <a:lnT w="12700" cap="flat" cmpd="sng" algn="ctr">
                      <a:solidFill>
                        <a:srgbClr val="D9E1E8"/>
                      </a:solidFill>
                      <a:prstDash val="solid"/>
                      <a:round/>
                      <a:headEnd type="none" w="med" len="med"/>
                      <a:tailEnd type="none" w="med" len="med"/>
                    </a:lnT>
                    <a:lnB w="12700" cap="flat" cmpd="sng" algn="ctr">
                      <a:solidFill>
                        <a:srgbClr val="D9E1E8"/>
                      </a:solidFill>
                      <a:prstDash val="solid"/>
                      <a:round/>
                      <a:headEnd type="none" w="med" len="med"/>
                      <a:tailEnd type="none" w="med" len="med"/>
                    </a:lnB>
                    <a:solidFill>
                      <a:srgbClr val="FFFFFF"/>
                    </a:solidFill>
                  </a:tcPr>
                </a:tc>
                <a:extLst>
                  <a:ext uri="{0D108BD9-81ED-4DB2-BD59-A6C34878D82A}">
                    <a16:rowId xmlns:a16="http://schemas.microsoft.com/office/drawing/2014/main" val="4219461484"/>
                  </a:ext>
                </a:extLst>
              </a:tr>
              <a:tr h="457200">
                <a:tc>
                  <a:txBody>
                    <a:bodyPr/>
                    <a:lstStyle/>
                    <a:p>
                      <a:pPr marL="0" indent="0">
                        <a:lnSpc>
                          <a:spcPts val="1820"/>
                        </a:lnSpc>
                        <a:buNone/>
                      </a:pPr>
                      <a:r>
                        <a:rPr lang="en-US" sz="1300" b="0" dirty="0">
                          <a:solidFill>
                            <a:srgbClr val="172E45"/>
                          </a:solidFill>
                          <a:latin typeface="Arial" pitchFamily="34" charset="0"/>
                          <a:ea typeface="Arial" pitchFamily="34" charset="-122"/>
                          <a:cs typeface="Arial" pitchFamily="34" charset="-120"/>
                        </a:rPr>
                        <a:t>색인 구축 시간</a:t>
                      </a:r>
                      <a:endParaRPr lang="en-US" sz="1300" dirty="0">
                        <a:latin typeface="Arial" charset="0"/>
                        <a:ea typeface="Arial" charset="0"/>
                        <a:cs typeface="Arial" charset="0"/>
                      </a:endParaRPr>
                    </a:p>
                  </a:txBody>
                  <a:tcPr marL="57785" marR="57785" marT="57785" marB="57785">
                    <a:lnL w="12700" cap="flat" cmpd="sng" algn="ctr">
                      <a:solidFill>
                        <a:srgbClr val="D9E1E8"/>
                      </a:solidFill>
                      <a:prstDash val="solid"/>
                      <a:round/>
                      <a:headEnd type="none" w="med" len="med"/>
                      <a:tailEnd type="none" w="med" len="med"/>
                    </a:lnL>
                    <a:lnR w="12700" cap="flat" cmpd="sng" algn="ctr">
                      <a:solidFill>
                        <a:srgbClr val="D9E1E8"/>
                      </a:solidFill>
                      <a:prstDash val="solid"/>
                      <a:round/>
                      <a:headEnd type="none" w="med" len="med"/>
                      <a:tailEnd type="none" w="med" len="med"/>
                    </a:lnR>
                    <a:lnT w="12700" cap="flat" cmpd="sng" algn="ctr">
                      <a:solidFill>
                        <a:srgbClr val="D9E1E8"/>
                      </a:solidFill>
                      <a:prstDash val="solid"/>
                      <a:round/>
                      <a:headEnd type="none" w="med" len="med"/>
                      <a:tailEnd type="none" w="med" len="med"/>
                    </a:lnT>
                    <a:lnB w="12700" cap="flat" cmpd="sng" algn="ctr">
                      <a:solidFill>
                        <a:srgbClr val="D9E1E8"/>
                      </a:solidFill>
                      <a:prstDash val="solid"/>
                      <a:round/>
                      <a:headEnd type="none" w="med" len="med"/>
                      <a:tailEnd type="none" w="med" len="med"/>
                    </a:lnB>
                    <a:solidFill>
                      <a:srgbClr val="EDF2F6"/>
                    </a:solidFill>
                  </a:tcPr>
                </a:tc>
                <a:tc>
                  <a:txBody>
                    <a:bodyPr/>
                    <a:lstStyle/>
                    <a:p>
                      <a:pPr marL="0" indent="0">
                        <a:lnSpc>
                          <a:spcPts val="1820"/>
                        </a:lnSpc>
                        <a:buNone/>
                      </a:pPr>
                      <a:r>
                        <a:rPr lang="en-US" sz="1300" b="0" dirty="0">
                          <a:solidFill>
                            <a:srgbClr val="172E45"/>
                          </a:solidFill>
                          <a:latin typeface="Arial" pitchFamily="34" charset="0"/>
                          <a:ea typeface="Arial" pitchFamily="34" charset="-122"/>
                          <a:cs typeface="Arial" pitchFamily="34" charset="-120"/>
                        </a:rPr>
                        <a:t>410초</a:t>
                      </a:r>
                      <a:endParaRPr lang="en-US" sz="1300" dirty="0">
                        <a:latin typeface="Arial" charset="0"/>
                        <a:ea typeface="Arial" charset="0"/>
                        <a:cs typeface="Arial" charset="0"/>
                      </a:endParaRPr>
                    </a:p>
                  </a:txBody>
                  <a:tcPr marL="57785" marR="57785" marT="57785" marB="57785">
                    <a:lnL w="12700" cap="flat" cmpd="sng" algn="ctr">
                      <a:solidFill>
                        <a:srgbClr val="D9E1E8"/>
                      </a:solidFill>
                      <a:prstDash val="solid"/>
                      <a:round/>
                      <a:headEnd type="none" w="med" len="med"/>
                      <a:tailEnd type="none" w="med" len="med"/>
                    </a:lnL>
                    <a:lnR w="12700" cap="flat" cmpd="sng" algn="ctr">
                      <a:solidFill>
                        <a:srgbClr val="D9E1E8"/>
                      </a:solidFill>
                      <a:prstDash val="solid"/>
                      <a:round/>
                      <a:headEnd type="none" w="med" len="med"/>
                      <a:tailEnd type="none" w="med" len="med"/>
                    </a:lnR>
                    <a:lnT w="12700" cap="flat" cmpd="sng" algn="ctr">
                      <a:solidFill>
                        <a:srgbClr val="D9E1E8"/>
                      </a:solidFill>
                      <a:prstDash val="solid"/>
                      <a:round/>
                      <a:headEnd type="none" w="med" len="med"/>
                      <a:tailEnd type="none" w="med" len="med"/>
                    </a:lnT>
                    <a:lnB w="12700" cap="flat" cmpd="sng" algn="ctr">
                      <a:solidFill>
                        <a:srgbClr val="D9E1E8"/>
                      </a:solidFill>
                      <a:prstDash val="solid"/>
                      <a:round/>
                      <a:headEnd type="none" w="med" len="med"/>
                      <a:tailEnd type="none" w="med" len="med"/>
                    </a:lnB>
                    <a:solidFill>
                      <a:srgbClr val="EDF2F6"/>
                    </a:solidFill>
                  </a:tcPr>
                </a:tc>
                <a:tc>
                  <a:txBody>
                    <a:bodyPr/>
                    <a:lstStyle/>
                    <a:p>
                      <a:pPr marL="0" indent="0">
                        <a:lnSpc>
                          <a:spcPts val="1820"/>
                        </a:lnSpc>
                        <a:buNone/>
                      </a:pPr>
                      <a:r>
                        <a:rPr lang="en-US" sz="1300" b="0" dirty="0">
                          <a:solidFill>
                            <a:srgbClr val="172E45"/>
                          </a:solidFill>
                          <a:latin typeface="Arial" pitchFamily="34" charset="0"/>
                          <a:ea typeface="Arial" pitchFamily="34" charset="-122"/>
                          <a:cs typeface="Arial" pitchFamily="34" charset="-120"/>
                        </a:rPr>
                        <a:t>145초</a:t>
                      </a:r>
                      <a:endParaRPr lang="en-US" sz="1300" dirty="0">
                        <a:latin typeface="Arial" charset="0"/>
                        <a:ea typeface="Arial" charset="0"/>
                        <a:cs typeface="Arial" charset="0"/>
                      </a:endParaRPr>
                    </a:p>
                  </a:txBody>
                  <a:tcPr marL="57785" marR="57785" marT="57785" marB="57785">
                    <a:lnL w="12700" cap="flat" cmpd="sng" algn="ctr">
                      <a:solidFill>
                        <a:srgbClr val="D9E1E8"/>
                      </a:solidFill>
                      <a:prstDash val="solid"/>
                      <a:round/>
                      <a:headEnd type="none" w="med" len="med"/>
                      <a:tailEnd type="none" w="med" len="med"/>
                    </a:lnL>
                    <a:lnR w="12700" cap="flat" cmpd="sng" algn="ctr">
                      <a:solidFill>
                        <a:srgbClr val="D9E1E8"/>
                      </a:solidFill>
                      <a:prstDash val="solid"/>
                      <a:round/>
                      <a:headEnd type="none" w="med" len="med"/>
                      <a:tailEnd type="none" w="med" len="med"/>
                    </a:lnR>
                    <a:lnT w="12700" cap="flat" cmpd="sng" algn="ctr">
                      <a:solidFill>
                        <a:srgbClr val="D9E1E8"/>
                      </a:solidFill>
                      <a:prstDash val="solid"/>
                      <a:round/>
                      <a:headEnd type="none" w="med" len="med"/>
                      <a:tailEnd type="none" w="med" len="med"/>
                    </a:lnT>
                    <a:lnB w="12700" cap="flat" cmpd="sng" algn="ctr">
                      <a:solidFill>
                        <a:srgbClr val="D9E1E8"/>
                      </a:solidFill>
                      <a:prstDash val="solid"/>
                      <a:round/>
                      <a:headEnd type="none" w="med" len="med"/>
                      <a:tailEnd type="none" w="med" len="med"/>
                    </a:lnB>
                    <a:solidFill>
                      <a:srgbClr val="EDF2F6"/>
                    </a:solidFill>
                  </a:tcPr>
                </a:tc>
                <a:extLst>
                  <a:ext uri="{0D108BD9-81ED-4DB2-BD59-A6C34878D82A}">
                    <a16:rowId xmlns:a16="http://schemas.microsoft.com/office/drawing/2014/main" val="805737443"/>
                  </a:ext>
                </a:extLst>
              </a:tr>
            </a:tbl>
          </a:graphicData>
        </a:graphic>
      </p:graphicFrame>
      <p:sp>
        <p:nvSpPr>
          <p:cNvPr id="136" name="side-card"/>
          <p:cNvSpPr/>
          <p:nvPr/>
        </p:nvSpPr>
        <p:spPr>
          <a:xfrm>
            <a:off x="7589520" y="1700784"/>
            <a:ext cx="3785615" cy="3200400"/>
          </a:xfrm>
          <a:prstGeom prst="roundRect">
            <a:avLst>
              <a:gd name="adj" fmla="val 3330"/>
            </a:avLst>
          </a:prstGeom>
          <a:solidFill>
            <a:srgbClr val="FFFFFF"/>
          </a:solidFill>
          <a:ln w="6350">
            <a:solidFill>
              <a:srgbClr val="D9E1E8"/>
            </a:solidFill>
            <a:prstDash val="solid"/>
          </a:ln>
        </p:spPr>
      </p:sp>
      <p:sp>
        <p:nvSpPr>
          <p:cNvPr id="137" name="side-heading"/>
          <p:cNvSpPr/>
          <p:nvPr/>
        </p:nvSpPr>
        <p:spPr>
          <a:xfrm>
            <a:off x="7827264" y="1938528"/>
            <a:ext cx="3328415" cy="283464"/>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72E45"/>
                </a:solidFill>
                <a:latin typeface="Arial" pitchFamily="34" charset="0"/>
                <a:ea typeface="Arial" pitchFamily="34" charset="-122"/>
                <a:cs typeface="Arial" pitchFamily="34" charset="-120"/>
              </a:rPr>
              <a:t>선택 이유</a:t>
            </a:r>
            <a:endParaRPr lang="en-US" sz="1700" dirty="0"/>
          </a:p>
        </p:txBody>
      </p:sp>
      <p:sp>
        <p:nvSpPr>
          <p:cNvPr id="138" name="side-line-0"/>
          <p:cNvSpPr/>
          <p:nvPr/>
        </p:nvSpPr>
        <p:spPr>
          <a:xfrm>
            <a:off x="7827264" y="2359152"/>
            <a:ext cx="3328415" cy="411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72E45"/>
                </a:solidFill>
                <a:latin typeface="Arial" pitchFamily="34" charset="0"/>
                <a:ea typeface="Arial" pitchFamily="34" charset="-122"/>
                <a:cs typeface="Arial" pitchFamily="34" charset="-120"/>
              </a:rPr>
              <a:t>순위 지표는 Nemotron이 앞섭니다</a:t>
            </a:r>
            <a:endParaRPr lang="en-US" sz="1300" dirty="0"/>
          </a:p>
        </p:txBody>
      </p:sp>
      <p:sp>
        <p:nvSpPr>
          <p:cNvPr id="139" name="side-line-1"/>
          <p:cNvSpPr/>
          <p:nvPr/>
        </p:nvSpPr>
        <p:spPr>
          <a:xfrm>
            <a:off x="7827264" y="2816352"/>
            <a:ext cx="3328415" cy="411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72E45"/>
                </a:solidFill>
                <a:latin typeface="Arial" pitchFamily="34" charset="0"/>
                <a:ea typeface="Arial" pitchFamily="34" charset="-122"/>
                <a:cs typeface="Arial" pitchFamily="34" charset="-120"/>
              </a:rPr>
              <a:t>실제 넘어가는 근거 차이는 약 5문항</a:t>
            </a:r>
            <a:endParaRPr lang="en-US" sz="1300" dirty="0"/>
          </a:p>
        </p:txBody>
      </p:sp>
      <p:sp>
        <p:nvSpPr>
          <p:cNvPr id="140" name="side-line-2"/>
          <p:cNvSpPr/>
          <p:nvPr/>
        </p:nvSpPr>
        <p:spPr>
          <a:xfrm>
            <a:off x="7827264" y="3273552"/>
            <a:ext cx="3328415" cy="411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72E45"/>
                </a:solidFill>
                <a:latin typeface="Arial" pitchFamily="34" charset="0"/>
                <a:ea typeface="Arial" pitchFamily="34" charset="-122"/>
                <a:cs typeface="Arial" pitchFamily="34" charset="-120"/>
              </a:rPr>
              <a:t>근거 1개 질문은 KURE가 2문항 앞섬</a:t>
            </a:r>
            <a:endParaRPr lang="en-US" sz="1300" dirty="0"/>
          </a:p>
        </p:txBody>
      </p:sp>
      <p:sp>
        <p:nvSpPr>
          <p:cNvPr id="141" name="side-line-3"/>
          <p:cNvSpPr/>
          <p:nvPr/>
        </p:nvSpPr>
        <p:spPr>
          <a:xfrm>
            <a:off x="7827264" y="3730752"/>
            <a:ext cx="3328415" cy="411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72E45"/>
                </a:solidFill>
                <a:latin typeface="Arial" pitchFamily="34" charset="0"/>
                <a:ea typeface="Arial" pitchFamily="34" charset="-122"/>
                <a:cs typeface="Arial" pitchFamily="34" charset="-120"/>
              </a:rPr>
              <a:t>GPU 메모리 2배 · 색인 시간 2.8배</a:t>
            </a:r>
            <a:endParaRPr lang="en-US" sz="1300" dirty="0"/>
          </a:p>
        </p:txBody>
      </p:sp>
      <p:sp>
        <p:nvSpPr>
          <p:cNvPr id="142" name="side-verdict"/>
          <p:cNvSpPr/>
          <p:nvPr/>
        </p:nvSpPr>
        <p:spPr>
          <a:xfrm>
            <a:off x="7827264" y="4352544"/>
            <a:ext cx="3328415" cy="32004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764A3"/>
                </a:solidFill>
                <a:latin typeface="Arial" pitchFamily="34" charset="0"/>
                <a:ea typeface="Arial" pitchFamily="34" charset="-122"/>
                <a:cs typeface="Arial" pitchFamily="34" charset="-120"/>
              </a:rPr>
              <a:t>→ BM25 + KURE</a:t>
            </a:r>
            <a:endParaRPr lang="en-US" sz="1700" dirty="0"/>
          </a:p>
        </p:txBody>
      </p:sp>
      <p:sp>
        <p:nvSpPr>
          <p:cNvPr id="143" name="footer"/>
          <p:cNvSpPr/>
          <p:nvPr/>
        </p:nvSpPr>
        <p:spPr>
          <a:xfrm>
            <a:off x="812712" y="6238435"/>
            <a:ext cx="10883347" cy="2386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26478"/>
                </a:solidFill>
                <a:latin typeface="Arial" pitchFamily="34" charset="0"/>
                <a:ea typeface="Arial" pitchFamily="34" charset="-122"/>
                <a:cs typeface="Arial" pitchFamily="34" charset="-120"/>
              </a:rPr>
              <a:t>검색(Retrieval) 파트 발표 · 4 · 출처: 리트리버 비교 보고서 · dev 329문항 · Kiwi BM25 하이브리드 · 가중치 0.6 고정</a:t>
            </a:r>
            <a:endParaRPr lang="en-US" sz="1200" dirty="0"/>
          </a:p>
        </p:txBody>
      </p:sp>
    </p:spTree>
    <p:extLst>
      <p:ext uri="{BB962C8B-B14F-4D97-AF65-F5344CB8AC3E}">
        <p14:creationId xmlns:p14="http://schemas.microsoft.com/office/powerpoint/2010/main" val="16972380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7F9FB"/>
        </a:solidFill>
        <a:effectLst/>
      </p:bgPr>
    </p:bg>
    <p:spTree>
      <p:nvGrpSpPr>
        <p:cNvPr id="1" name=""/>
        <p:cNvGrpSpPr/>
        <p:nvPr/>
      </p:nvGrpSpPr>
      <p:grpSpPr>
        <a:xfrm>
          <a:off x="0" y="0"/>
          <a:ext cx="0" cy="0"/>
          <a:chOff x="0" y="0"/>
          <a:chExt cx="0" cy="0"/>
        </a:xfrm>
      </p:grpSpPr>
      <p:sp>
        <p:nvSpPr>
          <p:cNvPr id="2" name="Text 0"/>
          <p:cNvSpPr/>
          <p:nvPr/>
        </p:nvSpPr>
        <p:spPr>
          <a:xfrm>
            <a:off x="812712" y="711177"/>
            <a:ext cx="10883574" cy="2565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764A3"/>
                </a:solidFill>
                <a:latin typeface="Arial" pitchFamily="34" charset="0"/>
                <a:ea typeface="Arial" pitchFamily="34" charset="-122"/>
                <a:cs typeface="Arial" pitchFamily="34" charset="-120"/>
              </a:rPr>
              <a:t>4~5단계 · 합치기와 최종 선별</a:t>
            </a:r>
            <a:endParaRPr lang="en-US" sz="1300" dirty="0"/>
          </a:p>
        </p:txBody>
      </p:sp>
      <p:sp>
        <p:nvSpPr>
          <p:cNvPr id="3" name="Text 1"/>
          <p:cNvSpPr>
            <a:spLocks noGrp="1"/>
          </p:cNvSpPr>
          <p:nvPr>
            <p:ph type="title"/>
          </p:nvPr>
        </p:nvSpPr>
        <p:spPr>
          <a:xfrm>
            <a:off x="812712" y="1018535"/>
            <a:ext cx="10883574" cy="452151"/>
          </a:xfrm>
          <a:prstGeom prst="rect">
            <a:avLst/>
          </a:prstGeom>
          <a:noFill/>
          <a:ln/>
        </p:spPr>
        <p:txBody>
          <a:bodyPr wrap="square" lIns="0" tIns="0" rIns="0" bIns="0" rtlCol="0" anchor="t">
            <a:normAutofit/>
          </a:bodyPr>
          <a:lstStyle/>
          <a:p>
            <a:pPr marL="0" indent="0" algn="l">
              <a:lnSpc>
                <a:spcPts val="3360"/>
              </a:lnSpc>
              <a:buNone/>
            </a:pPr>
            <a:r>
              <a:rPr lang="en-US" b="1"/>
              <a:t>RRF(</a:t>
            </a:r>
            <a:r>
              <a:rPr lang="en-US" sz="2800" b="1" i="0">
                <a:solidFill>
                  <a:srgbClr val="172E45"/>
                </a:solidFill>
                <a:latin typeface="Arial" pitchFamily="34" charset="0"/>
                <a:ea typeface="Arial" pitchFamily="34" charset="-122"/>
                <a:cs typeface="Arial" pitchFamily="34" charset="-120"/>
              </a:rPr>
              <a:t>순위로 </a:t>
            </a:r>
            <a:r>
              <a:rPr lang="en-US" sz="2800" b="1" i="0" dirty="0">
                <a:solidFill>
                  <a:srgbClr val="172E45"/>
                </a:solidFill>
                <a:latin typeface="Arial" pitchFamily="34" charset="0"/>
                <a:ea typeface="Arial" pitchFamily="34" charset="-122"/>
                <a:cs typeface="Arial" pitchFamily="34" charset="-120"/>
              </a:rPr>
              <a:t>합치고, 상위 30개는 </a:t>
            </a:r>
            <a:r>
              <a:rPr lang="en-US" sz="2800" b="1" i="0">
                <a:solidFill>
                  <a:srgbClr val="172E45"/>
                </a:solidFill>
                <a:latin typeface="Arial" pitchFamily="34" charset="0"/>
                <a:ea typeface="Arial" pitchFamily="34" charset="-122"/>
                <a:cs typeface="Arial" pitchFamily="34" charset="-120"/>
              </a:rPr>
              <a:t>다시 읽습니다)</a:t>
            </a:r>
            <a:endParaRPr lang="en-US" sz="2800" dirty="0"/>
          </a:p>
        </p:txBody>
      </p:sp>
      <p:sp>
        <p:nvSpPr>
          <p:cNvPr id="4" name="Text 2"/>
          <p:cNvSpPr/>
          <p:nvPr/>
        </p:nvSpPr>
        <p:spPr>
          <a:xfrm>
            <a:off x="812712" y="1699285"/>
            <a:ext cx="6174414" cy="540897"/>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172E45"/>
                </a:solidFill>
                <a:latin typeface="Arial" pitchFamily="34" charset="0"/>
                <a:ea typeface="Arial" pitchFamily="34" charset="-122"/>
                <a:cs typeface="Arial" pitchFamily="34" charset="-120"/>
              </a:rPr>
              <a:t>두 방식은 점수 잣대가 달라 바로 더할 수 </a:t>
            </a:r>
            <a:r>
              <a:rPr lang="en-US" sz="1400">
                <a:solidFill>
                  <a:srgbClr val="172E45"/>
                </a:solidFill>
                <a:latin typeface="Arial" pitchFamily="34" charset="0"/>
                <a:ea typeface="Arial" pitchFamily="34" charset="-122"/>
                <a:cs typeface="Arial" pitchFamily="34" charset="-120"/>
              </a:rPr>
              <a:t>없습니다.</a:t>
            </a:r>
            <a:endParaRPr lang="en-US" sz="1400" dirty="0"/>
          </a:p>
        </p:txBody>
      </p:sp>
      <p:sp>
        <p:nvSpPr>
          <p:cNvPr id="5" name="Shape 3"/>
          <p:cNvSpPr/>
          <p:nvPr/>
        </p:nvSpPr>
        <p:spPr>
          <a:xfrm>
            <a:off x="6397537" y="2328994"/>
            <a:ext cx="0" cy="1782961"/>
          </a:xfrm>
          <a:prstGeom prst="line">
            <a:avLst/>
          </a:prstGeom>
          <a:noFill/>
          <a:ln w="6350">
            <a:solidFill>
              <a:srgbClr val="D9E1E8"/>
            </a:solidFill>
            <a:prstDash val="solid"/>
          </a:ln>
        </p:spPr>
        <p:txBody>
          <a:bodyPr/>
          <a:lstStyle/>
          <a:p>
            <a:endParaRPr/>
          </a:p>
        </p:txBody>
      </p:sp>
      <p:sp>
        <p:nvSpPr>
          <p:cNvPr id="6" name="Shape 4"/>
          <p:cNvSpPr/>
          <p:nvPr/>
        </p:nvSpPr>
        <p:spPr>
          <a:xfrm>
            <a:off x="812712" y="4108780"/>
            <a:ext cx="5588000" cy="0"/>
          </a:xfrm>
          <a:prstGeom prst="line">
            <a:avLst/>
          </a:prstGeom>
          <a:noFill/>
          <a:ln w="6350">
            <a:solidFill>
              <a:srgbClr val="D9E1E8"/>
            </a:solidFill>
            <a:prstDash val="solid"/>
          </a:ln>
        </p:spPr>
        <p:txBody>
          <a:bodyPr/>
          <a:lstStyle/>
          <a:p>
            <a:endParaRPr/>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19767" y="2336050"/>
          <a:ext cx="5573889" cy="1768850"/>
        </p:xfrm>
        <a:graphic>
          <a:graphicData uri="http://schemas.openxmlformats.org/drawingml/2006/table">
            <a:tbl>
              <a:tblPr/>
              <a:tblGrid>
                <a:gridCol w="1226256">
                  <a:extLst>
                    <a:ext uri="{9D8B030D-6E8A-4147-A177-3AD203B41FA5}">
                      <a16:colId xmlns:a16="http://schemas.microsoft.com/office/drawing/2014/main" val="20000"/>
                    </a:ext>
                  </a:extLst>
                </a:gridCol>
                <a:gridCol w="1449211">
                  <a:extLst>
                    <a:ext uri="{9D8B030D-6E8A-4147-A177-3AD203B41FA5}">
                      <a16:colId xmlns:a16="http://schemas.microsoft.com/office/drawing/2014/main" val="20001"/>
                    </a:ext>
                  </a:extLst>
                </a:gridCol>
                <a:gridCol w="1449211">
                  <a:extLst>
                    <a:ext uri="{9D8B030D-6E8A-4147-A177-3AD203B41FA5}">
                      <a16:colId xmlns:a16="http://schemas.microsoft.com/office/drawing/2014/main" val="20002"/>
                    </a:ext>
                  </a:extLst>
                </a:gridCol>
                <a:gridCol w="1449211">
                  <a:extLst>
                    <a:ext uri="{9D8B030D-6E8A-4147-A177-3AD203B41FA5}">
                      <a16:colId xmlns:a16="http://schemas.microsoft.com/office/drawing/2014/main" val="20003"/>
                    </a:ext>
                  </a:extLst>
                </a:gridCol>
              </a:tblGrid>
              <a:tr h="353770">
                <a:tc>
                  <a:txBody>
                    <a:bodyPr/>
                    <a:lstStyle/>
                    <a:p>
                      <a:pPr marL="0" indent="0">
                        <a:lnSpc>
                          <a:spcPts val="1820"/>
                        </a:lnSpc>
                        <a:buNone/>
                      </a:pPr>
                      <a:r>
                        <a:rPr lang="en-US" sz="1300" b="1" dirty="0">
                          <a:solidFill>
                            <a:srgbClr val="F7F9FB"/>
                          </a:solidFill>
                          <a:latin typeface="Arial" pitchFamily="34" charset="0"/>
                          <a:ea typeface="Arial" pitchFamily="34" charset="-122"/>
                          <a:cs typeface="Arial" pitchFamily="34" charset="-120"/>
                        </a:rPr>
                        <a:t>순위</a:t>
                      </a:r>
                      <a:endParaRPr lang="en-US" sz="1300" dirty="0">
                        <a:latin typeface="Arial" charset="0"/>
                        <a:ea typeface="Arial" charset="0"/>
                        <a:cs typeface="Arial" charset="0"/>
                      </a:endParaRPr>
                    </a:p>
                  </a:txBody>
                  <a:tcPr marL="57785" marR="57785" marT="57785" marB="57785">
                    <a:lnL w="12700" cap="flat" cmpd="sng" algn="ctr">
                      <a:solidFill>
                        <a:srgbClr val="C5C7C8"/>
                      </a:solidFill>
                      <a:prstDash val="solid"/>
                      <a:round/>
                      <a:headEnd type="none" w="med" len="med"/>
                      <a:tailEnd type="none" w="med" len="med"/>
                    </a:lnL>
                    <a:lnR w="12700" cap="flat" cmpd="sng" algn="ctr">
                      <a:solidFill>
                        <a:srgbClr val="16283A"/>
                      </a:solidFill>
                      <a:prstDash val="solid"/>
                      <a:round/>
                      <a:headEnd type="none" w="med" len="med"/>
                      <a:tailEnd type="none" w="med" len="med"/>
                    </a:lnR>
                    <a:lnT w="12700" cap="flat" cmpd="sng" algn="ctr">
                      <a:solidFill>
                        <a:srgbClr val="C5C7C8"/>
                      </a:solidFill>
                      <a:prstDash val="solid"/>
                      <a:round/>
                      <a:headEnd type="none" w="med" len="med"/>
                      <a:tailEnd type="none" w="med" len="med"/>
                    </a:lnT>
                    <a:lnB w="12700" cap="flat" cmpd="sng" algn="ctr">
                      <a:solidFill>
                        <a:srgbClr val="16283A"/>
                      </a:solidFill>
                      <a:prstDash val="solid"/>
                      <a:round/>
                      <a:headEnd type="none" w="med" len="med"/>
                      <a:tailEnd type="none" w="med" len="med"/>
                    </a:lnB>
                    <a:solidFill>
                      <a:srgbClr val="172E45"/>
                    </a:solidFill>
                  </a:tcPr>
                </a:tc>
                <a:tc>
                  <a:txBody>
                    <a:bodyPr/>
                    <a:lstStyle/>
                    <a:p>
                      <a:pPr marL="0" indent="0">
                        <a:lnSpc>
                          <a:spcPts val="1820"/>
                        </a:lnSpc>
                        <a:buNone/>
                      </a:pPr>
                      <a:r>
                        <a:rPr lang="en-US" sz="1300" b="1" dirty="0">
                          <a:solidFill>
                            <a:srgbClr val="F7F9FB"/>
                          </a:solidFill>
                          <a:latin typeface="Arial" pitchFamily="34" charset="0"/>
                          <a:ea typeface="Arial" pitchFamily="34" charset="-122"/>
                          <a:cs typeface="Arial" pitchFamily="34" charset="-120"/>
                        </a:rPr>
                        <a:t>뜻 검색</a:t>
                      </a:r>
                      <a:endParaRPr lang="en-US" sz="1300" dirty="0">
                        <a:latin typeface="Arial" charset="0"/>
                        <a:ea typeface="Arial" charset="0"/>
                        <a:cs typeface="Arial" charset="0"/>
                      </a:endParaRPr>
                    </a:p>
                  </a:txBody>
                  <a:tcPr marL="57785" marR="57785" marT="57785" marB="57785">
                    <a:lnL w="12700" cap="flat" cmpd="sng" algn="ctr">
                      <a:solidFill>
                        <a:srgbClr val="16283A"/>
                      </a:solidFill>
                      <a:prstDash val="solid"/>
                      <a:round/>
                      <a:headEnd type="none" w="med" len="med"/>
                      <a:tailEnd type="none" w="med" len="med"/>
                    </a:lnL>
                    <a:lnR w="12700" cap="flat" cmpd="sng" algn="ctr">
                      <a:solidFill>
                        <a:srgbClr val="16283A"/>
                      </a:solidFill>
                      <a:prstDash val="solid"/>
                      <a:round/>
                      <a:headEnd type="none" w="med" len="med"/>
                      <a:tailEnd type="none" w="med" len="med"/>
                    </a:lnR>
                    <a:lnT w="12700" cap="flat" cmpd="sng" algn="ctr">
                      <a:solidFill>
                        <a:srgbClr val="C5C7C8"/>
                      </a:solidFill>
                      <a:prstDash val="solid"/>
                      <a:round/>
                      <a:headEnd type="none" w="med" len="med"/>
                      <a:tailEnd type="none" w="med" len="med"/>
                    </a:lnT>
                    <a:lnB w="12700" cap="flat" cmpd="sng" algn="ctr">
                      <a:solidFill>
                        <a:srgbClr val="16283A"/>
                      </a:solidFill>
                      <a:prstDash val="solid"/>
                      <a:round/>
                      <a:headEnd type="none" w="med" len="med"/>
                      <a:tailEnd type="none" w="med" len="med"/>
                    </a:lnB>
                    <a:solidFill>
                      <a:srgbClr val="172E45"/>
                    </a:solidFill>
                  </a:tcPr>
                </a:tc>
                <a:tc>
                  <a:txBody>
                    <a:bodyPr/>
                    <a:lstStyle/>
                    <a:p>
                      <a:pPr marL="0" indent="0">
                        <a:lnSpc>
                          <a:spcPts val="1820"/>
                        </a:lnSpc>
                        <a:buNone/>
                      </a:pPr>
                      <a:r>
                        <a:rPr lang="en-US" sz="1300" b="1" dirty="0">
                          <a:solidFill>
                            <a:srgbClr val="F7F9FB"/>
                          </a:solidFill>
                          <a:latin typeface="Arial" pitchFamily="34" charset="0"/>
                          <a:ea typeface="Arial" pitchFamily="34" charset="-122"/>
                          <a:cs typeface="Arial" pitchFamily="34" charset="-120"/>
                        </a:rPr>
                        <a:t>단어 검색</a:t>
                      </a:r>
                      <a:endParaRPr lang="en-US" sz="1300" dirty="0">
                        <a:latin typeface="Arial" charset="0"/>
                        <a:ea typeface="Arial" charset="0"/>
                        <a:cs typeface="Arial" charset="0"/>
                      </a:endParaRPr>
                    </a:p>
                  </a:txBody>
                  <a:tcPr marL="57785" marR="57785" marT="57785" marB="57785">
                    <a:lnL w="12700" cap="flat" cmpd="sng" algn="ctr">
                      <a:solidFill>
                        <a:srgbClr val="16283A"/>
                      </a:solidFill>
                      <a:prstDash val="solid"/>
                      <a:round/>
                      <a:headEnd type="none" w="med" len="med"/>
                      <a:tailEnd type="none" w="med" len="med"/>
                    </a:lnL>
                    <a:lnR w="12700" cap="flat" cmpd="sng" algn="ctr">
                      <a:solidFill>
                        <a:srgbClr val="16283A"/>
                      </a:solidFill>
                      <a:prstDash val="solid"/>
                      <a:round/>
                      <a:headEnd type="none" w="med" len="med"/>
                      <a:tailEnd type="none" w="med" len="med"/>
                    </a:lnR>
                    <a:lnT w="12700" cap="flat" cmpd="sng" algn="ctr">
                      <a:solidFill>
                        <a:srgbClr val="C5C7C8"/>
                      </a:solidFill>
                      <a:prstDash val="solid"/>
                      <a:round/>
                      <a:headEnd type="none" w="med" len="med"/>
                      <a:tailEnd type="none" w="med" len="med"/>
                    </a:lnT>
                    <a:lnB w="12700" cap="flat" cmpd="sng" algn="ctr">
                      <a:solidFill>
                        <a:srgbClr val="16283A"/>
                      </a:solidFill>
                      <a:prstDash val="solid"/>
                      <a:round/>
                      <a:headEnd type="none" w="med" len="med"/>
                      <a:tailEnd type="none" w="med" len="med"/>
                    </a:lnB>
                    <a:solidFill>
                      <a:srgbClr val="172E45"/>
                    </a:solidFill>
                  </a:tcPr>
                </a:tc>
                <a:tc>
                  <a:txBody>
                    <a:bodyPr/>
                    <a:lstStyle/>
                    <a:p>
                      <a:pPr marL="0" indent="0">
                        <a:lnSpc>
                          <a:spcPts val="1820"/>
                        </a:lnSpc>
                        <a:buNone/>
                      </a:pPr>
                      <a:r>
                        <a:rPr lang="en-US" sz="1300" b="1" dirty="0">
                          <a:solidFill>
                            <a:srgbClr val="F7F9FB"/>
                          </a:solidFill>
                          <a:latin typeface="Arial" pitchFamily="34" charset="0"/>
                          <a:ea typeface="Arial" pitchFamily="34" charset="-122"/>
                          <a:cs typeface="Arial" pitchFamily="34" charset="-120"/>
                        </a:rPr>
                        <a:t>합친 순위</a:t>
                      </a:r>
                      <a:endParaRPr lang="en-US" sz="1300" dirty="0">
                        <a:latin typeface="Arial" charset="0"/>
                        <a:ea typeface="Arial" charset="0"/>
                        <a:cs typeface="Arial" charset="0"/>
                      </a:endParaRPr>
                    </a:p>
                  </a:txBody>
                  <a:tcPr marL="57785" marR="57785" marT="57785" marB="57785">
                    <a:lnL w="12700" cap="flat" cmpd="sng" algn="ctr">
                      <a:solidFill>
                        <a:srgbClr val="16283A"/>
                      </a:solidFill>
                      <a:prstDash val="solid"/>
                      <a:round/>
                      <a:headEnd type="none" w="med" len="med"/>
                      <a:tailEnd type="none" w="med" len="med"/>
                    </a:lnL>
                    <a:lnR w="12700" cap="flat" cmpd="sng" algn="ctr">
                      <a:solidFill>
                        <a:srgbClr val="16283A"/>
                      </a:solidFill>
                      <a:prstDash val="solid"/>
                      <a:round/>
                      <a:headEnd type="none" w="med" len="med"/>
                      <a:tailEnd type="none" w="med" len="med"/>
                    </a:lnR>
                    <a:lnT w="12700" cap="flat" cmpd="sng" algn="ctr">
                      <a:solidFill>
                        <a:srgbClr val="C5C7C8"/>
                      </a:solidFill>
                      <a:prstDash val="solid"/>
                      <a:round/>
                      <a:headEnd type="none" w="med" len="med"/>
                      <a:tailEnd type="none" w="med" len="med"/>
                    </a:lnT>
                    <a:lnB w="12700" cap="flat" cmpd="sng" algn="ctr">
                      <a:solidFill>
                        <a:srgbClr val="16283A"/>
                      </a:solidFill>
                      <a:prstDash val="solid"/>
                      <a:round/>
                      <a:headEnd type="none" w="med" len="med"/>
                      <a:tailEnd type="none" w="med" len="med"/>
                    </a:lnB>
                    <a:solidFill>
                      <a:srgbClr val="172E45"/>
                    </a:solidFill>
                  </a:tcPr>
                </a:tc>
                <a:extLst>
                  <a:ext uri="{0D108BD9-81ED-4DB2-BD59-A6C34878D82A}">
                    <a16:rowId xmlns:a16="http://schemas.microsoft.com/office/drawing/2014/main" val="10000"/>
                  </a:ext>
                </a:extLst>
              </a:tr>
              <a:tr h="353770">
                <a:tc>
                  <a:txBody>
                    <a:bodyPr/>
                    <a:lstStyle/>
                    <a:p>
                      <a:pPr marL="0" indent="0">
                        <a:lnSpc>
                          <a:spcPts val="1820"/>
                        </a:lnSpc>
                        <a:buNone/>
                      </a:pPr>
                      <a:r>
                        <a:rPr lang="en-US" sz="1300" dirty="0">
                          <a:solidFill>
                            <a:srgbClr val="172E45"/>
                          </a:solidFill>
                          <a:latin typeface="Arial" pitchFamily="34" charset="0"/>
                          <a:ea typeface="Arial" pitchFamily="34" charset="-122"/>
                          <a:cs typeface="Arial" pitchFamily="34" charset="-120"/>
                        </a:rPr>
                        <a:t>1위</a:t>
                      </a:r>
                      <a:endParaRPr lang="en-US" sz="1300" dirty="0">
                        <a:latin typeface="Arial" charset="0"/>
                        <a:ea typeface="Arial" charset="0"/>
                        <a:cs typeface="Arial" charset="0"/>
                      </a:endParaRPr>
                    </a:p>
                  </a:txBody>
                  <a:tcPr marL="57785" marR="57785" marT="57785" marB="57785">
                    <a:lnL w="12700" cap="flat" cmpd="sng" algn="ctr">
                      <a:solidFill>
                        <a:srgbClr val="C5C7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6283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172E45"/>
                          </a:solidFill>
                          <a:latin typeface="Arial" pitchFamily="34" charset="0"/>
                          <a:ea typeface="Arial" pitchFamily="34" charset="-122"/>
                          <a:cs typeface="Arial" pitchFamily="34" charset="-120"/>
                        </a:rPr>
                        <a:t>조각 A</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6283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172E45"/>
                          </a:solidFill>
                          <a:latin typeface="Arial" pitchFamily="34" charset="0"/>
                          <a:ea typeface="Arial" pitchFamily="34" charset="-122"/>
                          <a:cs typeface="Arial" pitchFamily="34" charset="-120"/>
                        </a:rPr>
                        <a:t>조각 B</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6283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172E45"/>
                          </a:solidFill>
                          <a:latin typeface="Arial" pitchFamily="34" charset="0"/>
                          <a:ea typeface="Arial" pitchFamily="34" charset="-122"/>
                          <a:cs typeface="Arial" pitchFamily="34" charset="-120"/>
                        </a:rPr>
                        <a:t>조각 B</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6283A"/>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53770">
                <a:tc>
                  <a:txBody>
                    <a:bodyPr/>
                    <a:lstStyle/>
                    <a:p>
                      <a:pPr marL="0" indent="0">
                        <a:lnSpc>
                          <a:spcPts val="1820"/>
                        </a:lnSpc>
                        <a:buNone/>
                      </a:pPr>
                      <a:r>
                        <a:rPr lang="en-US" sz="1300" dirty="0">
                          <a:solidFill>
                            <a:srgbClr val="172E45"/>
                          </a:solidFill>
                          <a:latin typeface="Arial" pitchFamily="34" charset="0"/>
                          <a:ea typeface="Arial" pitchFamily="34" charset="-122"/>
                          <a:cs typeface="Arial" pitchFamily="34" charset="-120"/>
                        </a:rPr>
                        <a:t>2위</a:t>
                      </a:r>
                      <a:endParaRPr lang="en-US" sz="1300" dirty="0">
                        <a:latin typeface="Arial" charset="0"/>
                        <a:ea typeface="Arial" charset="0"/>
                        <a:cs typeface="Arial" charset="0"/>
                      </a:endParaRPr>
                    </a:p>
                  </a:txBody>
                  <a:tcPr marL="57785" marR="57785" marT="57785" marB="57785">
                    <a:lnL w="12700" cap="flat" cmpd="sng" algn="ctr">
                      <a:solidFill>
                        <a:srgbClr val="C5C7C8"/>
                      </a:solidFill>
                      <a:prstDash val="solid"/>
                      <a:round/>
                      <a:headEnd type="none" w="med" len="med"/>
                      <a:tailEnd type="none" w="med" len="med"/>
                    </a:lnL>
                    <a:lnR w="12700" cap="flat" cmpd="sng" algn="ctr">
                      <a:solidFill>
                        <a:srgbClr val="BDC1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DC1C4"/>
                      </a:solidFill>
                      <a:prstDash val="solid"/>
                      <a:round/>
                      <a:headEnd type="none" w="med" len="med"/>
                      <a:tailEnd type="none" w="med" len="med"/>
                    </a:lnB>
                    <a:solidFill>
                      <a:srgbClr val="EDF2F6"/>
                    </a:solidFill>
                  </a:tcPr>
                </a:tc>
                <a:tc>
                  <a:txBody>
                    <a:bodyPr/>
                    <a:lstStyle/>
                    <a:p>
                      <a:pPr marL="0" indent="0">
                        <a:lnSpc>
                          <a:spcPts val="1820"/>
                        </a:lnSpc>
                        <a:buNone/>
                      </a:pPr>
                      <a:r>
                        <a:rPr lang="en-US" sz="1300" dirty="0">
                          <a:solidFill>
                            <a:srgbClr val="172E45"/>
                          </a:solidFill>
                          <a:latin typeface="Arial" pitchFamily="34" charset="0"/>
                          <a:ea typeface="Arial" pitchFamily="34" charset="-122"/>
                          <a:cs typeface="Arial" pitchFamily="34" charset="-120"/>
                        </a:rPr>
                        <a:t>조각 B</a:t>
                      </a:r>
                      <a:endParaRPr lang="en-US" sz="1300" dirty="0">
                        <a:latin typeface="Arial" charset="0"/>
                        <a:ea typeface="Arial" charset="0"/>
                        <a:cs typeface="Arial" charset="0"/>
                      </a:endParaRPr>
                    </a:p>
                  </a:txBody>
                  <a:tcPr marL="57785" marR="57785" marT="57785" marB="57785">
                    <a:lnL w="12700" cap="flat" cmpd="sng" algn="ctr">
                      <a:solidFill>
                        <a:srgbClr val="BDC1C4"/>
                      </a:solidFill>
                      <a:prstDash val="solid"/>
                      <a:round/>
                      <a:headEnd type="none" w="med" len="med"/>
                      <a:tailEnd type="none" w="med" len="med"/>
                    </a:lnL>
                    <a:lnR w="12700" cap="flat" cmpd="sng" algn="ctr">
                      <a:solidFill>
                        <a:srgbClr val="BDC1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DC1C4"/>
                      </a:solidFill>
                      <a:prstDash val="solid"/>
                      <a:round/>
                      <a:headEnd type="none" w="med" len="med"/>
                      <a:tailEnd type="none" w="med" len="med"/>
                    </a:lnB>
                    <a:solidFill>
                      <a:srgbClr val="EDF2F6"/>
                    </a:solidFill>
                  </a:tcPr>
                </a:tc>
                <a:tc>
                  <a:txBody>
                    <a:bodyPr/>
                    <a:lstStyle/>
                    <a:p>
                      <a:pPr marL="0" indent="0">
                        <a:lnSpc>
                          <a:spcPts val="1820"/>
                        </a:lnSpc>
                        <a:buNone/>
                      </a:pPr>
                      <a:r>
                        <a:rPr lang="en-US" sz="1300" dirty="0">
                          <a:solidFill>
                            <a:srgbClr val="172E45"/>
                          </a:solidFill>
                          <a:latin typeface="Arial" pitchFamily="34" charset="0"/>
                          <a:ea typeface="Arial" pitchFamily="34" charset="-122"/>
                          <a:cs typeface="Arial" pitchFamily="34" charset="-120"/>
                        </a:rPr>
                        <a:t>조각 D</a:t>
                      </a:r>
                      <a:endParaRPr lang="en-US" sz="1300" dirty="0">
                        <a:latin typeface="Arial" charset="0"/>
                        <a:ea typeface="Arial" charset="0"/>
                        <a:cs typeface="Arial" charset="0"/>
                      </a:endParaRPr>
                    </a:p>
                  </a:txBody>
                  <a:tcPr marL="57785" marR="57785" marT="57785" marB="57785">
                    <a:lnL w="12700" cap="flat" cmpd="sng" algn="ctr">
                      <a:solidFill>
                        <a:srgbClr val="BDC1C4"/>
                      </a:solidFill>
                      <a:prstDash val="solid"/>
                      <a:round/>
                      <a:headEnd type="none" w="med" len="med"/>
                      <a:tailEnd type="none" w="med" len="med"/>
                    </a:lnL>
                    <a:lnR w="12700" cap="flat" cmpd="sng" algn="ctr">
                      <a:solidFill>
                        <a:srgbClr val="BDC1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DC1C4"/>
                      </a:solidFill>
                      <a:prstDash val="solid"/>
                      <a:round/>
                      <a:headEnd type="none" w="med" len="med"/>
                      <a:tailEnd type="none" w="med" len="med"/>
                    </a:lnB>
                    <a:solidFill>
                      <a:srgbClr val="EDF2F6"/>
                    </a:solidFill>
                  </a:tcPr>
                </a:tc>
                <a:tc>
                  <a:txBody>
                    <a:bodyPr/>
                    <a:lstStyle/>
                    <a:p>
                      <a:pPr marL="0" indent="0">
                        <a:lnSpc>
                          <a:spcPts val="1820"/>
                        </a:lnSpc>
                        <a:buNone/>
                      </a:pPr>
                      <a:r>
                        <a:rPr lang="en-US" sz="1300" dirty="0">
                          <a:solidFill>
                            <a:srgbClr val="172E45"/>
                          </a:solidFill>
                          <a:latin typeface="Arial" pitchFamily="34" charset="0"/>
                          <a:ea typeface="Arial" pitchFamily="34" charset="-122"/>
                          <a:cs typeface="Arial" pitchFamily="34" charset="-120"/>
                        </a:rPr>
                        <a:t>조각 A</a:t>
                      </a:r>
                      <a:endParaRPr lang="en-US" sz="1300" dirty="0">
                        <a:latin typeface="Arial" charset="0"/>
                        <a:ea typeface="Arial" charset="0"/>
                        <a:cs typeface="Arial" charset="0"/>
                      </a:endParaRPr>
                    </a:p>
                  </a:txBody>
                  <a:tcPr marL="57785" marR="57785" marT="57785" marB="57785">
                    <a:lnL w="12700" cap="flat" cmpd="sng" algn="ctr">
                      <a:solidFill>
                        <a:srgbClr val="BDC1C4"/>
                      </a:solidFill>
                      <a:prstDash val="solid"/>
                      <a:round/>
                      <a:headEnd type="none" w="med" len="med"/>
                      <a:tailEnd type="none" w="med" len="med"/>
                    </a:lnL>
                    <a:lnR w="12700" cap="flat" cmpd="sng" algn="ctr">
                      <a:solidFill>
                        <a:srgbClr val="BDC1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DC1C4"/>
                      </a:solidFill>
                      <a:prstDash val="solid"/>
                      <a:round/>
                      <a:headEnd type="none" w="med" len="med"/>
                      <a:tailEnd type="none" w="med" len="med"/>
                    </a:lnB>
                    <a:solidFill>
                      <a:srgbClr val="EDF2F6"/>
                    </a:solidFill>
                  </a:tcPr>
                </a:tc>
                <a:extLst>
                  <a:ext uri="{0D108BD9-81ED-4DB2-BD59-A6C34878D82A}">
                    <a16:rowId xmlns:a16="http://schemas.microsoft.com/office/drawing/2014/main" val="10002"/>
                  </a:ext>
                </a:extLst>
              </a:tr>
              <a:tr h="353770">
                <a:tc>
                  <a:txBody>
                    <a:bodyPr/>
                    <a:lstStyle/>
                    <a:p>
                      <a:pPr marL="0" indent="0">
                        <a:lnSpc>
                          <a:spcPts val="1820"/>
                        </a:lnSpc>
                        <a:buNone/>
                      </a:pPr>
                      <a:r>
                        <a:rPr lang="en-US" sz="1300" dirty="0">
                          <a:solidFill>
                            <a:srgbClr val="172E45"/>
                          </a:solidFill>
                          <a:latin typeface="Arial" pitchFamily="34" charset="0"/>
                          <a:ea typeface="Arial" pitchFamily="34" charset="-122"/>
                          <a:cs typeface="Arial" pitchFamily="34" charset="-120"/>
                        </a:rPr>
                        <a:t>3위</a:t>
                      </a:r>
                      <a:endParaRPr lang="en-US" sz="1300" dirty="0">
                        <a:latin typeface="Arial" charset="0"/>
                        <a:ea typeface="Arial" charset="0"/>
                        <a:cs typeface="Arial" charset="0"/>
                      </a:endParaRPr>
                    </a:p>
                  </a:txBody>
                  <a:tcPr marL="57785" marR="57785" marT="57785" marB="57785">
                    <a:lnL w="12700" cap="flat" cmpd="sng" algn="ctr">
                      <a:solidFill>
                        <a:srgbClr val="C5C7C8"/>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DC1C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172E45"/>
                          </a:solidFill>
                          <a:latin typeface="Arial" pitchFamily="34" charset="0"/>
                          <a:ea typeface="Arial" pitchFamily="34" charset="-122"/>
                          <a:cs typeface="Arial" pitchFamily="34" charset="-120"/>
                        </a:rPr>
                        <a:t>조각 C</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DC1C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172E45"/>
                          </a:solidFill>
                          <a:latin typeface="Arial" pitchFamily="34" charset="0"/>
                          <a:ea typeface="Arial" pitchFamily="34" charset="-122"/>
                          <a:cs typeface="Arial" pitchFamily="34" charset="-120"/>
                        </a:rPr>
                        <a:t>조각 A</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DC1C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marL="0" indent="0">
                        <a:lnSpc>
                          <a:spcPts val="1820"/>
                        </a:lnSpc>
                        <a:buNone/>
                      </a:pPr>
                      <a:r>
                        <a:rPr lang="en-US" sz="1300" dirty="0">
                          <a:solidFill>
                            <a:srgbClr val="172E45"/>
                          </a:solidFill>
                          <a:latin typeface="Arial" pitchFamily="34" charset="0"/>
                          <a:ea typeface="Arial" pitchFamily="34" charset="-122"/>
                          <a:cs typeface="Arial" pitchFamily="34" charset="-120"/>
                        </a:rPr>
                        <a:t>조각 D</a:t>
                      </a:r>
                      <a:endParaRPr lang="en-US" sz="1300" dirty="0">
                        <a:latin typeface="Arial" charset="0"/>
                        <a:ea typeface="Arial" charset="0"/>
                        <a:cs typeface="Arial" charset="0"/>
                      </a:endParaRPr>
                    </a:p>
                  </a:txBody>
                  <a:tcPr marL="57785" marR="57785" marT="57785" marB="57785">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DC1C4"/>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53770">
                <a:tc>
                  <a:txBody>
                    <a:bodyPr/>
                    <a:lstStyle/>
                    <a:p>
                      <a:pPr marL="0" indent="0">
                        <a:lnSpc>
                          <a:spcPts val="1820"/>
                        </a:lnSpc>
                        <a:buNone/>
                      </a:pPr>
                      <a:r>
                        <a:rPr lang="en-US" sz="1300" dirty="0">
                          <a:solidFill>
                            <a:srgbClr val="172E45"/>
                          </a:solidFill>
                          <a:latin typeface="Arial" pitchFamily="34" charset="0"/>
                          <a:ea typeface="Arial" pitchFamily="34" charset="-122"/>
                          <a:cs typeface="Arial" pitchFamily="34" charset="-120"/>
                        </a:rPr>
                        <a:t>4위</a:t>
                      </a:r>
                      <a:endParaRPr lang="en-US" sz="1300" dirty="0">
                        <a:latin typeface="Arial" charset="0"/>
                        <a:ea typeface="Arial" charset="0"/>
                        <a:cs typeface="Arial" charset="0"/>
                      </a:endParaRPr>
                    </a:p>
                  </a:txBody>
                  <a:tcPr marL="57785" marR="57785" marT="57785" marB="57785">
                    <a:lnL w="12700" cap="flat" cmpd="sng" algn="ctr">
                      <a:solidFill>
                        <a:srgbClr val="C5C7C8"/>
                      </a:solidFill>
                      <a:prstDash val="solid"/>
                      <a:round/>
                      <a:headEnd type="none" w="med" len="med"/>
                      <a:tailEnd type="none" w="med" len="med"/>
                    </a:lnL>
                    <a:lnR w="12700" cap="flat" cmpd="sng" algn="ctr">
                      <a:solidFill>
                        <a:srgbClr val="BDC1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DC1C4"/>
                      </a:solidFill>
                      <a:prstDash val="solid"/>
                      <a:round/>
                      <a:headEnd type="none" w="med" len="med"/>
                      <a:tailEnd type="none" w="med" len="med"/>
                    </a:lnB>
                    <a:solidFill>
                      <a:srgbClr val="EDF2F6"/>
                    </a:solidFill>
                  </a:tcPr>
                </a:tc>
                <a:tc>
                  <a:txBody>
                    <a:bodyPr/>
                    <a:lstStyle/>
                    <a:p>
                      <a:pPr marL="0" indent="0">
                        <a:lnSpc>
                          <a:spcPts val="1820"/>
                        </a:lnSpc>
                        <a:buNone/>
                      </a:pPr>
                      <a:r>
                        <a:rPr lang="en-US" sz="1300" dirty="0">
                          <a:solidFill>
                            <a:srgbClr val="172E45"/>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57785" marR="57785" marT="57785" marB="57785">
                    <a:lnL w="12700" cap="flat" cmpd="sng" algn="ctr">
                      <a:solidFill>
                        <a:srgbClr val="BDC1C4"/>
                      </a:solidFill>
                      <a:prstDash val="solid"/>
                      <a:round/>
                      <a:headEnd type="none" w="med" len="med"/>
                      <a:tailEnd type="none" w="med" len="med"/>
                    </a:lnL>
                    <a:lnR w="12700" cap="flat" cmpd="sng" algn="ctr">
                      <a:solidFill>
                        <a:srgbClr val="BDC1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DC1C4"/>
                      </a:solidFill>
                      <a:prstDash val="solid"/>
                      <a:round/>
                      <a:headEnd type="none" w="med" len="med"/>
                      <a:tailEnd type="none" w="med" len="med"/>
                    </a:lnB>
                    <a:solidFill>
                      <a:srgbClr val="EDF2F6"/>
                    </a:solidFill>
                  </a:tcPr>
                </a:tc>
                <a:tc>
                  <a:txBody>
                    <a:bodyPr/>
                    <a:lstStyle/>
                    <a:p>
                      <a:pPr marL="0" indent="0">
                        <a:lnSpc>
                          <a:spcPts val="1820"/>
                        </a:lnSpc>
                        <a:buNone/>
                      </a:pPr>
                      <a:r>
                        <a:rPr lang="en-US" sz="1300" dirty="0">
                          <a:solidFill>
                            <a:srgbClr val="172E45"/>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57785" marR="57785" marT="57785" marB="57785">
                    <a:lnL w="12700" cap="flat" cmpd="sng" algn="ctr">
                      <a:solidFill>
                        <a:srgbClr val="BDC1C4"/>
                      </a:solidFill>
                      <a:prstDash val="solid"/>
                      <a:round/>
                      <a:headEnd type="none" w="med" len="med"/>
                      <a:tailEnd type="none" w="med" len="med"/>
                    </a:lnL>
                    <a:lnR w="12700" cap="flat" cmpd="sng" algn="ctr">
                      <a:solidFill>
                        <a:srgbClr val="BDC1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DC1C4"/>
                      </a:solidFill>
                      <a:prstDash val="solid"/>
                      <a:round/>
                      <a:headEnd type="none" w="med" len="med"/>
                      <a:tailEnd type="none" w="med" len="med"/>
                    </a:lnB>
                    <a:solidFill>
                      <a:srgbClr val="EDF2F6"/>
                    </a:solidFill>
                  </a:tcPr>
                </a:tc>
                <a:tc>
                  <a:txBody>
                    <a:bodyPr/>
                    <a:lstStyle/>
                    <a:p>
                      <a:pPr marL="0" indent="0">
                        <a:lnSpc>
                          <a:spcPts val="1820"/>
                        </a:lnSpc>
                        <a:buNone/>
                      </a:pPr>
                      <a:r>
                        <a:rPr lang="en-US" sz="1300" dirty="0">
                          <a:solidFill>
                            <a:srgbClr val="172E45"/>
                          </a:solidFill>
                          <a:latin typeface="Arial" pitchFamily="34" charset="0"/>
                          <a:ea typeface="Arial" pitchFamily="34" charset="-122"/>
                          <a:cs typeface="Arial" pitchFamily="34" charset="-120"/>
                        </a:rPr>
                        <a:t>조각 C</a:t>
                      </a:r>
                      <a:endParaRPr lang="en-US" sz="1300" dirty="0">
                        <a:latin typeface="Arial" charset="0"/>
                        <a:ea typeface="Arial" charset="0"/>
                        <a:cs typeface="Arial" charset="0"/>
                      </a:endParaRPr>
                    </a:p>
                  </a:txBody>
                  <a:tcPr marL="57785" marR="57785" marT="57785" marB="57785">
                    <a:lnL w="12700" cap="flat" cmpd="sng" algn="ctr">
                      <a:solidFill>
                        <a:srgbClr val="BDC1C4"/>
                      </a:solidFill>
                      <a:prstDash val="solid"/>
                      <a:round/>
                      <a:headEnd type="none" w="med" len="med"/>
                      <a:tailEnd type="none" w="med" len="med"/>
                    </a:lnL>
                    <a:lnR w="12700" cap="flat" cmpd="sng" algn="ctr">
                      <a:solidFill>
                        <a:srgbClr val="BDC1C4"/>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DC1C4"/>
                      </a:solidFill>
                      <a:prstDash val="solid"/>
                      <a:round/>
                      <a:headEnd type="none" w="med" len="med"/>
                      <a:tailEnd type="none" w="med" len="med"/>
                    </a:lnB>
                    <a:solidFill>
                      <a:srgbClr val="EDF2F6"/>
                    </a:solidFill>
                  </a:tcPr>
                </a:tc>
                <a:extLst>
                  <a:ext uri="{0D108BD9-81ED-4DB2-BD59-A6C34878D82A}">
                    <a16:rowId xmlns:a16="http://schemas.microsoft.com/office/drawing/2014/main" val="10004"/>
                  </a:ext>
                </a:extLst>
              </a:tr>
            </a:tbl>
          </a:graphicData>
        </a:graphic>
      </p:graphicFrame>
      <p:sp>
        <p:nvSpPr>
          <p:cNvPr id="8" name="Text 5"/>
          <p:cNvSpPr/>
          <p:nvPr/>
        </p:nvSpPr>
        <p:spPr>
          <a:xfrm>
            <a:off x="812712" y="4226167"/>
            <a:ext cx="6174414" cy="467034"/>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526478"/>
                </a:solidFill>
                <a:latin typeface="Arial" pitchFamily="34" charset="0"/>
                <a:ea typeface="Arial" pitchFamily="34" charset="-122"/>
                <a:cs typeface="Arial" pitchFamily="34" charset="-120"/>
              </a:rPr>
              <a:t>B는 2위 · 1위, A는 1위 · 3위로 양쪽 모두 상위권이라 앞으로 옵니다. 요구사항 번호가 정확히 맞는 조각은 항상 맨 앞에 둡니다.</a:t>
            </a:r>
            <a:endParaRPr lang="en-US" sz="1200" dirty="0"/>
          </a:p>
        </p:txBody>
      </p:sp>
      <p:sp>
        <p:nvSpPr>
          <p:cNvPr id="9" name="Text 6"/>
          <p:cNvSpPr/>
          <p:nvPr/>
        </p:nvSpPr>
        <p:spPr>
          <a:xfrm>
            <a:off x="7061288" y="1699285"/>
            <a:ext cx="4318000" cy="459603"/>
          </a:xfrm>
          <a:prstGeom prst="roundRect">
            <a:avLst>
              <a:gd name="adj" fmla="val 16580"/>
            </a:avLst>
          </a:prstGeom>
          <a:solidFill>
            <a:srgbClr val="D9E1E8"/>
          </a:solidFill>
          <a:ln/>
        </p:spPr>
        <p:txBody>
          <a:bodyPr wrap="square" lIns="69838" tIns="91982" rIns="69839" bIns="66405" rtlCol="0" anchor="t">
            <a:normAutofit/>
          </a:bodyPr>
          <a:lstStyle/>
          <a:p>
            <a:pPr marL="0" indent="0" algn="ctr">
              <a:lnSpc>
                <a:spcPts val="1820"/>
              </a:lnSpc>
              <a:buNone/>
            </a:pPr>
            <a:r>
              <a:rPr lang="en-US" sz="1300" dirty="0">
                <a:solidFill>
                  <a:srgbClr val="172E45"/>
                </a:solidFill>
                <a:latin typeface="Arial" pitchFamily="34" charset="0"/>
                <a:ea typeface="Arial" pitchFamily="34" charset="-122"/>
                <a:cs typeface="Arial" pitchFamily="34" charset="-120"/>
              </a:rPr>
              <a:t>검색 조각 19,364개 (기관 문서로 좁힘)</a:t>
            </a:r>
            <a:endParaRPr lang="en-US" sz="1300" dirty="0"/>
          </a:p>
        </p:txBody>
      </p:sp>
      <p:pic>
        <p:nvPicPr>
          <p:cNvPr id="10" name="Image 0" descr="arrow-down"/>
          <p:cNvPicPr>
            <a:picLocks noChangeAspect="1"/>
          </p:cNvPicPr>
          <p:nvPr/>
        </p:nvPicPr>
        <p:blipFill>
          <a:blip r:embed="rId3"/>
          <a:srcRect/>
          <a:stretch/>
        </p:blipFill>
        <p:spPr>
          <a:xfrm>
            <a:off x="9131433" y="2235067"/>
            <a:ext cx="177712" cy="177712"/>
          </a:xfrm>
          <a:prstGeom prst="rect">
            <a:avLst/>
          </a:prstGeom>
        </p:spPr>
      </p:pic>
      <p:sp>
        <p:nvSpPr>
          <p:cNvPr id="11" name="Text 7"/>
          <p:cNvSpPr/>
          <p:nvPr/>
        </p:nvSpPr>
        <p:spPr>
          <a:xfrm>
            <a:off x="7315288" y="2488957"/>
            <a:ext cx="3810000" cy="459603"/>
          </a:xfrm>
          <a:prstGeom prst="roundRect">
            <a:avLst>
              <a:gd name="adj" fmla="val 16580"/>
            </a:avLst>
          </a:prstGeom>
          <a:solidFill>
            <a:srgbClr val="8FB3D9"/>
          </a:solidFill>
          <a:ln/>
        </p:spPr>
        <p:txBody>
          <a:bodyPr wrap="square" lIns="77458" tIns="91982" rIns="77458" bIns="66405" rtlCol="0" anchor="t">
            <a:normAutofit/>
          </a:bodyPr>
          <a:lstStyle/>
          <a:p>
            <a:pPr marL="0" indent="0" algn="ctr">
              <a:lnSpc>
                <a:spcPts val="1820"/>
              </a:lnSpc>
              <a:buNone/>
            </a:pPr>
            <a:r>
              <a:rPr lang="en-US" sz="1300" dirty="0">
                <a:solidFill>
                  <a:srgbClr val="172E45"/>
                </a:solidFill>
                <a:latin typeface="Arial" pitchFamily="34" charset="0"/>
                <a:ea typeface="Arial" pitchFamily="34" charset="-122"/>
                <a:cs typeface="Arial" pitchFamily="34" charset="-120"/>
              </a:rPr>
              <a:t>방식마다 후보 50개 → RRF로 합침</a:t>
            </a:r>
            <a:endParaRPr lang="en-US" sz="1300" dirty="0"/>
          </a:p>
        </p:txBody>
      </p:sp>
      <p:pic>
        <p:nvPicPr>
          <p:cNvPr id="12" name="Image 1" descr="arrow-down"/>
          <p:cNvPicPr>
            <a:picLocks noChangeAspect="1"/>
          </p:cNvPicPr>
          <p:nvPr/>
        </p:nvPicPr>
        <p:blipFill>
          <a:blip r:embed="rId3"/>
          <a:srcRect/>
          <a:stretch/>
        </p:blipFill>
        <p:spPr>
          <a:xfrm>
            <a:off x="9131433" y="3024738"/>
            <a:ext cx="177712" cy="177712"/>
          </a:xfrm>
          <a:prstGeom prst="rect">
            <a:avLst/>
          </a:prstGeom>
        </p:spPr>
      </p:pic>
      <p:sp>
        <p:nvSpPr>
          <p:cNvPr id="13" name="Text 8"/>
          <p:cNvSpPr/>
          <p:nvPr/>
        </p:nvSpPr>
        <p:spPr>
          <a:xfrm>
            <a:off x="7569288" y="3278628"/>
            <a:ext cx="3302000" cy="459603"/>
          </a:xfrm>
          <a:prstGeom prst="roundRect">
            <a:avLst>
              <a:gd name="adj" fmla="val 16580"/>
            </a:avLst>
          </a:prstGeom>
          <a:solidFill>
            <a:srgbClr val="1764A3"/>
          </a:solidFill>
          <a:ln/>
        </p:spPr>
        <p:txBody>
          <a:bodyPr wrap="square" lIns="85078" tIns="91982" rIns="85078" bIns="66405" rtlCol="0" anchor="t">
            <a:normAutofit/>
          </a:bodyPr>
          <a:lstStyle/>
          <a:p>
            <a:pPr marL="0" indent="0" algn="ctr">
              <a:lnSpc>
                <a:spcPts val="1820"/>
              </a:lnSpc>
              <a:buNone/>
            </a:pPr>
            <a:r>
              <a:rPr lang="en-US" sz="1300" dirty="0">
                <a:solidFill>
                  <a:srgbClr val="F7F9FB"/>
                </a:solidFill>
                <a:latin typeface="Arial" pitchFamily="34" charset="0"/>
                <a:ea typeface="Arial" pitchFamily="34" charset="-122"/>
                <a:cs typeface="Arial" pitchFamily="34" charset="-120"/>
              </a:rPr>
              <a:t>상위 30개 리랭커로 정독</a:t>
            </a:r>
            <a:endParaRPr lang="en-US" sz="1300" dirty="0"/>
          </a:p>
        </p:txBody>
      </p:sp>
      <p:pic>
        <p:nvPicPr>
          <p:cNvPr id="14" name="Image 2" descr="arrow-down"/>
          <p:cNvPicPr>
            <a:picLocks noChangeAspect="1"/>
          </p:cNvPicPr>
          <p:nvPr/>
        </p:nvPicPr>
        <p:blipFill>
          <a:blip r:embed="rId3"/>
          <a:srcRect/>
          <a:stretch/>
        </p:blipFill>
        <p:spPr>
          <a:xfrm>
            <a:off x="9131433" y="3814409"/>
            <a:ext cx="177712" cy="177712"/>
          </a:xfrm>
          <a:prstGeom prst="rect">
            <a:avLst/>
          </a:prstGeom>
        </p:spPr>
      </p:pic>
      <p:sp>
        <p:nvSpPr>
          <p:cNvPr id="15" name="Text 9"/>
          <p:cNvSpPr/>
          <p:nvPr/>
        </p:nvSpPr>
        <p:spPr>
          <a:xfrm>
            <a:off x="7823288" y="4068299"/>
            <a:ext cx="2794000" cy="459603"/>
          </a:xfrm>
          <a:prstGeom prst="roundRect">
            <a:avLst>
              <a:gd name="adj" fmla="val 16580"/>
            </a:avLst>
          </a:prstGeom>
          <a:solidFill>
            <a:srgbClr val="172E45"/>
          </a:solidFill>
          <a:ln/>
        </p:spPr>
        <p:txBody>
          <a:bodyPr wrap="square" lIns="92698" tIns="91982" rIns="92698" bIns="66405" rtlCol="0" anchor="t">
            <a:normAutofit/>
          </a:bodyPr>
          <a:lstStyle/>
          <a:p>
            <a:pPr marL="0" indent="0" algn="ctr">
              <a:lnSpc>
                <a:spcPts val="1820"/>
              </a:lnSpc>
              <a:buNone/>
            </a:pPr>
            <a:r>
              <a:rPr lang="en-US" sz="1300" dirty="0">
                <a:solidFill>
                  <a:srgbClr val="F7F9FB"/>
                </a:solidFill>
                <a:latin typeface="Arial" pitchFamily="34" charset="0"/>
                <a:ea typeface="Arial" pitchFamily="34" charset="-122"/>
                <a:cs typeface="Arial" pitchFamily="34" charset="-120"/>
              </a:rPr>
              <a:t>2,500토큰 근거 전달</a:t>
            </a:r>
            <a:endParaRPr lang="en-US" sz="1300" dirty="0"/>
          </a:p>
        </p:txBody>
      </p:sp>
      <p:sp>
        <p:nvSpPr>
          <p:cNvPr id="16" name="Text 10"/>
          <p:cNvSpPr/>
          <p:nvPr/>
        </p:nvSpPr>
        <p:spPr>
          <a:xfrm>
            <a:off x="6987126" y="4604080"/>
            <a:ext cx="4466325" cy="23861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526478"/>
                </a:solidFill>
                <a:latin typeface="Arial" pitchFamily="34" charset="0"/>
                <a:ea typeface="Arial" pitchFamily="34" charset="-122"/>
                <a:cs typeface="Arial" pitchFamily="34" charset="-120"/>
              </a:rPr>
              <a:t>리랭커 dragonkue/</a:t>
            </a:r>
            <a:r>
              <a:rPr lang="en-US" sz="1200">
                <a:solidFill>
                  <a:srgbClr val="526478"/>
                </a:solidFill>
                <a:latin typeface="Arial" pitchFamily="34" charset="0"/>
                <a:ea typeface="Arial" pitchFamily="34" charset="-122"/>
                <a:cs typeface="Arial" pitchFamily="34" charset="-120"/>
              </a:rPr>
              <a:t>bge-reranker-v2-m3-ko </a:t>
            </a:r>
            <a:endParaRPr lang="en-US" sz="1200" dirty="0"/>
          </a:p>
        </p:txBody>
      </p:sp>
      <p:sp>
        <p:nvSpPr>
          <p:cNvPr id="17" name="Text 11"/>
          <p:cNvSpPr/>
          <p:nvPr/>
        </p:nvSpPr>
        <p:spPr>
          <a:xfrm>
            <a:off x="812712" y="6238433"/>
            <a:ext cx="10883347" cy="2386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26478"/>
                </a:solidFill>
                <a:latin typeface="Arial" pitchFamily="34" charset="0"/>
                <a:ea typeface="Arial" pitchFamily="34" charset="-122"/>
                <a:cs typeface="Arial" pitchFamily="34" charset="-120"/>
              </a:rPr>
              <a:t>검색(Retrieval) 파트 발표 · 5 · RRF 점수 = Σ 1 / (60 + 순위) · 예시는 개념 설명용 · 리랭커는 설정으로 끌 수 있음</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EDF2F6"/>
        </a:solidFill>
        <a:effectLst/>
      </p:bgPr>
    </p:bg>
    <p:spTree>
      <p:nvGrpSpPr>
        <p:cNvPr id="1" name=""/>
        <p:cNvGrpSpPr/>
        <p:nvPr/>
      </p:nvGrpSpPr>
      <p:grpSpPr>
        <a:xfrm>
          <a:off x="0" y="0"/>
          <a:ext cx="0" cy="0"/>
          <a:chOff x="0" y="0"/>
          <a:chExt cx="0" cy="0"/>
        </a:xfrm>
      </p:grpSpPr>
      <p:sp>
        <p:nvSpPr>
          <p:cNvPr id="2" name="Text 0"/>
          <p:cNvSpPr/>
          <p:nvPr/>
        </p:nvSpPr>
        <p:spPr>
          <a:xfrm>
            <a:off x="812712" y="711178"/>
            <a:ext cx="10883574" cy="2565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764A3"/>
                </a:solidFill>
                <a:latin typeface="Arial" pitchFamily="34" charset="0"/>
                <a:ea typeface="Arial" pitchFamily="34" charset="-122"/>
                <a:cs typeface="Arial" pitchFamily="34" charset="-120"/>
              </a:rPr>
              <a:t>실수 방지</a:t>
            </a:r>
            <a:endParaRPr lang="en-US" sz="1300" dirty="0"/>
          </a:p>
        </p:txBody>
      </p:sp>
      <p:sp>
        <p:nvSpPr>
          <p:cNvPr id="3" name="Text 1"/>
          <p:cNvSpPr>
            <a:spLocks noGrp="1"/>
          </p:cNvSpPr>
          <p:nvPr>
            <p:ph type="title"/>
          </p:nvPr>
        </p:nvSpPr>
        <p:spPr>
          <a:xfrm>
            <a:off x="812712" y="1018536"/>
            <a:ext cx="10883574" cy="452151"/>
          </a:xfrm>
          <a:prstGeom prst="rect">
            <a:avLst/>
          </a:prstGeom>
          <a:noFill/>
          <a:ln/>
        </p:spPr>
        <p:txBody>
          <a:bodyPr wrap="square" lIns="0" tIns="0" rIns="0" bIns="0" rtlCol="0" anchor="t">
            <a:normAutofit/>
          </a:bodyPr>
          <a:lstStyle/>
          <a:p>
            <a:pPr marL="0" indent="0" algn="l">
              <a:lnSpc>
                <a:spcPts val="3360"/>
              </a:lnSpc>
              <a:buNone/>
            </a:pPr>
            <a:r>
              <a:rPr lang="en-US" sz="2800" b="1" i="0" dirty="0">
                <a:solidFill>
                  <a:srgbClr val="172E45"/>
                </a:solidFill>
                <a:latin typeface="Arial" pitchFamily="34" charset="0"/>
                <a:ea typeface="Arial" pitchFamily="34" charset="-122"/>
                <a:cs typeface="Arial" pitchFamily="34" charset="-120"/>
              </a:rPr>
              <a:t>틀리기 쉬운 곳에 안전장치를 두었습니다</a:t>
            </a:r>
            <a:endParaRPr lang="en-US" sz="2800" dirty="0"/>
          </a:p>
        </p:txBody>
      </p:sp>
      <p:sp>
        <p:nvSpPr>
          <p:cNvPr id="4" name="Shape 2"/>
          <p:cNvSpPr/>
          <p:nvPr/>
        </p:nvSpPr>
        <p:spPr>
          <a:xfrm>
            <a:off x="812712" y="1699289"/>
            <a:ext cx="3420622" cy="1508235"/>
          </a:xfrm>
          <a:prstGeom prst="roundRect">
            <a:avLst>
              <a:gd name="adj" fmla="val 6736"/>
            </a:avLst>
          </a:prstGeom>
          <a:solidFill>
            <a:srgbClr val="FFFFFF"/>
          </a:solidFill>
          <a:ln/>
        </p:spPr>
        <p:txBody>
          <a:bodyPr/>
          <a:lstStyle/>
          <a:p>
            <a:endParaRPr/>
          </a:p>
        </p:txBody>
      </p:sp>
      <p:pic>
        <p:nvPicPr>
          <p:cNvPr id="5" name="Image 0" descr="Link"/>
          <p:cNvPicPr>
            <a:picLocks noChangeAspect="1"/>
          </p:cNvPicPr>
          <p:nvPr/>
        </p:nvPicPr>
        <p:blipFill>
          <a:blip r:embed="rId3"/>
          <a:srcRect/>
          <a:stretch/>
        </p:blipFill>
        <p:spPr>
          <a:xfrm>
            <a:off x="1015890" y="1902467"/>
            <a:ext cx="279356" cy="279356"/>
          </a:xfrm>
          <a:prstGeom prst="rect">
            <a:avLst/>
          </a:prstGeom>
        </p:spPr>
      </p:pic>
      <p:sp>
        <p:nvSpPr>
          <p:cNvPr id="6" name="Text 3"/>
          <p:cNvSpPr/>
          <p:nvPr/>
        </p:nvSpPr>
        <p:spPr>
          <a:xfrm>
            <a:off x="1015890" y="2257999"/>
            <a:ext cx="3104694" cy="25393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72E45"/>
                </a:solidFill>
                <a:latin typeface="Arial" pitchFamily="34" charset="0"/>
                <a:ea typeface="Arial" pitchFamily="34" charset="-122"/>
                <a:cs typeface="Arial" pitchFamily="34" charset="-120"/>
              </a:rPr>
              <a:t>나뉜 요구사항 잇기</a:t>
            </a:r>
            <a:endParaRPr lang="en-US" sz="1500" dirty="0"/>
          </a:p>
        </p:txBody>
      </p:sp>
      <p:sp>
        <p:nvSpPr>
          <p:cNvPr id="7" name="Text 4"/>
          <p:cNvSpPr/>
          <p:nvPr/>
        </p:nvSpPr>
        <p:spPr>
          <a:xfrm>
            <a:off x="1015890" y="2562712"/>
            <a:ext cx="3104694" cy="467034"/>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526478"/>
                </a:solidFill>
                <a:latin typeface="Arial" pitchFamily="34" charset="0"/>
                <a:ea typeface="Arial" pitchFamily="34" charset="-122"/>
                <a:cs typeface="Arial" pitchFamily="34" charset="-120"/>
              </a:rPr>
              <a:t>요구사항 번호와 상세 내용이 다른 조각에 있어도 함께 가져옵니다</a:t>
            </a:r>
            <a:endParaRPr lang="en-US" sz="1200" dirty="0"/>
          </a:p>
        </p:txBody>
      </p:sp>
      <p:sp>
        <p:nvSpPr>
          <p:cNvPr id="8" name="Shape 5"/>
          <p:cNvSpPr/>
          <p:nvPr/>
        </p:nvSpPr>
        <p:spPr>
          <a:xfrm>
            <a:off x="4385689" y="1699289"/>
            <a:ext cx="3420622" cy="1508235"/>
          </a:xfrm>
          <a:prstGeom prst="roundRect">
            <a:avLst>
              <a:gd name="adj" fmla="val 6736"/>
            </a:avLst>
          </a:prstGeom>
          <a:solidFill>
            <a:srgbClr val="FFFFFF"/>
          </a:solidFill>
          <a:ln/>
        </p:spPr>
        <p:txBody>
          <a:bodyPr/>
          <a:lstStyle/>
          <a:p>
            <a:endParaRPr/>
          </a:p>
        </p:txBody>
      </p:sp>
      <p:pic>
        <p:nvPicPr>
          <p:cNvPr id="9" name="Image 1" descr="Database"/>
          <p:cNvPicPr>
            <a:picLocks noChangeAspect="1"/>
          </p:cNvPicPr>
          <p:nvPr/>
        </p:nvPicPr>
        <p:blipFill>
          <a:blip r:embed="rId4"/>
          <a:srcRect/>
          <a:stretch/>
        </p:blipFill>
        <p:spPr>
          <a:xfrm>
            <a:off x="4588868" y="1902467"/>
            <a:ext cx="279356" cy="279356"/>
          </a:xfrm>
          <a:prstGeom prst="rect">
            <a:avLst/>
          </a:prstGeom>
        </p:spPr>
      </p:pic>
      <p:sp>
        <p:nvSpPr>
          <p:cNvPr id="10" name="Text 6"/>
          <p:cNvSpPr/>
          <p:nvPr/>
        </p:nvSpPr>
        <p:spPr>
          <a:xfrm>
            <a:off x="4588868" y="2257999"/>
            <a:ext cx="3104694" cy="25393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72E45"/>
                </a:solidFill>
                <a:latin typeface="Arial" pitchFamily="34" charset="0"/>
                <a:ea typeface="Arial" pitchFamily="34" charset="-122"/>
                <a:cs typeface="Arial" pitchFamily="34" charset="-120"/>
              </a:rPr>
              <a:t>쪼개진 표 잇기</a:t>
            </a:r>
            <a:endParaRPr lang="en-US" sz="1500" dirty="0"/>
          </a:p>
        </p:txBody>
      </p:sp>
      <p:sp>
        <p:nvSpPr>
          <p:cNvPr id="11" name="Text 7"/>
          <p:cNvSpPr/>
          <p:nvPr/>
        </p:nvSpPr>
        <p:spPr>
          <a:xfrm>
            <a:off x="4588868" y="2562712"/>
            <a:ext cx="3104694" cy="467034"/>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526478"/>
                </a:solidFill>
                <a:latin typeface="Arial" pitchFamily="34" charset="0"/>
                <a:ea typeface="Arial" pitchFamily="34" charset="-122"/>
                <a:cs typeface="Arial" pitchFamily="34" charset="-120"/>
              </a:rPr>
              <a:t>6조각 이하로 나뉜 표는 나머지 부분도 함께 · 결과 하나당 600토큰까지</a:t>
            </a:r>
            <a:endParaRPr lang="en-US" sz="1200" dirty="0"/>
          </a:p>
        </p:txBody>
      </p:sp>
      <p:sp>
        <p:nvSpPr>
          <p:cNvPr id="12" name="Shape 8"/>
          <p:cNvSpPr/>
          <p:nvPr/>
        </p:nvSpPr>
        <p:spPr>
          <a:xfrm>
            <a:off x="7958667" y="1699289"/>
            <a:ext cx="3420622" cy="1508235"/>
          </a:xfrm>
          <a:prstGeom prst="roundRect">
            <a:avLst>
              <a:gd name="adj" fmla="val 6736"/>
            </a:avLst>
          </a:prstGeom>
          <a:solidFill>
            <a:srgbClr val="FFFFFF"/>
          </a:solidFill>
          <a:ln/>
        </p:spPr>
        <p:txBody>
          <a:bodyPr/>
          <a:lstStyle/>
          <a:p>
            <a:endParaRPr/>
          </a:p>
        </p:txBody>
      </p:sp>
      <p:pic>
        <p:nvPicPr>
          <p:cNvPr id="13" name="Image 2" descr="Warning"/>
          <p:cNvPicPr>
            <a:picLocks noChangeAspect="1"/>
          </p:cNvPicPr>
          <p:nvPr/>
        </p:nvPicPr>
        <p:blipFill>
          <a:blip r:embed="rId5"/>
          <a:srcRect/>
          <a:stretch/>
        </p:blipFill>
        <p:spPr>
          <a:xfrm>
            <a:off x="8161845" y="1902467"/>
            <a:ext cx="279356" cy="279356"/>
          </a:xfrm>
          <a:prstGeom prst="rect">
            <a:avLst/>
          </a:prstGeom>
        </p:spPr>
      </p:pic>
      <p:sp>
        <p:nvSpPr>
          <p:cNvPr id="14" name="Text 9"/>
          <p:cNvSpPr/>
          <p:nvPr/>
        </p:nvSpPr>
        <p:spPr>
          <a:xfrm>
            <a:off x="8161845" y="2257999"/>
            <a:ext cx="3104694" cy="25393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72E45"/>
                </a:solidFill>
                <a:latin typeface="Arial" pitchFamily="34" charset="0"/>
                <a:ea typeface="Arial" pitchFamily="34" charset="-122"/>
                <a:cs typeface="Arial" pitchFamily="34" charset="-120"/>
              </a:rPr>
              <a:t>‘2초’와 ‘5초’는 다른 내용</a:t>
            </a:r>
            <a:endParaRPr lang="en-US" sz="1500" dirty="0"/>
          </a:p>
        </p:txBody>
      </p:sp>
      <p:sp>
        <p:nvSpPr>
          <p:cNvPr id="15" name="Text 10"/>
          <p:cNvSpPr/>
          <p:nvPr/>
        </p:nvSpPr>
        <p:spPr>
          <a:xfrm>
            <a:off x="8161845" y="2562712"/>
            <a:ext cx="3104694" cy="467034"/>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526478"/>
                </a:solidFill>
                <a:latin typeface="Arial" pitchFamily="34" charset="0"/>
                <a:ea typeface="Arial" pitchFamily="34" charset="-122"/>
                <a:cs typeface="Arial" pitchFamily="34" charset="-120"/>
              </a:rPr>
              <a:t>비슷한 문장이라도 숫자나 ‘포함 / 불포함’이 다르면 둘 다 남깁니다</a:t>
            </a:r>
            <a:endParaRPr lang="en-US" sz="1200" dirty="0"/>
          </a:p>
        </p:txBody>
      </p:sp>
      <p:sp>
        <p:nvSpPr>
          <p:cNvPr id="16" name="Shape 11"/>
          <p:cNvSpPr/>
          <p:nvPr/>
        </p:nvSpPr>
        <p:spPr>
          <a:xfrm>
            <a:off x="812712" y="3359879"/>
            <a:ext cx="3420622" cy="1508235"/>
          </a:xfrm>
          <a:prstGeom prst="roundRect">
            <a:avLst>
              <a:gd name="adj" fmla="val 6736"/>
            </a:avLst>
          </a:prstGeom>
          <a:solidFill>
            <a:srgbClr val="FFFFFF"/>
          </a:solidFill>
          <a:ln/>
        </p:spPr>
        <p:txBody>
          <a:bodyPr/>
          <a:lstStyle/>
          <a:p>
            <a:endParaRPr/>
          </a:p>
        </p:txBody>
      </p:sp>
      <p:pic>
        <p:nvPicPr>
          <p:cNvPr id="17" name="Image 3" descr="Users"/>
          <p:cNvPicPr>
            <a:picLocks noChangeAspect="1"/>
          </p:cNvPicPr>
          <p:nvPr/>
        </p:nvPicPr>
        <p:blipFill>
          <a:blip r:embed="rId6"/>
          <a:srcRect/>
          <a:stretch/>
        </p:blipFill>
        <p:spPr>
          <a:xfrm>
            <a:off x="1015890" y="3563057"/>
            <a:ext cx="279356" cy="279356"/>
          </a:xfrm>
          <a:prstGeom prst="rect">
            <a:avLst/>
          </a:prstGeom>
        </p:spPr>
      </p:pic>
      <p:sp>
        <p:nvSpPr>
          <p:cNvPr id="18" name="Text 12"/>
          <p:cNvSpPr/>
          <p:nvPr/>
        </p:nvSpPr>
        <p:spPr>
          <a:xfrm>
            <a:off x="1015890" y="3918592"/>
            <a:ext cx="3104694" cy="25393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72E45"/>
                </a:solidFill>
                <a:latin typeface="Arial" pitchFamily="34" charset="0"/>
                <a:ea typeface="Arial" pitchFamily="34" charset="-122"/>
                <a:cs typeface="Arial" pitchFamily="34" charset="-120"/>
              </a:rPr>
              <a:t>기관 비교는 따로 찾기</a:t>
            </a:r>
            <a:endParaRPr lang="en-US" sz="1500" dirty="0"/>
          </a:p>
        </p:txBody>
      </p:sp>
      <p:sp>
        <p:nvSpPr>
          <p:cNvPr id="19" name="Text 13"/>
          <p:cNvSpPr/>
          <p:nvPr/>
        </p:nvSpPr>
        <p:spPr>
          <a:xfrm>
            <a:off x="1015890" y="4223302"/>
            <a:ext cx="3104694" cy="467034"/>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526478"/>
                </a:solidFill>
                <a:latin typeface="Arial" pitchFamily="34" charset="0"/>
                <a:ea typeface="Arial" pitchFamily="34" charset="-122"/>
                <a:cs typeface="Arial" pitchFamily="34" charset="-120"/>
              </a:rPr>
              <a:t>두 기관을 비교하는 질문은 기관마다 따로 찾아 근거를 공평하게 담습니다</a:t>
            </a:r>
            <a:endParaRPr lang="en-US" sz="1200" dirty="0"/>
          </a:p>
        </p:txBody>
      </p:sp>
      <p:sp>
        <p:nvSpPr>
          <p:cNvPr id="20" name="Shape 14"/>
          <p:cNvSpPr/>
          <p:nvPr/>
        </p:nvSpPr>
        <p:spPr>
          <a:xfrm>
            <a:off x="4385689" y="3359879"/>
            <a:ext cx="3420622" cy="1508235"/>
          </a:xfrm>
          <a:prstGeom prst="roundRect">
            <a:avLst>
              <a:gd name="adj" fmla="val 6736"/>
            </a:avLst>
          </a:prstGeom>
          <a:solidFill>
            <a:srgbClr val="FFFFFF"/>
          </a:solidFill>
          <a:ln/>
        </p:spPr>
        <p:txBody>
          <a:bodyPr/>
          <a:lstStyle/>
          <a:p>
            <a:endParaRPr/>
          </a:p>
        </p:txBody>
      </p:sp>
      <p:pic>
        <p:nvPicPr>
          <p:cNvPr id="21" name="Image 4" descr="CheckCircle"/>
          <p:cNvPicPr>
            <a:picLocks noChangeAspect="1"/>
          </p:cNvPicPr>
          <p:nvPr/>
        </p:nvPicPr>
        <p:blipFill>
          <a:blip r:embed="rId7"/>
          <a:srcRect/>
          <a:stretch/>
        </p:blipFill>
        <p:spPr>
          <a:xfrm>
            <a:off x="4588868" y="3563057"/>
            <a:ext cx="279356" cy="279356"/>
          </a:xfrm>
          <a:prstGeom prst="rect">
            <a:avLst/>
          </a:prstGeom>
        </p:spPr>
      </p:pic>
      <p:sp>
        <p:nvSpPr>
          <p:cNvPr id="22" name="Text 15"/>
          <p:cNvSpPr/>
          <p:nvPr/>
        </p:nvSpPr>
        <p:spPr>
          <a:xfrm>
            <a:off x="4588868" y="3918592"/>
            <a:ext cx="3104694" cy="25393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72E45"/>
                </a:solidFill>
                <a:latin typeface="Arial" pitchFamily="34" charset="0"/>
                <a:ea typeface="Arial" pitchFamily="34" charset="-122"/>
                <a:cs typeface="Arial" pitchFamily="34" charset="-120"/>
              </a:rPr>
              <a:t>같은 그림은 한 번만</a:t>
            </a:r>
            <a:endParaRPr lang="en-US" sz="1500" dirty="0"/>
          </a:p>
        </p:txBody>
      </p:sp>
      <p:sp>
        <p:nvSpPr>
          <p:cNvPr id="23" name="Text 16"/>
          <p:cNvSpPr/>
          <p:nvPr/>
        </p:nvSpPr>
        <p:spPr>
          <a:xfrm>
            <a:off x="4588868" y="4223302"/>
            <a:ext cx="3104694" cy="467034"/>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526478"/>
                </a:solidFill>
                <a:latin typeface="Arial" pitchFamily="34" charset="0"/>
                <a:ea typeface="Arial" pitchFamily="34" charset="-122"/>
                <a:cs typeface="Arial" pitchFamily="34" charset="-120"/>
              </a:rPr>
              <a:t>같은 이미지에서 나온 OCR 설명 조각은 하나만 남겨 분량을 아낍니다</a:t>
            </a:r>
            <a:endParaRPr lang="en-US" sz="1200" dirty="0"/>
          </a:p>
        </p:txBody>
      </p:sp>
      <p:sp>
        <p:nvSpPr>
          <p:cNvPr id="24" name="Shape 17"/>
          <p:cNvSpPr/>
          <p:nvPr/>
        </p:nvSpPr>
        <p:spPr>
          <a:xfrm>
            <a:off x="7958667" y="3359879"/>
            <a:ext cx="3420622" cy="1508235"/>
          </a:xfrm>
          <a:prstGeom prst="roundRect">
            <a:avLst>
              <a:gd name="adj" fmla="val 6736"/>
            </a:avLst>
          </a:prstGeom>
          <a:solidFill>
            <a:srgbClr val="FFFFFF"/>
          </a:solidFill>
          <a:ln/>
        </p:spPr>
        <p:txBody>
          <a:bodyPr/>
          <a:lstStyle/>
          <a:p>
            <a:endParaRPr/>
          </a:p>
        </p:txBody>
      </p:sp>
      <p:pic>
        <p:nvPicPr>
          <p:cNvPr id="25" name="Image 5" descr="Key"/>
          <p:cNvPicPr>
            <a:picLocks noChangeAspect="1"/>
          </p:cNvPicPr>
          <p:nvPr/>
        </p:nvPicPr>
        <p:blipFill>
          <a:blip r:embed="rId8"/>
          <a:srcRect/>
          <a:stretch/>
        </p:blipFill>
        <p:spPr>
          <a:xfrm>
            <a:off x="8161845" y="3563057"/>
            <a:ext cx="279356" cy="279356"/>
          </a:xfrm>
          <a:prstGeom prst="rect">
            <a:avLst/>
          </a:prstGeom>
        </p:spPr>
      </p:pic>
      <p:sp>
        <p:nvSpPr>
          <p:cNvPr id="26" name="Text 18"/>
          <p:cNvSpPr/>
          <p:nvPr/>
        </p:nvSpPr>
        <p:spPr>
          <a:xfrm>
            <a:off x="8161845" y="3918592"/>
            <a:ext cx="3104694" cy="253934"/>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72E45"/>
                </a:solidFill>
                <a:latin typeface="Arial" pitchFamily="34" charset="0"/>
                <a:ea typeface="Arial" pitchFamily="34" charset="-122"/>
                <a:cs typeface="Arial" pitchFamily="34" charset="-120"/>
              </a:rPr>
              <a:t>색인 일치 점검</a:t>
            </a:r>
            <a:endParaRPr lang="en-US" sz="1500" dirty="0"/>
          </a:p>
        </p:txBody>
      </p:sp>
      <p:sp>
        <p:nvSpPr>
          <p:cNvPr id="27" name="Text 19"/>
          <p:cNvSpPr/>
          <p:nvPr/>
        </p:nvSpPr>
        <p:spPr>
          <a:xfrm>
            <a:off x="8161845" y="4223302"/>
            <a:ext cx="3104694" cy="467034"/>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526478"/>
                </a:solidFill>
                <a:latin typeface="Arial" pitchFamily="34" charset="0"/>
                <a:ea typeface="Arial" pitchFamily="34" charset="-122"/>
                <a:cs typeface="Arial" pitchFamily="34" charset="-120"/>
              </a:rPr>
              <a:t>검색 글이 바뀌었는데 예전 색인이면 멈추고 다시 만들도록 알립니다</a:t>
            </a:r>
            <a:endParaRPr lang="en-US" sz="1200" dirty="0"/>
          </a:p>
        </p:txBody>
      </p:sp>
      <p:sp>
        <p:nvSpPr>
          <p:cNvPr id="28" name="Text 20"/>
          <p:cNvSpPr/>
          <p:nvPr/>
        </p:nvSpPr>
        <p:spPr>
          <a:xfrm>
            <a:off x="812712" y="6238435"/>
            <a:ext cx="10883347" cy="2386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26478"/>
                </a:solidFill>
                <a:latin typeface="Arial" pitchFamily="34" charset="0"/>
                <a:ea typeface="Arial" pitchFamily="34" charset="-122"/>
                <a:cs typeface="Arial" pitchFamily="34" charset="-120"/>
              </a:rPr>
              <a:t>검색(Retrieval) 파트 발표 · 6 · 안전장치가 정답을 보장하지는 않으며, 효과는 평가 수치로 확인합니다</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B"/>
        </a:solidFill>
        <a:effectLst/>
      </p:bgPr>
    </p:bg>
    <p:spTree>
      <p:nvGrpSpPr>
        <p:cNvPr id="1" name=""/>
        <p:cNvGrpSpPr/>
        <p:nvPr/>
      </p:nvGrpSpPr>
      <p:grpSpPr>
        <a:xfrm>
          <a:off x="0" y="0"/>
          <a:ext cx="0" cy="0"/>
          <a:chOff x="0" y="0"/>
          <a:chExt cx="0" cy="0"/>
        </a:xfrm>
      </p:grpSpPr>
      <p:sp>
        <p:nvSpPr>
          <p:cNvPr id="144" name="eyebrow"/>
          <p:cNvSpPr/>
          <p:nvPr/>
        </p:nvSpPr>
        <p:spPr>
          <a:xfrm>
            <a:off x="812712" y="711178"/>
            <a:ext cx="10883574" cy="2565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764A3"/>
                </a:solidFill>
                <a:latin typeface="Arial" pitchFamily="34" charset="0"/>
                <a:ea typeface="Arial" pitchFamily="34" charset="-122"/>
                <a:cs typeface="Arial" pitchFamily="34" charset="-120"/>
              </a:rPr>
              <a:t>1단계 · 질문 재작성 추론 강도 (reasoning effort)</a:t>
            </a:r>
            <a:endParaRPr lang="en-US" sz="1300" dirty="0"/>
          </a:p>
        </p:txBody>
      </p:sp>
      <p:sp>
        <p:nvSpPr>
          <p:cNvPr id="145" name="title"/>
          <p:cNvSpPr>
            <a:spLocks noGrp="1"/>
          </p:cNvSpPr>
          <p:nvPr>
            <p:ph type="title"/>
          </p:nvPr>
        </p:nvSpPr>
        <p:spPr>
          <a:xfrm>
            <a:off x="812712" y="1018536"/>
            <a:ext cx="10883574" cy="452151"/>
          </a:xfrm>
          <a:prstGeom prst="rect">
            <a:avLst/>
          </a:prstGeom>
          <a:noFill/>
          <a:ln/>
        </p:spPr>
        <p:txBody>
          <a:bodyPr wrap="square" lIns="0" tIns="0" rIns="0" bIns="0" rtlCol="0" anchor="t">
            <a:normAutofit/>
          </a:bodyPr>
          <a:lstStyle/>
          <a:p>
            <a:pPr marL="0" indent="0" algn="l">
              <a:lnSpc>
                <a:spcPts val="3360"/>
              </a:lnSpc>
              <a:buNone/>
            </a:pPr>
            <a:r>
              <a:rPr lang="en-US" sz="2800" b="1" i="0" dirty="0">
                <a:solidFill>
                  <a:srgbClr val="172E45"/>
                </a:solidFill>
                <a:latin typeface="Arial" pitchFamily="34" charset="0"/>
                <a:ea typeface="Arial" pitchFamily="34" charset="-122"/>
                <a:cs typeface="Arial" pitchFamily="34" charset="-120"/>
              </a:rPr>
              <a:t>추론을 늘려도 검색 · 답변 품질은 그대로였습니다</a:t>
            </a:r>
            <a:endParaRPr lang="en-US" sz="2800" dirty="0"/>
          </a:p>
        </p:txBody>
      </p:sp>
      <p:graphicFrame>
        <p:nvGraphicFramePr>
          <p:cNvPr id="146" name="data-table"/>
          <p:cNvGraphicFramePr>
            <a:graphicFrameLocks noGrp="1"/>
          </p:cNvGraphicFramePr>
          <p:nvPr>
            <p:extLst>
              <p:ext uri="{D42A27DB-BD31-4B8C-83A1-F6EECF244321}">
                <p14:modId xmlns:p14="http://schemas.microsoft.com/office/powerpoint/2010/main" val="1579011935"/>
              </p:ext>
            </p:extLst>
          </p:nvPr>
        </p:nvGraphicFramePr>
        <p:xfrm>
          <a:off x="813816" y="1700784"/>
          <a:ext cx="6675120" cy="3364992"/>
        </p:xfrm>
        <a:graphic>
          <a:graphicData uri="http://schemas.openxmlformats.org/drawingml/2006/table">
            <a:tbl>
              <a:tblPr/>
              <a:tblGrid>
                <a:gridCol w="2286000">
                  <a:extLst>
                    <a:ext uri="{9D8B030D-6E8A-4147-A177-3AD203B41FA5}">
                      <a16:colId xmlns:a16="http://schemas.microsoft.com/office/drawing/2014/main" val="40000"/>
                    </a:ext>
                  </a:extLst>
                </a:gridCol>
                <a:gridCol w="1463040">
                  <a:extLst>
                    <a:ext uri="{9D8B030D-6E8A-4147-A177-3AD203B41FA5}">
                      <a16:colId xmlns:a16="http://schemas.microsoft.com/office/drawing/2014/main" val="40001"/>
                    </a:ext>
                  </a:extLst>
                </a:gridCol>
                <a:gridCol w="1463040">
                  <a:extLst>
                    <a:ext uri="{9D8B030D-6E8A-4147-A177-3AD203B41FA5}">
                      <a16:colId xmlns:a16="http://schemas.microsoft.com/office/drawing/2014/main" val="40002"/>
                    </a:ext>
                  </a:extLst>
                </a:gridCol>
                <a:gridCol w="1463040">
                  <a:extLst>
                    <a:ext uri="{9D8B030D-6E8A-4147-A177-3AD203B41FA5}">
                      <a16:colId xmlns:a16="http://schemas.microsoft.com/office/drawing/2014/main" val="40003"/>
                    </a:ext>
                  </a:extLst>
                </a:gridCol>
              </a:tblGrid>
              <a:tr h="420624">
                <a:tc>
                  <a:txBody>
                    <a:bodyPr/>
                    <a:lstStyle/>
                    <a:p>
                      <a:pPr marL="0" indent="0">
                        <a:lnSpc>
                          <a:spcPts val="1820"/>
                        </a:lnSpc>
                        <a:buNone/>
                      </a:pPr>
                      <a:r>
                        <a:rPr lang="en-US" sz="1200" b="1" dirty="0">
                          <a:solidFill>
                            <a:srgbClr val="FFFFFF"/>
                          </a:solidFill>
                          <a:latin typeface="Arial" pitchFamily="34" charset="0"/>
                          <a:ea typeface="Arial" pitchFamily="34" charset="-122"/>
                          <a:cs typeface="Arial" pitchFamily="34" charset="-120"/>
                        </a:rPr>
                        <a:t>항목</a:t>
                      </a:r>
                      <a:endParaRPr lang="en-US" sz="1300" dirty="0">
                        <a:latin typeface="Arial" charset="0"/>
                        <a:ea typeface="Arial" charset="0"/>
                        <a:cs typeface="Arial" charset="0"/>
                      </a:endParaRPr>
                    </a:p>
                  </a:txBody>
                  <a:tcPr marL="57785" marR="57785" marT="57785" marB="57785">
                    <a:lnL w="12700" cap="flat" cmpd="sng" algn="ctr">
                      <a:solidFill>
                        <a:srgbClr val="C5C7C8"/>
                      </a:solidFill>
                      <a:prstDash val="solid"/>
                      <a:round/>
                      <a:headEnd type="none" w="med" len="med"/>
                      <a:tailEnd type="none" w="med" len="med"/>
                    </a:lnL>
                    <a:lnR w="12700" cap="flat" cmpd="sng" algn="ctr">
                      <a:solidFill>
                        <a:srgbClr val="16283A"/>
                      </a:solidFill>
                      <a:prstDash val="solid"/>
                      <a:round/>
                      <a:headEnd type="none" w="med" len="med"/>
                      <a:tailEnd type="none" w="med" len="med"/>
                    </a:lnR>
                    <a:lnT w="12700" cap="flat" cmpd="sng" algn="ctr">
                      <a:solidFill>
                        <a:srgbClr val="C5C7C8"/>
                      </a:solidFill>
                      <a:prstDash val="solid"/>
                      <a:round/>
                      <a:headEnd type="none" w="med" len="med"/>
                      <a:tailEnd type="none" w="med" len="med"/>
                    </a:lnT>
                    <a:lnB w="12700" cap="flat" cmpd="sng" algn="ctr">
                      <a:solidFill>
                        <a:srgbClr val="16283A"/>
                      </a:solidFill>
                      <a:prstDash val="solid"/>
                      <a:round/>
                      <a:headEnd type="none" w="med" len="med"/>
                      <a:tailEnd type="none" w="med" len="med"/>
                    </a:lnB>
                    <a:solidFill>
                      <a:srgbClr val="172E45"/>
                    </a:solidFill>
                  </a:tcPr>
                </a:tc>
                <a:tc>
                  <a:txBody>
                    <a:bodyPr/>
                    <a:lstStyle/>
                    <a:p>
                      <a:pPr marL="0" indent="0">
                        <a:lnSpc>
                          <a:spcPts val="1820"/>
                        </a:lnSpc>
                        <a:buNone/>
                      </a:pPr>
                      <a:r>
                        <a:rPr lang="en-US" sz="1200" b="1" dirty="0">
                          <a:solidFill>
                            <a:srgbClr val="FFFFFF"/>
                          </a:solidFill>
                          <a:latin typeface="Arial" pitchFamily="34" charset="0"/>
                          <a:ea typeface="Arial" pitchFamily="34" charset="-122"/>
                          <a:cs typeface="Arial" pitchFamily="34" charset="-120"/>
                        </a:rPr>
                        <a:t>none</a:t>
                      </a:r>
                      <a:endParaRPr lang="en-US" sz="1300" dirty="0">
                        <a:latin typeface="Arial" charset="0"/>
                        <a:ea typeface="Arial" charset="0"/>
                        <a:cs typeface="Arial" charset="0"/>
                      </a:endParaRPr>
                    </a:p>
                  </a:txBody>
                  <a:tcPr marL="57785" marR="57785" marT="57785" marB="57785">
                    <a:lnL w="12700" cap="flat" cmpd="sng" algn="ctr">
                      <a:solidFill>
                        <a:srgbClr val="16283A"/>
                      </a:solidFill>
                      <a:prstDash val="solid"/>
                      <a:round/>
                      <a:headEnd type="none" w="med" len="med"/>
                      <a:tailEnd type="none" w="med" len="med"/>
                    </a:lnL>
                    <a:lnR w="12700" cap="flat" cmpd="sng" algn="ctr">
                      <a:solidFill>
                        <a:srgbClr val="16283A"/>
                      </a:solidFill>
                      <a:prstDash val="solid"/>
                      <a:round/>
                      <a:headEnd type="none" w="med" len="med"/>
                      <a:tailEnd type="none" w="med" len="med"/>
                    </a:lnR>
                    <a:lnT w="12700" cap="flat" cmpd="sng" algn="ctr">
                      <a:solidFill>
                        <a:srgbClr val="C5C7C8"/>
                      </a:solidFill>
                      <a:prstDash val="solid"/>
                      <a:round/>
                      <a:headEnd type="none" w="med" len="med"/>
                      <a:tailEnd type="none" w="med" len="med"/>
                    </a:lnT>
                    <a:lnB w="12700" cap="flat" cmpd="sng" algn="ctr">
                      <a:solidFill>
                        <a:srgbClr val="16283A"/>
                      </a:solidFill>
                      <a:prstDash val="solid"/>
                      <a:round/>
                      <a:headEnd type="none" w="med" len="med"/>
                      <a:tailEnd type="none" w="med" len="med"/>
                    </a:lnB>
                    <a:solidFill>
                      <a:srgbClr val="172E45"/>
                    </a:solidFill>
                  </a:tcPr>
                </a:tc>
                <a:tc>
                  <a:txBody>
                    <a:bodyPr/>
                    <a:lstStyle/>
                    <a:p>
                      <a:pPr marL="0" indent="0">
                        <a:lnSpc>
                          <a:spcPts val="1820"/>
                        </a:lnSpc>
                        <a:buNone/>
                      </a:pPr>
                      <a:r>
                        <a:rPr lang="en-US" sz="1200" b="1" dirty="0">
                          <a:solidFill>
                            <a:srgbClr val="FFFFFF"/>
                          </a:solidFill>
                          <a:latin typeface="Arial" pitchFamily="34" charset="0"/>
                          <a:ea typeface="Arial" pitchFamily="34" charset="-122"/>
                          <a:cs typeface="Arial" pitchFamily="34" charset="-120"/>
                        </a:rPr>
                        <a:t>low</a:t>
                      </a:r>
                      <a:endParaRPr lang="en-US" sz="1300" dirty="0">
                        <a:latin typeface="Arial" charset="0"/>
                        <a:ea typeface="Arial" charset="0"/>
                        <a:cs typeface="Arial" charset="0"/>
                      </a:endParaRPr>
                    </a:p>
                  </a:txBody>
                  <a:tcPr marL="57785" marR="57785" marT="57785" marB="57785">
                    <a:lnL w="12700" cap="flat" cmpd="sng" algn="ctr">
                      <a:solidFill>
                        <a:srgbClr val="16283A"/>
                      </a:solidFill>
                      <a:prstDash val="solid"/>
                      <a:round/>
                      <a:headEnd type="none" w="med" len="med"/>
                      <a:tailEnd type="none" w="med" len="med"/>
                    </a:lnL>
                    <a:lnR w="12700" cap="flat" cmpd="sng" algn="ctr">
                      <a:solidFill>
                        <a:srgbClr val="16283A"/>
                      </a:solidFill>
                      <a:prstDash val="solid"/>
                      <a:round/>
                      <a:headEnd type="none" w="med" len="med"/>
                      <a:tailEnd type="none" w="med" len="med"/>
                    </a:lnR>
                    <a:lnT w="12700" cap="flat" cmpd="sng" algn="ctr">
                      <a:solidFill>
                        <a:srgbClr val="C5C7C8"/>
                      </a:solidFill>
                      <a:prstDash val="solid"/>
                      <a:round/>
                      <a:headEnd type="none" w="med" len="med"/>
                      <a:tailEnd type="none" w="med" len="med"/>
                    </a:lnT>
                    <a:lnB w="12700" cap="flat" cmpd="sng" algn="ctr">
                      <a:solidFill>
                        <a:srgbClr val="16283A"/>
                      </a:solidFill>
                      <a:prstDash val="solid"/>
                      <a:round/>
                      <a:headEnd type="none" w="med" len="med"/>
                      <a:tailEnd type="none" w="med" len="med"/>
                    </a:lnB>
                    <a:solidFill>
                      <a:srgbClr val="172E45"/>
                    </a:solidFill>
                  </a:tcPr>
                </a:tc>
                <a:tc>
                  <a:txBody>
                    <a:bodyPr/>
                    <a:lstStyle/>
                    <a:p>
                      <a:pPr marL="0" indent="0">
                        <a:lnSpc>
                          <a:spcPts val="1820"/>
                        </a:lnSpc>
                        <a:buNone/>
                      </a:pPr>
                      <a:r>
                        <a:rPr lang="en-US" sz="1200" b="1" dirty="0">
                          <a:solidFill>
                            <a:srgbClr val="FFFFFF"/>
                          </a:solidFill>
                          <a:latin typeface="Arial" pitchFamily="34" charset="0"/>
                          <a:ea typeface="Arial" pitchFamily="34" charset="-122"/>
                          <a:cs typeface="Arial" pitchFamily="34" charset="-120"/>
                        </a:rPr>
                        <a:t>medium</a:t>
                      </a:r>
                      <a:endParaRPr lang="en-US" sz="1300" dirty="0">
                        <a:latin typeface="Arial" charset="0"/>
                        <a:ea typeface="Arial" charset="0"/>
                        <a:cs typeface="Arial" charset="0"/>
                      </a:endParaRPr>
                    </a:p>
                  </a:txBody>
                  <a:tcPr marL="57785" marR="57785" marT="57785" marB="57785">
                    <a:lnL w="12700" cap="flat" cmpd="sng" algn="ctr">
                      <a:solidFill>
                        <a:srgbClr val="16283A"/>
                      </a:solidFill>
                      <a:prstDash val="solid"/>
                      <a:round/>
                      <a:headEnd type="none" w="med" len="med"/>
                      <a:tailEnd type="none" w="med" len="med"/>
                    </a:lnL>
                    <a:lnR w="12700" cap="flat" cmpd="sng" algn="ctr">
                      <a:solidFill>
                        <a:srgbClr val="16283A"/>
                      </a:solidFill>
                      <a:prstDash val="solid"/>
                      <a:round/>
                      <a:headEnd type="none" w="med" len="med"/>
                      <a:tailEnd type="none" w="med" len="med"/>
                    </a:lnR>
                    <a:lnT w="12700" cap="flat" cmpd="sng" algn="ctr">
                      <a:solidFill>
                        <a:srgbClr val="C5C7C8"/>
                      </a:solidFill>
                      <a:prstDash val="solid"/>
                      <a:round/>
                      <a:headEnd type="none" w="med" len="med"/>
                      <a:tailEnd type="none" w="med" len="med"/>
                    </a:lnT>
                    <a:lnB w="12700" cap="flat" cmpd="sng" algn="ctr">
                      <a:solidFill>
                        <a:srgbClr val="16283A"/>
                      </a:solidFill>
                      <a:prstDash val="solid"/>
                      <a:round/>
                      <a:headEnd type="none" w="med" len="med"/>
                      <a:tailEnd type="none" w="med" len="med"/>
                    </a:lnB>
                    <a:solidFill>
                      <a:srgbClr val="172E45"/>
                    </a:solidFill>
                  </a:tcPr>
                </a:tc>
                <a:extLst>
                  <a:ext uri="{0D108BD9-81ED-4DB2-BD59-A6C34878D82A}">
                    <a16:rowId xmlns:a16="http://schemas.microsoft.com/office/drawing/2014/main" val="10000"/>
                  </a:ext>
                </a:extLst>
              </a:tr>
              <a:tr h="420624">
                <a:tc>
                  <a:txBody>
                    <a:bodyPr/>
                    <a:lstStyle/>
                    <a:p>
                      <a:pPr marL="0" indent="0">
                        <a:lnSpc>
                          <a:spcPts val="1820"/>
                        </a:lnSpc>
                        <a:buNone/>
                      </a:pPr>
                      <a:r>
                        <a:rPr lang="en-US" sz="1200" b="0" dirty="0">
                          <a:solidFill>
                            <a:srgbClr val="172E45"/>
                          </a:solidFill>
                          <a:latin typeface="Arial" pitchFamily="34" charset="0"/>
                          <a:ea typeface="Arial" pitchFamily="34" charset="-122"/>
                          <a:cs typeface="Arial" pitchFamily="34" charset="-120"/>
                        </a:rPr>
                        <a:t>재작성 추론 토큰 (평균)</a:t>
                      </a:r>
                      <a:endParaRPr lang="en-US" sz="1300" dirty="0">
                        <a:latin typeface="Arial" charset="0"/>
                        <a:ea typeface="Arial" charset="0"/>
                        <a:cs typeface="Arial" charset="0"/>
                      </a:endParaRPr>
                    </a:p>
                  </a:txBody>
                  <a:tcPr marL="57785" marR="57785" marT="57785" marB="57785">
                    <a:lnL w="12700" cap="flat" cmpd="sng" algn="ctr">
                      <a:solidFill>
                        <a:srgbClr val="D9E1E8"/>
                      </a:solidFill>
                      <a:prstDash val="solid"/>
                      <a:round/>
                      <a:headEnd type="none" w="med" len="med"/>
                      <a:tailEnd type="none" w="med" len="med"/>
                    </a:lnL>
                    <a:lnR w="12700" cap="flat" cmpd="sng" algn="ctr">
                      <a:solidFill>
                        <a:srgbClr val="D9E1E8"/>
                      </a:solidFill>
                      <a:prstDash val="solid"/>
                      <a:round/>
                      <a:headEnd type="none" w="med" len="med"/>
                      <a:tailEnd type="none" w="med" len="med"/>
                    </a:lnR>
                    <a:lnT w="12700" cap="flat" cmpd="sng" algn="ctr">
                      <a:solidFill>
                        <a:srgbClr val="16283A"/>
                      </a:solidFill>
                      <a:prstDash val="solid"/>
                      <a:round/>
                      <a:headEnd type="none" w="med" len="med"/>
                      <a:tailEnd type="none" w="med" len="med"/>
                    </a:lnT>
                    <a:lnB w="12700" cap="flat" cmpd="sng" algn="ctr">
                      <a:solidFill>
                        <a:srgbClr val="D9E1E8"/>
                      </a:solidFill>
                      <a:prstDash val="solid"/>
                      <a:round/>
                      <a:headEnd type="none" w="med" len="med"/>
                      <a:tailEnd type="none" w="med" len="med"/>
                    </a:lnB>
                    <a:solidFill>
                      <a:srgbClr val="FFFFFF"/>
                    </a:solidFill>
                  </a:tcPr>
                </a:tc>
                <a:tc>
                  <a:txBody>
                    <a:bodyPr/>
                    <a:lstStyle/>
                    <a:p>
                      <a:pPr marL="0" indent="0">
                        <a:lnSpc>
                          <a:spcPts val="1820"/>
                        </a:lnSpc>
                        <a:buNone/>
                      </a:pPr>
                      <a:r>
                        <a:rPr lang="en-US" sz="1200" b="0" dirty="0">
                          <a:solidFill>
                            <a:srgbClr val="172E45"/>
                          </a:solidFill>
                          <a:latin typeface="Arial" pitchFamily="34" charset="0"/>
                          <a:ea typeface="Arial" pitchFamily="34" charset="-122"/>
                          <a:cs typeface="Arial" pitchFamily="34" charset="-120"/>
                        </a:rPr>
                        <a:t>0</a:t>
                      </a:r>
                      <a:endParaRPr lang="en-US" sz="1300" dirty="0">
                        <a:latin typeface="Arial" charset="0"/>
                        <a:ea typeface="Arial" charset="0"/>
                        <a:cs typeface="Arial" charset="0"/>
                      </a:endParaRPr>
                    </a:p>
                  </a:txBody>
                  <a:tcPr marL="57785" marR="57785" marT="57785" marB="57785">
                    <a:lnL w="12700" cap="flat" cmpd="sng" algn="ctr">
                      <a:solidFill>
                        <a:srgbClr val="D9E1E8"/>
                      </a:solidFill>
                      <a:prstDash val="solid"/>
                      <a:round/>
                      <a:headEnd type="none" w="med" len="med"/>
                      <a:tailEnd type="none" w="med" len="med"/>
                    </a:lnL>
                    <a:lnR w="12700" cap="flat" cmpd="sng" algn="ctr">
                      <a:solidFill>
                        <a:srgbClr val="D9E1E8"/>
                      </a:solidFill>
                      <a:prstDash val="solid"/>
                      <a:round/>
                      <a:headEnd type="none" w="med" len="med"/>
                      <a:tailEnd type="none" w="med" len="med"/>
                    </a:lnR>
                    <a:lnT w="12700" cap="flat" cmpd="sng" algn="ctr">
                      <a:solidFill>
                        <a:srgbClr val="16283A"/>
                      </a:solidFill>
                      <a:prstDash val="solid"/>
                      <a:round/>
                      <a:headEnd type="none" w="med" len="med"/>
                      <a:tailEnd type="none" w="med" len="med"/>
                    </a:lnT>
                    <a:lnB w="12700" cap="flat" cmpd="sng" algn="ctr">
                      <a:solidFill>
                        <a:srgbClr val="D9E1E8"/>
                      </a:solidFill>
                      <a:prstDash val="solid"/>
                      <a:round/>
                      <a:headEnd type="none" w="med" len="med"/>
                      <a:tailEnd type="none" w="med" len="med"/>
                    </a:lnB>
                    <a:solidFill>
                      <a:srgbClr val="FFFFFF"/>
                    </a:solidFill>
                  </a:tcPr>
                </a:tc>
                <a:tc>
                  <a:txBody>
                    <a:bodyPr/>
                    <a:lstStyle/>
                    <a:p>
                      <a:pPr marL="0" indent="0">
                        <a:lnSpc>
                          <a:spcPts val="1820"/>
                        </a:lnSpc>
                        <a:buNone/>
                      </a:pPr>
                      <a:r>
                        <a:rPr lang="en-US" sz="1200" b="0" dirty="0">
                          <a:solidFill>
                            <a:srgbClr val="172E45"/>
                          </a:solidFill>
                          <a:latin typeface="Arial" pitchFamily="34" charset="0"/>
                          <a:ea typeface="Arial" pitchFamily="34" charset="-122"/>
                          <a:cs typeface="Arial" pitchFamily="34" charset="-120"/>
                        </a:rPr>
                        <a:t>75</a:t>
                      </a:r>
                      <a:endParaRPr lang="en-US" sz="1300" dirty="0">
                        <a:latin typeface="Arial" charset="0"/>
                        <a:ea typeface="Arial" charset="0"/>
                        <a:cs typeface="Arial" charset="0"/>
                      </a:endParaRPr>
                    </a:p>
                  </a:txBody>
                  <a:tcPr marL="57785" marR="57785" marT="57785" marB="57785">
                    <a:lnL w="12700" cap="flat" cmpd="sng" algn="ctr">
                      <a:solidFill>
                        <a:srgbClr val="D9E1E8"/>
                      </a:solidFill>
                      <a:prstDash val="solid"/>
                      <a:round/>
                      <a:headEnd type="none" w="med" len="med"/>
                      <a:tailEnd type="none" w="med" len="med"/>
                    </a:lnL>
                    <a:lnR w="12700" cap="flat" cmpd="sng" algn="ctr">
                      <a:solidFill>
                        <a:srgbClr val="D9E1E8"/>
                      </a:solidFill>
                      <a:prstDash val="solid"/>
                      <a:round/>
                      <a:headEnd type="none" w="med" len="med"/>
                      <a:tailEnd type="none" w="med" len="med"/>
                    </a:lnR>
                    <a:lnT w="12700" cap="flat" cmpd="sng" algn="ctr">
                      <a:solidFill>
                        <a:srgbClr val="16283A"/>
                      </a:solidFill>
                      <a:prstDash val="solid"/>
                      <a:round/>
                      <a:headEnd type="none" w="med" len="med"/>
                      <a:tailEnd type="none" w="med" len="med"/>
                    </a:lnT>
                    <a:lnB w="12700" cap="flat" cmpd="sng" algn="ctr">
                      <a:solidFill>
                        <a:srgbClr val="D9E1E8"/>
                      </a:solidFill>
                      <a:prstDash val="solid"/>
                      <a:round/>
                      <a:headEnd type="none" w="med" len="med"/>
                      <a:tailEnd type="none" w="med" len="med"/>
                    </a:lnB>
                    <a:solidFill>
                      <a:srgbClr val="FFFFFF"/>
                    </a:solidFill>
                  </a:tcPr>
                </a:tc>
                <a:tc>
                  <a:txBody>
                    <a:bodyPr/>
                    <a:lstStyle/>
                    <a:p>
                      <a:pPr marL="0" indent="0">
                        <a:lnSpc>
                          <a:spcPts val="1820"/>
                        </a:lnSpc>
                        <a:buNone/>
                      </a:pPr>
                      <a:r>
                        <a:rPr lang="en-US" sz="1200" b="0" dirty="0">
                          <a:solidFill>
                            <a:srgbClr val="172E45"/>
                          </a:solidFill>
                          <a:latin typeface="Arial" pitchFamily="34" charset="0"/>
                          <a:ea typeface="Arial" pitchFamily="34" charset="-122"/>
                          <a:cs typeface="Arial" pitchFamily="34" charset="-120"/>
                        </a:rPr>
                        <a:t>120</a:t>
                      </a:r>
                      <a:endParaRPr lang="en-US" sz="1300" dirty="0">
                        <a:latin typeface="Arial" charset="0"/>
                        <a:ea typeface="Arial" charset="0"/>
                        <a:cs typeface="Arial" charset="0"/>
                      </a:endParaRPr>
                    </a:p>
                  </a:txBody>
                  <a:tcPr marL="57785" marR="57785" marT="57785" marB="57785">
                    <a:lnL w="12700" cap="flat" cmpd="sng" algn="ctr">
                      <a:solidFill>
                        <a:srgbClr val="D9E1E8"/>
                      </a:solidFill>
                      <a:prstDash val="solid"/>
                      <a:round/>
                      <a:headEnd type="none" w="med" len="med"/>
                      <a:tailEnd type="none" w="med" len="med"/>
                    </a:lnL>
                    <a:lnR w="12700" cap="flat" cmpd="sng" algn="ctr">
                      <a:solidFill>
                        <a:srgbClr val="D9E1E8"/>
                      </a:solidFill>
                      <a:prstDash val="solid"/>
                      <a:round/>
                      <a:headEnd type="none" w="med" len="med"/>
                      <a:tailEnd type="none" w="med" len="med"/>
                    </a:lnR>
                    <a:lnT w="12700" cap="flat" cmpd="sng" algn="ctr">
                      <a:solidFill>
                        <a:srgbClr val="16283A"/>
                      </a:solidFill>
                      <a:prstDash val="solid"/>
                      <a:round/>
                      <a:headEnd type="none" w="med" len="med"/>
                      <a:tailEnd type="none" w="med" len="med"/>
                    </a:lnT>
                    <a:lnB w="12700" cap="flat" cmpd="sng" algn="ctr">
                      <a:solidFill>
                        <a:srgbClr val="D9E1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lnSpc>
                          <a:spcPts val="1820"/>
                        </a:lnSpc>
                        <a:buNone/>
                      </a:pPr>
                      <a:r>
                        <a:rPr lang="en-US" sz="1200" b="0" dirty="0">
                          <a:solidFill>
                            <a:srgbClr val="172E45"/>
                          </a:solidFill>
                          <a:latin typeface="Arial" pitchFamily="34" charset="0"/>
                          <a:ea typeface="Arial" pitchFamily="34" charset="-122"/>
                          <a:cs typeface="Arial" pitchFamily="34" charset="-120"/>
                        </a:rPr>
                        <a:t>재작성으로 바뀐 질문</a:t>
                      </a:r>
                      <a:endParaRPr lang="en-US" sz="1300" dirty="0">
                        <a:latin typeface="Arial" charset="0"/>
                        <a:ea typeface="Arial" charset="0"/>
                        <a:cs typeface="Arial" charset="0"/>
                      </a:endParaRPr>
                    </a:p>
                  </a:txBody>
                  <a:tcPr marL="57785" marR="57785" marT="57785" marB="57785">
                    <a:lnL w="12700" cap="flat" cmpd="sng" algn="ctr">
                      <a:solidFill>
                        <a:srgbClr val="D9E1E8"/>
                      </a:solidFill>
                      <a:prstDash val="solid"/>
                      <a:round/>
                      <a:headEnd type="none" w="med" len="med"/>
                      <a:tailEnd type="none" w="med" len="med"/>
                    </a:lnL>
                    <a:lnR w="12700" cap="flat" cmpd="sng" algn="ctr">
                      <a:solidFill>
                        <a:srgbClr val="D9E1E8"/>
                      </a:solidFill>
                      <a:prstDash val="solid"/>
                      <a:round/>
                      <a:headEnd type="none" w="med" len="med"/>
                      <a:tailEnd type="none" w="med" len="med"/>
                    </a:lnR>
                    <a:lnT w="12700" cap="flat" cmpd="sng" algn="ctr">
                      <a:solidFill>
                        <a:srgbClr val="D9E1E8"/>
                      </a:solidFill>
                      <a:prstDash val="solid"/>
                      <a:round/>
                      <a:headEnd type="none" w="med" len="med"/>
                      <a:tailEnd type="none" w="med" len="med"/>
                    </a:lnT>
                    <a:lnB w="12700" cap="flat" cmpd="sng" algn="ctr">
                      <a:solidFill>
                        <a:srgbClr val="D9E1E8"/>
                      </a:solidFill>
                      <a:prstDash val="solid"/>
                      <a:round/>
                      <a:headEnd type="none" w="med" len="med"/>
                      <a:tailEnd type="none" w="med" len="med"/>
                    </a:lnB>
                    <a:solidFill>
                      <a:srgbClr val="EDF2F6"/>
                    </a:solidFill>
                  </a:tcPr>
                </a:tc>
                <a:tc>
                  <a:txBody>
                    <a:bodyPr/>
                    <a:lstStyle/>
                    <a:p>
                      <a:pPr marL="0" indent="0">
                        <a:lnSpc>
                          <a:spcPts val="1820"/>
                        </a:lnSpc>
                        <a:buNone/>
                      </a:pPr>
                      <a:r>
                        <a:rPr lang="en-US" sz="1200" b="0" dirty="0">
                          <a:solidFill>
                            <a:srgbClr val="172E45"/>
                          </a:solidFill>
                          <a:latin typeface="Arial" pitchFamily="34" charset="0"/>
                          <a:ea typeface="Arial" pitchFamily="34" charset="-122"/>
                          <a:cs typeface="Arial" pitchFamily="34" charset="-120"/>
                        </a:rPr>
                        <a:t>430개</a:t>
                      </a:r>
                      <a:endParaRPr lang="en-US" sz="1300" dirty="0">
                        <a:latin typeface="Arial" charset="0"/>
                        <a:ea typeface="Arial" charset="0"/>
                        <a:cs typeface="Arial" charset="0"/>
                      </a:endParaRPr>
                    </a:p>
                  </a:txBody>
                  <a:tcPr marL="57785" marR="57785" marT="57785" marB="57785">
                    <a:lnL w="12700" cap="flat" cmpd="sng" algn="ctr">
                      <a:solidFill>
                        <a:srgbClr val="D9E1E8"/>
                      </a:solidFill>
                      <a:prstDash val="solid"/>
                      <a:round/>
                      <a:headEnd type="none" w="med" len="med"/>
                      <a:tailEnd type="none" w="med" len="med"/>
                    </a:lnL>
                    <a:lnR w="12700" cap="flat" cmpd="sng" algn="ctr">
                      <a:solidFill>
                        <a:srgbClr val="D9E1E8"/>
                      </a:solidFill>
                      <a:prstDash val="solid"/>
                      <a:round/>
                      <a:headEnd type="none" w="med" len="med"/>
                      <a:tailEnd type="none" w="med" len="med"/>
                    </a:lnR>
                    <a:lnT w="12700" cap="flat" cmpd="sng" algn="ctr">
                      <a:solidFill>
                        <a:srgbClr val="D9E1E8"/>
                      </a:solidFill>
                      <a:prstDash val="solid"/>
                      <a:round/>
                      <a:headEnd type="none" w="med" len="med"/>
                      <a:tailEnd type="none" w="med" len="med"/>
                    </a:lnT>
                    <a:lnB w="12700" cap="flat" cmpd="sng" algn="ctr">
                      <a:solidFill>
                        <a:srgbClr val="D9E1E8"/>
                      </a:solidFill>
                      <a:prstDash val="solid"/>
                      <a:round/>
                      <a:headEnd type="none" w="med" len="med"/>
                      <a:tailEnd type="none" w="med" len="med"/>
                    </a:lnB>
                    <a:solidFill>
                      <a:srgbClr val="EDF2F6"/>
                    </a:solidFill>
                  </a:tcPr>
                </a:tc>
                <a:tc>
                  <a:txBody>
                    <a:bodyPr/>
                    <a:lstStyle/>
                    <a:p>
                      <a:pPr marL="0" indent="0">
                        <a:lnSpc>
                          <a:spcPts val="1820"/>
                        </a:lnSpc>
                        <a:buNone/>
                      </a:pPr>
                      <a:r>
                        <a:rPr lang="en-US" sz="1200" b="0" dirty="0">
                          <a:solidFill>
                            <a:srgbClr val="172E45"/>
                          </a:solidFill>
                          <a:latin typeface="Arial" pitchFamily="34" charset="0"/>
                          <a:ea typeface="Arial" pitchFamily="34" charset="-122"/>
                          <a:cs typeface="Arial" pitchFamily="34" charset="-120"/>
                        </a:rPr>
                        <a:t>404개</a:t>
                      </a:r>
                      <a:endParaRPr lang="en-US" sz="1300" dirty="0">
                        <a:latin typeface="Arial" charset="0"/>
                        <a:ea typeface="Arial" charset="0"/>
                        <a:cs typeface="Arial" charset="0"/>
                      </a:endParaRPr>
                    </a:p>
                  </a:txBody>
                  <a:tcPr marL="57785" marR="57785" marT="57785" marB="57785">
                    <a:lnL w="12700" cap="flat" cmpd="sng" algn="ctr">
                      <a:solidFill>
                        <a:srgbClr val="D9E1E8"/>
                      </a:solidFill>
                      <a:prstDash val="solid"/>
                      <a:round/>
                      <a:headEnd type="none" w="med" len="med"/>
                      <a:tailEnd type="none" w="med" len="med"/>
                    </a:lnL>
                    <a:lnR w="12700" cap="flat" cmpd="sng" algn="ctr">
                      <a:solidFill>
                        <a:srgbClr val="D9E1E8"/>
                      </a:solidFill>
                      <a:prstDash val="solid"/>
                      <a:round/>
                      <a:headEnd type="none" w="med" len="med"/>
                      <a:tailEnd type="none" w="med" len="med"/>
                    </a:lnR>
                    <a:lnT w="12700" cap="flat" cmpd="sng" algn="ctr">
                      <a:solidFill>
                        <a:srgbClr val="D9E1E8"/>
                      </a:solidFill>
                      <a:prstDash val="solid"/>
                      <a:round/>
                      <a:headEnd type="none" w="med" len="med"/>
                      <a:tailEnd type="none" w="med" len="med"/>
                    </a:lnT>
                    <a:lnB w="12700" cap="flat" cmpd="sng" algn="ctr">
                      <a:solidFill>
                        <a:srgbClr val="D9E1E8"/>
                      </a:solidFill>
                      <a:prstDash val="solid"/>
                      <a:round/>
                      <a:headEnd type="none" w="med" len="med"/>
                      <a:tailEnd type="none" w="med" len="med"/>
                    </a:lnB>
                    <a:solidFill>
                      <a:srgbClr val="EDF2F6"/>
                    </a:solidFill>
                  </a:tcPr>
                </a:tc>
                <a:tc>
                  <a:txBody>
                    <a:bodyPr/>
                    <a:lstStyle/>
                    <a:p>
                      <a:pPr marL="0" indent="0">
                        <a:lnSpc>
                          <a:spcPts val="1820"/>
                        </a:lnSpc>
                        <a:buNone/>
                      </a:pPr>
                      <a:r>
                        <a:rPr lang="en-US" sz="1200" b="0" dirty="0">
                          <a:solidFill>
                            <a:srgbClr val="172E45"/>
                          </a:solidFill>
                          <a:latin typeface="Arial" pitchFamily="34" charset="0"/>
                          <a:ea typeface="Arial" pitchFamily="34" charset="-122"/>
                          <a:cs typeface="Arial" pitchFamily="34" charset="-120"/>
                        </a:rPr>
                        <a:t>394개</a:t>
                      </a:r>
                      <a:endParaRPr lang="en-US" sz="1300" dirty="0">
                        <a:latin typeface="Arial" charset="0"/>
                        <a:ea typeface="Arial" charset="0"/>
                        <a:cs typeface="Arial" charset="0"/>
                      </a:endParaRPr>
                    </a:p>
                  </a:txBody>
                  <a:tcPr marL="57785" marR="57785" marT="57785" marB="57785">
                    <a:lnL w="12700" cap="flat" cmpd="sng" algn="ctr">
                      <a:solidFill>
                        <a:srgbClr val="D9E1E8"/>
                      </a:solidFill>
                      <a:prstDash val="solid"/>
                      <a:round/>
                      <a:headEnd type="none" w="med" len="med"/>
                      <a:tailEnd type="none" w="med" len="med"/>
                    </a:lnL>
                    <a:lnR w="12700" cap="flat" cmpd="sng" algn="ctr">
                      <a:solidFill>
                        <a:srgbClr val="D9E1E8"/>
                      </a:solidFill>
                      <a:prstDash val="solid"/>
                      <a:round/>
                      <a:headEnd type="none" w="med" len="med"/>
                      <a:tailEnd type="none" w="med" len="med"/>
                    </a:lnR>
                    <a:lnT w="12700" cap="flat" cmpd="sng" algn="ctr">
                      <a:solidFill>
                        <a:srgbClr val="D9E1E8"/>
                      </a:solidFill>
                      <a:prstDash val="solid"/>
                      <a:round/>
                      <a:headEnd type="none" w="med" len="med"/>
                      <a:tailEnd type="none" w="med" len="med"/>
                    </a:lnT>
                    <a:lnB w="12700" cap="flat" cmpd="sng" algn="ctr">
                      <a:solidFill>
                        <a:srgbClr val="D9E1E8"/>
                      </a:solidFill>
                      <a:prstDash val="solid"/>
                      <a:round/>
                      <a:headEnd type="none" w="med" len="med"/>
                      <a:tailEnd type="none" w="med" len="med"/>
                    </a:lnB>
                    <a:solidFill>
                      <a:srgbClr val="EDF2F6"/>
                    </a:solidFill>
                  </a:tcPr>
                </a:tc>
                <a:extLst>
                  <a:ext uri="{0D108BD9-81ED-4DB2-BD59-A6C34878D82A}">
                    <a16:rowId xmlns:a16="http://schemas.microsoft.com/office/drawing/2014/main" val="1493559706"/>
                  </a:ext>
                </a:extLst>
              </a:tr>
              <a:tr h="420624">
                <a:tc>
                  <a:txBody>
                    <a:bodyPr/>
                    <a:lstStyle/>
                    <a:p>
                      <a:pPr marL="0" indent="0">
                        <a:lnSpc>
                          <a:spcPts val="1820"/>
                        </a:lnSpc>
                        <a:buNone/>
                      </a:pPr>
                      <a:r>
                        <a:rPr lang="en-US" sz="1200" b="1" dirty="0">
                          <a:solidFill>
                            <a:srgbClr val="172E45"/>
                          </a:solidFill>
                          <a:latin typeface="Arial" pitchFamily="34" charset="0"/>
                          <a:ea typeface="Arial" pitchFamily="34" charset="-122"/>
                          <a:cs typeface="Arial" pitchFamily="34" charset="-120"/>
                        </a:rPr>
                        <a:t>key_facts_in_context</a:t>
                      </a:r>
                      <a:endParaRPr lang="en-US" sz="1300" dirty="0">
                        <a:latin typeface="Arial" charset="0"/>
                        <a:ea typeface="Arial" charset="0"/>
                        <a:cs typeface="Arial" charset="0"/>
                      </a:endParaRPr>
                    </a:p>
                  </a:txBody>
                  <a:tcPr marL="57785" marR="57785" marT="57785" marB="57785">
                    <a:lnL w="12700" cap="flat" cmpd="sng" algn="ctr">
                      <a:solidFill>
                        <a:srgbClr val="D9E1E8"/>
                      </a:solidFill>
                      <a:prstDash val="solid"/>
                      <a:round/>
                      <a:headEnd type="none" w="med" len="med"/>
                      <a:tailEnd type="none" w="med" len="med"/>
                    </a:lnL>
                    <a:lnR w="12700" cap="flat" cmpd="sng" algn="ctr">
                      <a:solidFill>
                        <a:srgbClr val="D9E1E8"/>
                      </a:solidFill>
                      <a:prstDash val="solid"/>
                      <a:round/>
                      <a:headEnd type="none" w="med" len="med"/>
                      <a:tailEnd type="none" w="med" len="med"/>
                    </a:lnR>
                    <a:lnT w="12700" cap="flat" cmpd="sng" algn="ctr">
                      <a:solidFill>
                        <a:srgbClr val="D9E1E8"/>
                      </a:solidFill>
                      <a:prstDash val="solid"/>
                      <a:round/>
                      <a:headEnd type="none" w="med" len="med"/>
                      <a:tailEnd type="none" w="med" len="med"/>
                    </a:lnT>
                    <a:lnB w="12700" cap="flat" cmpd="sng" algn="ctr">
                      <a:solidFill>
                        <a:srgbClr val="D9E1E8"/>
                      </a:solidFill>
                      <a:prstDash val="solid"/>
                      <a:round/>
                      <a:headEnd type="none" w="med" len="med"/>
                      <a:tailEnd type="none" w="med" len="med"/>
                    </a:lnB>
                    <a:solidFill>
                      <a:srgbClr val="FFFFFF"/>
                    </a:solidFill>
                  </a:tcPr>
                </a:tc>
                <a:tc>
                  <a:txBody>
                    <a:bodyPr/>
                    <a:lstStyle/>
                    <a:p>
                      <a:pPr marL="0" indent="0">
                        <a:lnSpc>
                          <a:spcPts val="1820"/>
                        </a:lnSpc>
                        <a:buNone/>
                      </a:pPr>
                      <a:r>
                        <a:rPr lang="en-US" sz="1200" b="1" dirty="0">
                          <a:solidFill>
                            <a:srgbClr val="172E45"/>
                          </a:solidFill>
                          <a:latin typeface="Arial" pitchFamily="34" charset="0"/>
                          <a:ea typeface="Arial" pitchFamily="34" charset="-122"/>
                          <a:cs typeface="Arial" pitchFamily="34" charset="-120"/>
                        </a:rPr>
                        <a:t>0.8960</a:t>
                      </a:r>
                      <a:endParaRPr lang="en-US" sz="1300" dirty="0">
                        <a:latin typeface="Arial" charset="0"/>
                        <a:ea typeface="Arial" charset="0"/>
                        <a:cs typeface="Arial" charset="0"/>
                      </a:endParaRPr>
                    </a:p>
                  </a:txBody>
                  <a:tcPr marL="57785" marR="57785" marT="57785" marB="57785">
                    <a:lnL w="12700" cap="flat" cmpd="sng" algn="ctr">
                      <a:solidFill>
                        <a:srgbClr val="D9E1E8"/>
                      </a:solidFill>
                      <a:prstDash val="solid"/>
                      <a:round/>
                      <a:headEnd type="none" w="med" len="med"/>
                      <a:tailEnd type="none" w="med" len="med"/>
                    </a:lnL>
                    <a:lnR w="12700" cap="flat" cmpd="sng" algn="ctr">
                      <a:solidFill>
                        <a:srgbClr val="D9E1E8"/>
                      </a:solidFill>
                      <a:prstDash val="solid"/>
                      <a:round/>
                      <a:headEnd type="none" w="med" len="med"/>
                      <a:tailEnd type="none" w="med" len="med"/>
                    </a:lnR>
                    <a:lnT w="12700" cap="flat" cmpd="sng" algn="ctr">
                      <a:solidFill>
                        <a:srgbClr val="D9E1E8"/>
                      </a:solidFill>
                      <a:prstDash val="solid"/>
                      <a:round/>
                      <a:headEnd type="none" w="med" len="med"/>
                      <a:tailEnd type="none" w="med" len="med"/>
                    </a:lnT>
                    <a:lnB w="12700" cap="flat" cmpd="sng" algn="ctr">
                      <a:solidFill>
                        <a:srgbClr val="D9E1E8"/>
                      </a:solidFill>
                      <a:prstDash val="solid"/>
                      <a:round/>
                      <a:headEnd type="none" w="med" len="med"/>
                      <a:tailEnd type="none" w="med" len="med"/>
                    </a:lnB>
                    <a:solidFill>
                      <a:srgbClr val="FFFFFF"/>
                    </a:solidFill>
                  </a:tcPr>
                </a:tc>
                <a:tc>
                  <a:txBody>
                    <a:bodyPr/>
                    <a:lstStyle/>
                    <a:p>
                      <a:pPr marL="0" indent="0">
                        <a:lnSpc>
                          <a:spcPts val="1820"/>
                        </a:lnSpc>
                        <a:buNone/>
                      </a:pPr>
                      <a:r>
                        <a:rPr lang="en-US" sz="1200" b="1" dirty="0">
                          <a:solidFill>
                            <a:srgbClr val="172E45"/>
                          </a:solidFill>
                          <a:latin typeface="Arial" pitchFamily="34" charset="0"/>
                          <a:ea typeface="Arial" pitchFamily="34" charset="-122"/>
                          <a:cs typeface="Arial" pitchFamily="34" charset="-120"/>
                        </a:rPr>
                        <a:t>0.8925</a:t>
                      </a:r>
                      <a:endParaRPr lang="en-US" sz="1300" dirty="0">
                        <a:latin typeface="Arial" charset="0"/>
                        <a:ea typeface="Arial" charset="0"/>
                        <a:cs typeface="Arial" charset="0"/>
                      </a:endParaRPr>
                    </a:p>
                  </a:txBody>
                  <a:tcPr marL="57785" marR="57785" marT="57785" marB="57785">
                    <a:lnL w="12700" cap="flat" cmpd="sng" algn="ctr">
                      <a:solidFill>
                        <a:srgbClr val="D9E1E8"/>
                      </a:solidFill>
                      <a:prstDash val="solid"/>
                      <a:round/>
                      <a:headEnd type="none" w="med" len="med"/>
                      <a:tailEnd type="none" w="med" len="med"/>
                    </a:lnL>
                    <a:lnR w="12700" cap="flat" cmpd="sng" algn="ctr">
                      <a:solidFill>
                        <a:srgbClr val="D9E1E8"/>
                      </a:solidFill>
                      <a:prstDash val="solid"/>
                      <a:round/>
                      <a:headEnd type="none" w="med" len="med"/>
                      <a:tailEnd type="none" w="med" len="med"/>
                    </a:lnR>
                    <a:lnT w="12700" cap="flat" cmpd="sng" algn="ctr">
                      <a:solidFill>
                        <a:srgbClr val="D9E1E8"/>
                      </a:solidFill>
                      <a:prstDash val="solid"/>
                      <a:round/>
                      <a:headEnd type="none" w="med" len="med"/>
                      <a:tailEnd type="none" w="med" len="med"/>
                    </a:lnT>
                    <a:lnB w="12700" cap="flat" cmpd="sng" algn="ctr">
                      <a:solidFill>
                        <a:srgbClr val="D9E1E8"/>
                      </a:solidFill>
                      <a:prstDash val="solid"/>
                      <a:round/>
                      <a:headEnd type="none" w="med" len="med"/>
                      <a:tailEnd type="none" w="med" len="med"/>
                    </a:lnB>
                    <a:solidFill>
                      <a:srgbClr val="FFFFFF"/>
                    </a:solidFill>
                  </a:tcPr>
                </a:tc>
                <a:tc>
                  <a:txBody>
                    <a:bodyPr/>
                    <a:lstStyle/>
                    <a:p>
                      <a:pPr marL="0" indent="0">
                        <a:lnSpc>
                          <a:spcPts val="1820"/>
                        </a:lnSpc>
                        <a:buNone/>
                      </a:pPr>
                      <a:r>
                        <a:rPr lang="en-US" sz="1200" b="1" dirty="0">
                          <a:solidFill>
                            <a:srgbClr val="172E45"/>
                          </a:solidFill>
                          <a:latin typeface="Arial" pitchFamily="34" charset="0"/>
                          <a:ea typeface="Arial" pitchFamily="34" charset="-122"/>
                          <a:cs typeface="Arial" pitchFamily="34" charset="-120"/>
                        </a:rPr>
                        <a:t>0.8926</a:t>
                      </a:r>
                      <a:endParaRPr lang="en-US" sz="1300" dirty="0">
                        <a:latin typeface="Arial" charset="0"/>
                        <a:ea typeface="Arial" charset="0"/>
                        <a:cs typeface="Arial" charset="0"/>
                      </a:endParaRPr>
                    </a:p>
                  </a:txBody>
                  <a:tcPr marL="57785" marR="57785" marT="57785" marB="57785">
                    <a:lnL w="12700" cap="flat" cmpd="sng" algn="ctr">
                      <a:solidFill>
                        <a:srgbClr val="D9E1E8"/>
                      </a:solidFill>
                      <a:prstDash val="solid"/>
                      <a:round/>
                      <a:headEnd type="none" w="med" len="med"/>
                      <a:tailEnd type="none" w="med" len="med"/>
                    </a:lnL>
                    <a:lnR w="12700" cap="flat" cmpd="sng" algn="ctr">
                      <a:solidFill>
                        <a:srgbClr val="D9E1E8"/>
                      </a:solidFill>
                      <a:prstDash val="solid"/>
                      <a:round/>
                      <a:headEnd type="none" w="med" len="med"/>
                      <a:tailEnd type="none" w="med" len="med"/>
                    </a:lnR>
                    <a:lnT w="12700" cap="flat" cmpd="sng" algn="ctr">
                      <a:solidFill>
                        <a:srgbClr val="D9E1E8"/>
                      </a:solidFill>
                      <a:prstDash val="solid"/>
                      <a:round/>
                      <a:headEnd type="none" w="med" len="med"/>
                      <a:tailEnd type="none" w="med" len="med"/>
                    </a:lnT>
                    <a:lnB w="12700" cap="flat" cmpd="sng" algn="ctr">
                      <a:solidFill>
                        <a:srgbClr val="D9E1E8"/>
                      </a:solidFill>
                      <a:prstDash val="solid"/>
                      <a:round/>
                      <a:headEnd type="none" w="med" len="med"/>
                      <a:tailEnd type="none" w="med" len="med"/>
                    </a:lnB>
                    <a:solidFill>
                      <a:srgbClr val="FFFFFF"/>
                    </a:solidFill>
                  </a:tcPr>
                </a:tc>
                <a:extLst>
                  <a:ext uri="{0D108BD9-81ED-4DB2-BD59-A6C34878D82A}">
                    <a16:rowId xmlns:a16="http://schemas.microsoft.com/office/drawing/2014/main" val="4072398776"/>
                  </a:ext>
                </a:extLst>
              </a:tr>
              <a:tr h="420624">
                <a:tc>
                  <a:txBody>
                    <a:bodyPr/>
                    <a:lstStyle/>
                    <a:p>
                      <a:pPr marL="0" indent="0">
                        <a:lnSpc>
                          <a:spcPts val="1820"/>
                        </a:lnSpc>
                        <a:buNone/>
                      </a:pPr>
                      <a:r>
                        <a:rPr lang="en-US" sz="1200" b="1" dirty="0">
                          <a:solidFill>
                            <a:srgbClr val="172E45"/>
                          </a:solidFill>
                          <a:latin typeface="Arial" pitchFamily="34" charset="0"/>
                          <a:ea typeface="Arial" pitchFamily="34" charset="-122"/>
                          <a:cs typeface="Arial" pitchFamily="34" charset="-120"/>
                        </a:rPr>
                        <a:t>key_facts_in_answer</a:t>
                      </a:r>
                      <a:endParaRPr lang="en-US" sz="1300" dirty="0">
                        <a:latin typeface="Arial" charset="0"/>
                        <a:ea typeface="Arial" charset="0"/>
                        <a:cs typeface="Arial" charset="0"/>
                      </a:endParaRPr>
                    </a:p>
                  </a:txBody>
                  <a:tcPr marL="57785" marR="57785" marT="57785" marB="57785">
                    <a:lnL w="12700" cap="flat" cmpd="sng" algn="ctr">
                      <a:solidFill>
                        <a:srgbClr val="D9E1E8"/>
                      </a:solidFill>
                      <a:prstDash val="solid"/>
                      <a:round/>
                      <a:headEnd type="none" w="med" len="med"/>
                      <a:tailEnd type="none" w="med" len="med"/>
                    </a:lnL>
                    <a:lnR w="12700" cap="flat" cmpd="sng" algn="ctr">
                      <a:solidFill>
                        <a:srgbClr val="D9E1E8"/>
                      </a:solidFill>
                      <a:prstDash val="solid"/>
                      <a:round/>
                      <a:headEnd type="none" w="med" len="med"/>
                      <a:tailEnd type="none" w="med" len="med"/>
                    </a:lnR>
                    <a:lnT w="12700" cap="flat" cmpd="sng" algn="ctr">
                      <a:solidFill>
                        <a:srgbClr val="D9E1E8"/>
                      </a:solidFill>
                      <a:prstDash val="solid"/>
                      <a:round/>
                      <a:headEnd type="none" w="med" len="med"/>
                      <a:tailEnd type="none" w="med" len="med"/>
                    </a:lnT>
                    <a:lnB w="12700" cap="flat" cmpd="sng" algn="ctr">
                      <a:solidFill>
                        <a:srgbClr val="D9E1E8"/>
                      </a:solidFill>
                      <a:prstDash val="solid"/>
                      <a:round/>
                      <a:headEnd type="none" w="med" len="med"/>
                      <a:tailEnd type="none" w="med" len="med"/>
                    </a:lnB>
                    <a:solidFill>
                      <a:srgbClr val="EDF2F6"/>
                    </a:solidFill>
                  </a:tcPr>
                </a:tc>
                <a:tc>
                  <a:txBody>
                    <a:bodyPr/>
                    <a:lstStyle/>
                    <a:p>
                      <a:pPr marL="0" indent="0">
                        <a:lnSpc>
                          <a:spcPts val="1820"/>
                        </a:lnSpc>
                        <a:buNone/>
                      </a:pPr>
                      <a:r>
                        <a:rPr lang="en-US" sz="1200" b="1" dirty="0">
                          <a:solidFill>
                            <a:srgbClr val="172E45"/>
                          </a:solidFill>
                          <a:latin typeface="Arial" pitchFamily="34" charset="0"/>
                          <a:ea typeface="Arial" pitchFamily="34" charset="-122"/>
                          <a:cs typeface="Arial" pitchFamily="34" charset="-120"/>
                        </a:rPr>
                        <a:t>0.6887</a:t>
                      </a:r>
                      <a:endParaRPr lang="en-US" sz="1300" dirty="0">
                        <a:latin typeface="Arial" charset="0"/>
                        <a:ea typeface="Arial" charset="0"/>
                        <a:cs typeface="Arial" charset="0"/>
                      </a:endParaRPr>
                    </a:p>
                  </a:txBody>
                  <a:tcPr marL="57785" marR="57785" marT="57785" marB="57785">
                    <a:lnL w="12700" cap="flat" cmpd="sng" algn="ctr">
                      <a:solidFill>
                        <a:srgbClr val="D9E1E8"/>
                      </a:solidFill>
                      <a:prstDash val="solid"/>
                      <a:round/>
                      <a:headEnd type="none" w="med" len="med"/>
                      <a:tailEnd type="none" w="med" len="med"/>
                    </a:lnL>
                    <a:lnR w="12700" cap="flat" cmpd="sng" algn="ctr">
                      <a:solidFill>
                        <a:srgbClr val="D9E1E8"/>
                      </a:solidFill>
                      <a:prstDash val="solid"/>
                      <a:round/>
                      <a:headEnd type="none" w="med" len="med"/>
                      <a:tailEnd type="none" w="med" len="med"/>
                    </a:lnR>
                    <a:lnT w="12700" cap="flat" cmpd="sng" algn="ctr">
                      <a:solidFill>
                        <a:srgbClr val="D9E1E8"/>
                      </a:solidFill>
                      <a:prstDash val="solid"/>
                      <a:round/>
                      <a:headEnd type="none" w="med" len="med"/>
                      <a:tailEnd type="none" w="med" len="med"/>
                    </a:lnT>
                    <a:lnB w="12700" cap="flat" cmpd="sng" algn="ctr">
                      <a:solidFill>
                        <a:srgbClr val="D9E1E8"/>
                      </a:solidFill>
                      <a:prstDash val="solid"/>
                      <a:round/>
                      <a:headEnd type="none" w="med" len="med"/>
                      <a:tailEnd type="none" w="med" len="med"/>
                    </a:lnB>
                    <a:solidFill>
                      <a:srgbClr val="EDF2F6"/>
                    </a:solidFill>
                  </a:tcPr>
                </a:tc>
                <a:tc>
                  <a:txBody>
                    <a:bodyPr/>
                    <a:lstStyle/>
                    <a:p>
                      <a:pPr marL="0" indent="0">
                        <a:lnSpc>
                          <a:spcPts val="1820"/>
                        </a:lnSpc>
                        <a:buNone/>
                      </a:pPr>
                      <a:r>
                        <a:rPr lang="en-US" sz="1200" b="1" dirty="0">
                          <a:solidFill>
                            <a:srgbClr val="172E45"/>
                          </a:solidFill>
                          <a:latin typeface="Arial" pitchFamily="34" charset="0"/>
                          <a:ea typeface="Arial" pitchFamily="34" charset="-122"/>
                          <a:cs typeface="Arial" pitchFamily="34" charset="-120"/>
                        </a:rPr>
                        <a:t>0.6737</a:t>
                      </a:r>
                      <a:endParaRPr lang="en-US" sz="1300" dirty="0">
                        <a:latin typeface="Arial" charset="0"/>
                        <a:ea typeface="Arial" charset="0"/>
                        <a:cs typeface="Arial" charset="0"/>
                      </a:endParaRPr>
                    </a:p>
                  </a:txBody>
                  <a:tcPr marL="57785" marR="57785" marT="57785" marB="57785">
                    <a:lnL w="12700" cap="flat" cmpd="sng" algn="ctr">
                      <a:solidFill>
                        <a:srgbClr val="D9E1E8"/>
                      </a:solidFill>
                      <a:prstDash val="solid"/>
                      <a:round/>
                      <a:headEnd type="none" w="med" len="med"/>
                      <a:tailEnd type="none" w="med" len="med"/>
                    </a:lnL>
                    <a:lnR w="12700" cap="flat" cmpd="sng" algn="ctr">
                      <a:solidFill>
                        <a:srgbClr val="D9E1E8"/>
                      </a:solidFill>
                      <a:prstDash val="solid"/>
                      <a:round/>
                      <a:headEnd type="none" w="med" len="med"/>
                      <a:tailEnd type="none" w="med" len="med"/>
                    </a:lnR>
                    <a:lnT w="12700" cap="flat" cmpd="sng" algn="ctr">
                      <a:solidFill>
                        <a:srgbClr val="D9E1E8"/>
                      </a:solidFill>
                      <a:prstDash val="solid"/>
                      <a:round/>
                      <a:headEnd type="none" w="med" len="med"/>
                      <a:tailEnd type="none" w="med" len="med"/>
                    </a:lnT>
                    <a:lnB w="12700" cap="flat" cmpd="sng" algn="ctr">
                      <a:solidFill>
                        <a:srgbClr val="D9E1E8"/>
                      </a:solidFill>
                      <a:prstDash val="solid"/>
                      <a:round/>
                      <a:headEnd type="none" w="med" len="med"/>
                      <a:tailEnd type="none" w="med" len="med"/>
                    </a:lnB>
                    <a:solidFill>
                      <a:srgbClr val="EDF2F6"/>
                    </a:solidFill>
                  </a:tcPr>
                </a:tc>
                <a:tc>
                  <a:txBody>
                    <a:bodyPr/>
                    <a:lstStyle/>
                    <a:p>
                      <a:pPr marL="0" indent="0">
                        <a:lnSpc>
                          <a:spcPts val="1820"/>
                        </a:lnSpc>
                        <a:buNone/>
                      </a:pPr>
                      <a:r>
                        <a:rPr lang="en-US" sz="1200" b="1" dirty="0">
                          <a:solidFill>
                            <a:srgbClr val="172E45"/>
                          </a:solidFill>
                          <a:latin typeface="Arial" pitchFamily="34" charset="0"/>
                          <a:ea typeface="Arial" pitchFamily="34" charset="-122"/>
                          <a:cs typeface="Arial" pitchFamily="34" charset="-120"/>
                        </a:rPr>
                        <a:t>0.6748</a:t>
                      </a:r>
                      <a:endParaRPr lang="en-US" sz="1300" dirty="0">
                        <a:latin typeface="Arial" charset="0"/>
                        <a:ea typeface="Arial" charset="0"/>
                        <a:cs typeface="Arial" charset="0"/>
                      </a:endParaRPr>
                    </a:p>
                  </a:txBody>
                  <a:tcPr marL="57785" marR="57785" marT="57785" marB="57785">
                    <a:lnL w="12700" cap="flat" cmpd="sng" algn="ctr">
                      <a:solidFill>
                        <a:srgbClr val="D9E1E8"/>
                      </a:solidFill>
                      <a:prstDash val="solid"/>
                      <a:round/>
                      <a:headEnd type="none" w="med" len="med"/>
                      <a:tailEnd type="none" w="med" len="med"/>
                    </a:lnL>
                    <a:lnR w="12700" cap="flat" cmpd="sng" algn="ctr">
                      <a:solidFill>
                        <a:srgbClr val="D9E1E8"/>
                      </a:solidFill>
                      <a:prstDash val="solid"/>
                      <a:round/>
                      <a:headEnd type="none" w="med" len="med"/>
                      <a:tailEnd type="none" w="med" len="med"/>
                    </a:lnR>
                    <a:lnT w="12700" cap="flat" cmpd="sng" algn="ctr">
                      <a:solidFill>
                        <a:srgbClr val="D9E1E8"/>
                      </a:solidFill>
                      <a:prstDash val="solid"/>
                      <a:round/>
                      <a:headEnd type="none" w="med" len="med"/>
                      <a:tailEnd type="none" w="med" len="med"/>
                    </a:lnT>
                    <a:lnB w="12700" cap="flat" cmpd="sng" algn="ctr">
                      <a:solidFill>
                        <a:srgbClr val="D9E1E8"/>
                      </a:solidFill>
                      <a:prstDash val="solid"/>
                      <a:round/>
                      <a:headEnd type="none" w="med" len="med"/>
                      <a:tailEnd type="none" w="med" len="med"/>
                    </a:lnB>
                    <a:solidFill>
                      <a:srgbClr val="EDF2F6"/>
                    </a:solidFill>
                  </a:tcPr>
                </a:tc>
                <a:extLst>
                  <a:ext uri="{0D108BD9-81ED-4DB2-BD59-A6C34878D82A}">
                    <a16:rowId xmlns:a16="http://schemas.microsoft.com/office/drawing/2014/main" val="1013110487"/>
                  </a:ext>
                </a:extLst>
              </a:tr>
              <a:tr h="420624">
                <a:tc>
                  <a:txBody>
                    <a:bodyPr/>
                    <a:lstStyle/>
                    <a:p>
                      <a:pPr marL="0" indent="0">
                        <a:lnSpc>
                          <a:spcPts val="1820"/>
                        </a:lnSpc>
                        <a:buNone/>
                      </a:pPr>
                      <a:r>
                        <a:rPr lang="en-US" sz="1200" b="0" dirty="0">
                          <a:solidFill>
                            <a:srgbClr val="172E45"/>
                          </a:solidFill>
                          <a:latin typeface="Arial" pitchFamily="34" charset="0"/>
                          <a:ea typeface="Arial" pitchFamily="34" charset="-122"/>
                          <a:cs typeface="Arial" pitchFamily="34" charset="-120"/>
                        </a:rPr>
                        <a:t>“확인할 수 없습니다” 답변</a:t>
                      </a:r>
                      <a:endParaRPr lang="en-US" sz="1300" dirty="0">
                        <a:latin typeface="Arial" charset="0"/>
                        <a:ea typeface="Arial" charset="0"/>
                        <a:cs typeface="Arial" charset="0"/>
                      </a:endParaRPr>
                    </a:p>
                  </a:txBody>
                  <a:tcPr marL="57785" marR="57785" marT="57785" marB="57785">
                    <a:lnL w="12700" cap="flat" cmpd="sng" algn="ctr">
                      <a:solidFill>
                        <a:srgbClr val="D9E1E8"/>
                      </a:solidFill>
                      <a:prstDash val="solid"/>
                      <a:round/>
                      <a:headEnd type="none" w="med" len="med"/>
                      <a:tailEnd type="none" w="med" len="med"/>
                    </a:lnL>
                    <a:lnR w="12700" cap="flat" cmpd="sng" algn="ctr">
                      <a:solidFill>
                        <a:srgbClr val="D9E1E8"/>
                      </a:solidFill>
                      <a:prstDash val="solid"/>
                      <a:round/>
                      <a:headEnd type="none" w="med" len="med"/>
                      <a:tailEnd type="none" w="med" len="med"/>
                    </a:lnR>
                    <a:lnT w="12700" cap="flat" cmpd="sng" algn="ctr">
                      <a:solidFill>
                        <a:srgbClr val="D9E1E8"/>
                      </a:solidFill>
                      <a:prstDash val="solid"/>
                      <a:round/>
                      <a:headEnd type="none" w="med" len="med"/>
                      <a:tailEnd type="none" w="med" len="med"/>
                    </a:lnT>
                    <a:lnB w="12700" cap="flat" cmpd="sng" algn="ctr">
                      <a:solidFill>
                        <a:srgbClr val="D9E1E8"/>
                      </a:solidFill>
                      <a:prstDash val="solid"/>
                      <a:round/>
                      <a:headEnd type="none" w="med" len="med"/>
                      <a:tailEnd type="none" w="med" len="med"/>
                    </a:lnB>
                    <a:solidFill>
                      <a:srgbClr val="FFFFFF"/>
                    </a:solidFill>
                  </a:tcPr>
                </a:tc>
                <a:tc>
                  <a:txBody>
                    <a:bodyPr/>
                    <a:lstStyle/>
                    <a:p>
                      <a:pPr marL="0" indent="0">
                        <a:lnSpc>
                          <a:spcPts val="1820"/>
                        </a:lnSpc>
                        <a:buNone/>
                      </a:pPr>
                      <a:r>
                        <a:rPr lang="en-US" sz="1200" b="0" dirty="0">
                          <a:solidFill>
                            <a:srgbClr val="172E45"/>
                          </a:solidFill>
                          <a:latin typeface="Arial" pitchFamily="34" charset="0"/>
                          <a:ea typeface="Arial" pitchFamily="34" charset="-122"/>
                          <a:cs typeface="Arial" pitchFamily="34" charset="-120"/>
                        </a:rPr>
                        <a:t>21개</a:t>
                      </a:r>
                      <a:endParaRPr lang="en-US" sz="1300" dirty="0">
                        <a:latin typeface="Arial" charset="0"/>
                        <a:ea typeface="Arial" charset="0"/>
                        <a:cs typeface="Arial" charset="0"/>
                      </a:endParaRPr>
                    </a:p>
                  </a:txBody>
                  <a:tcPr marL="57785" marR="57785" marT="57785" marB="57785">
                    <a:lnL w="12700" cap="flat" cmpd="sng" algn="ctr">
                      <a:solidFill>
                        <a:srgbClr val="D9E1E8"/>
                      </a:solidFill>
                      <a:prstDash val="solid"/>
                      <a:round/>
                      <a:headEnd type="none" w="med" len="med"/>
                      <a:tailEnd type="none" w="med" len="med"/>
                    </a:lnL>
                    <a:lnR w="12700" cap="flat" cmpd="sng" algn="ctr">
                      <a:solidFill>
                        <a:srgbClr val="D9E1E8"/>
                      </a:solidFill>
                      <a:prstDash val="solid"/>
                      <a:round/>
                      <a:headEnd type="none" w="med" len="med"/>
                      <a:tailEnd type="none" w="med" len="med"/>
                    </a:lnR>
                    <a:lnT w="12700" cap="flat" cmpd="sng" algn="ctr">
                      <a:solidFill>
                        <a:srgbClr val="D9E1E8"/>
                      </a:solidFill>
                      <a:prstDash val="solid"/>
                      <a:round/>
                      <a:headEnd type="none" w="med" len="med"/>
                      <a:tailEnd type="none" w="med" len="med"/>
                    </a:lnT>
                    <a:lnB w="12700" cap="flat" cmpd="sng" algn="ctr">
                      <a:solidFill>
                        <a:srgbClr val="D9E1E8"/>
                      </a:solidFill>
                      <a:prstDash val="solid"/>
                      <a:round/>
                      <a:headEnd type="none" w="med" len="med"/>
                      <a:tailEnd type="none" w="med" len="med"/>
                    </a:lnB>
                    <a:solidFill>
                      <a:srgbClr val="FFFFFF"/>
                    </a:solidFill>
                  </a:tcPr>
                </a:tc>
                <a:tc>
                  <a:txBody>
                    <a:bodyPr/>
                    <a:lstStyle/>
                    <a:p>
                      <a:pPr marL="0" indent="0">
                        <a:lnSpc>
                          <a:spcPts val="1820"/>
                        </a:lnSpc>
                        <a:buNone/>
                      </a:pPr>
                      <a:r>
                        <a:rPr lang="en-US" sz="1200" b="0" dirty="0">
                          <a:solidFill>
                            <a:srgbClr val="172E45"/>
                          </a:solidFill>
                          <a:latin typeface="Arial" pitchFamily="34" charset="0"/>
                          <a:ea typeface="Arial" pitchFamily="34" charset="-122"/>
                          <a:cs typeface="Arial" pitchFamily="34" charset="-120"/>
                        </a:rPr>
                        <a:t>28개</a:t>
                      </a:r>
                      <a:endParaRPr lang="en-US" sz="1300" dirty="0">
                        <a:latin typeface="Arial" charset="0"/>
                        <a:ea typeface="Arial" charset="0"/>
                        <a:cs typeface="Arial" charset="0"/>
                      </a:endParaRPr>
                    </a:p>
                  </a:txBody>
                  <a:tcPr marL="57785" marR="57785" marT="57785" marB="57785">
                    <a:lnL w="12700" cap="flat" cmpd="sng" algn="ctr">
                      <a:solidFill>
                        <a:srgbClr val="D9E1E8"/>
                      </a:solidFill>
                      <a:prstDash val="solid"/>
                      <a:round/>
                      <a:headEnd type="none" w="med" len="med"/>
                      <a:tailEnd type="none" w="med" len="med"/>
                    </a:lnL>
                    <a:lnR w="12700" cap="flat" cmpd="sng" algn="ctr">
                      <a:solidFill>
                        <a:srgbClr val="D9E1E8"/>
                      </a:solidFill>
                      <a:prstDash val="solid"/>
                      <a:round/>
                      <a:headEnd type="none" w="med" len="med"/>
                      <a:tailEnd type="none" w="med" len="med"/>
                    </a:lnR>
                    <a:lnT w="12700" cap="flat" cmpd="sng" algn="ctr">
                      <a:solidFill>
                        <a:srgbClr val="D9E1E8"/>
                      </a:solidFill>
                      <a:prstDash val="solid"/>
                      <a:round/>
                      <a:headEnd type="none" w="med" len="med"/>
                      <a:tailEnd type="none" w="med" len="med"/>
                    </a:lnT>
                    <a:lnB w="12700" cap="flat" cmpd="sng" algn="ctr">
                      <a:solidFill>
                        <a:srgbClr val="D9E1E8"/>
                      </a:solidFill>
                      <a:prstDash val="solid"/>
                      <a:round/>
                      <a:headEnd type="none" w="med" len="med"/>
                      <a:tailEnd type="none" w="med" len="med"/>
                    </a:lnB>
                    <a:solidFill>
                      <a:srgbClr val="FFFFFF"/>
                    </a:solidFill>
                  </a:tcPr>
                </a:tc>
                <a:tc>
                  <a:txBody>
                    <a:bodyPr/>
                    <a:lstStyle/>
                    <a:p>
                      <a:pPr marL="0" indent="0">
                        <a:lnSpc>
                          <a:spcPts val="1820"/>
                        </a:lnSpc>
                        <a:buNone/>
                      </a:pPr>
                      <a:r>
                        <a:rPr lang="en-US" sz="1200" b="0" dirty="0">
                          <a:solidFill>
                            <a:srgbClr val="172E45"/>
                          </a:solidFill>
                          <a:latin typeface="Arial" pitchFamily="34" charset="0"/>
                          <a:ea typeface="Arial" pitchFamily="34" charset="-122"/>
                          <a:cs typeface="Arial" pitchFamily="34" charset="-120"/>
                        </a:rPr>
                        <a:t>22개</a:t>
                      </a:r>
                      <a:endParaRPr lang="en-US" sz="1300" dirty="0">
                        <a:latin typeface="Arial" charset="0"/>
                        <a:ea typeface="Arial" charset="0"/>
                        <a:cs typeface="Arial" charset="0"/>
                      </a:endParaRPr>
                    </a:p>
                  </a:txBody>
                  <a:tcPr marL="57785" marR="57785" marT="57785" marB="57785">
                    <a:lnL w="12700" cap="flat" cmpd="sng" algn="ctr">
                      <a:solidFill>
                        <a:srgbClr val="D9E1E8"/>
                      </a:solidFill>
                      <a:prstDash val="solid"/>
                      <a:round/>
                      <a:headEnd type="none" w="med" len="med"/>
                      <a:tailEnd type="none" w="med" len="med"/>
                    </a:lnL>
                    <a:lnR w="12700" cap="flat" cmpd="sng" algn="ctr">
                      <a:solidFill>
                        <a:srgbClr val="D9E1E8"/>
                      </a:solidFill>
                      <a:prstDash val="solid"/>
                      <a:round/>
                      <a:headEnd type="none" w="med" len="med"/>
                      <a:tailEnd type="none" w="med" len="med"/>
                    </a:lnR>
                    <a:lnT w="12700" cap="flat" cmpd="sng" algn="ctr">
                      <a:solidFill>
                        <a:srgbClr val="D9E1E8"/>
                      </a:solidFill>
                      <a:prstDash val="solid"/>
                      <a:round/>
                      <a:headEnd type="none" w="med" len="med"/>
                      <a:tailEnd type="none" w="med" len="med"/>
                    </a:lnT>
                    <a:lnB w="12700" cap="flat" cmpd="sng" algn="ctr">
                      <a:solidFill>
                        <a:srgbClr val="D9E1E8"/>
                      </a:solidFill>
                      <a:prstDash val="solid"/>
                      <a:round/>
                      <a:headEnd type="none" w="med" len="med"/>
                      <a:tailEnd type="none" w="med" len="med"/>
                    </a:lnB>
                    <a:solidFill>
                      <a:srgbClr val="FFFFFF"/>
                    </a:solidFill>
                  </a:tcPr>
                </a:tc>
                <a:extLst>
                  <a:ext uri="{0D108BD9-81ED-4DB2-BD59-A6C34878D82A}">
                    <a16:rowId xmlns:a16="http://schemas.microsoft.com/office/drawing/2014/main" val="2802546360"/>
                  </a:ext>
                </a:extLst>
              </a:tr>
              <a:tr h="420624">
                <a:tc>
                  <a:txBody>
                    <a:bodyPr/>
                    <a:lstStyle/>
                    <a:p>
                      <a:pPr marL="0" indent="0">
                        <a:lnSpc>
                          <a:spcPts val="1820"/>
                        </a:lnSpc>
                        <a:buNone/>
                      </a:pPr>
                      <a:r>
                        <a:rPr lang="en-US" sz="1200" b="0" dirty="0">
                          <a:solidFill>
                            <a:srgbClr val="172E45"/>
                          </a:solidFill>
                          <a:latin typeface="Arial" pitchFamily="34" charset="0"/>
                          <a:ea typeface="Arial" pitchFamily="34" charset="-122"/>
                          <a:cs typeface="Arial" pitchFamily="34" charset="-120"/>
                        </a:rPr>
                        <a:t>평균 응답 시간 (재작성)</a:t>
                      </a:r>
                      <a:endParaRPr lang="en-US" sz="1300" dirty="0">
                        <a:latin typeface="Arial" charset="0"/>
                        <a:ea typeface="Arial" charset="0"/>
                        <a:cs typeface="Arial" charset="0"/>
                      </a:endParaRPr>
                    </a:p>
                  </a:txBody>
                  <a:tcPr marL="57785" marR="57785" marT="57785" marB="57785">
                    <a:lnL w="12700" cap="flat" cmpd="sng" algn="ctr">
                      <a:solidFill>
                        <a:srgbClr val="D9E1E8"/>
                      </a:solidFill>
                      <a:prstDash val="solid"/>
                      <a:round/>
                      <a:headEnd type="none" w="med" len="med"/>
                      <a:tailEnd type="none" w="med" len="med"/>
                    </a:lnL>
                    <a:lnR w="12700" cap="flat" cmpd="sng" algn="ctr">
                      <a:solidFill>
                        <a:srgbClr val="D9E1E8"/>
                      </a:solidFill>
                      <a:prstDash val="solid"/>
                      <a:round/>
                      <a:headEnd type="none" w="med" len="med"/>
                      <a:tailEnd type="none" w="med" len="med"/>
                    </a:lnR>
                    <a:lnT w="12700" cap="flat" cmpd="sng" algn="ctr">
                      <a:solidFill>
                        <a:srgbClr val="D9E1E8"/>
                      </a:solidFill>
                      <a:prstDash val="solid"/>
                      <a:round/>
                      <a:headEnd type="none" w="med" len="med"/>
                      <a:tailEnd type="none" w="med" len="med"/>
                    </a:lnT>
                    <a:lnB w="12700" cap="flat" cmpd="sng" algn="ctr">
                      <a:solidFill>
                        <a:srgbClr val="D9E1E8"/>
                      </a:solidFill>
                      <a:prstDash val="solid"/>
                      <a:round/>
                      <a:headEnd type="none" w="med" len="med"/>
                      <a:tailEnd type="none" w="med" len="med"/>
                    </a:lnB>
                    <a:solidFill>
                      <a:srgbClr val="EDF2F6"/>
                    </a:solidFill>
                  </a:tcPr>
                </a:tc>
                <a:tc>
                  <a:txBody>
                    <a:bodyPr/>
                    <a:lstStyle/>
                    <a:p>
                      <a:pPr marL="0" indent="0">
                        <a:lnSpc>
                          <a:spcPts val="1820"/>
                        </a:lnSpc>
                        <a:buNone/>
                      </a:pPr>
                      <a:r>
                        <a:rPr lang="en-US" sz="1200" b="0" dirty="0">
                          <a:solidFill>
                            <a:srgbClr val="172E45"/>
                          </a:solidFill>
                          <a:latin typeface="Arial" pitchFamily="34" charset="0"/>
                          <a:ea typeface="Arial" pitchFamily="34" charset="-122"/>
                          <a:cs typeface="Arial" pitchFamily="34" charset="-120"/>
                        </a:rPr>
                        <a:t>4.15초 (1.77)</a:t>
                      </a:r>
                      <a:endParaRPr lang="en-US" sz="1300" dirty="0">
                        <a:latin typeface="Arial" charset="0"/>
                        <a:ea typeface="Arial" charset="0"/>
                        <a:cs typeface="Arial" charset="0"/>
                      </a:endParaRPr>
                    </a:p>
                  </a:txBody>
                  <a:tcPr marL="57785" marR="57785" marT="57785" marB="57785">
                    <a:lnL w="12700" cap="flat" cmpd="sng" algn="ctr">
                      <a:solidFill>
                        <a:srgbClr val="D9E1E8"/>
                      </a:solidFill>
                      <a:prstDash val="solid"/>
                      <a:round/>
                      <a:headEnd type="none" w="med" len="med"/>
                      <a:tailEnd type="none" w="med" len="med"/>
                    </a:lnL>
                    <a:lnR w="12700" cap="flat" cmpd="sng" algn="ctr">
                      <a:solidFill>
                        <a:srgbClr val="D9E1E8"/>
                      </a:solidFill>
                      <a:prstDash val="solid"/>
                      <a:round/>
                      <a:headEnd type="none" w="med" len="med"/>
                      <a:tailEnd type="none" w="med" len="med"/>
                    </a:lnR>
                    <a:lnT w="12700" cap="flat" cmpd="sng" algn="ctr">
                      <a:solidFill>
                        <a:srgbClr val="D9E1E8"/>
                      </a:solidFill>
                      <a:prstDash val="solid"/>
                      <a:round/>
                      <a:headEnd type="none" w="med" len="med"/>
                      <a:tailEnd type="none" w="med" len="med"/>
                    </a:lnT>
                    <a:lnB w="12700" cap="flat" cmpd="sng" algn="ctr">
                      <a:solidFill>
                        <a:srgbClr val="D9E1E8"/>
                      </a:solidFill>
                      <a:prstDash val="solid"/>
                      <a:round/>
                      <a:headEnd type="none" w="med" len="med"/>
                      <a:tailEnd type="none" w="med" len="med"/>
                    </a:lnB>
                    <a:solidFill>
                      <a:srgbClr val="EDF2F6"/>
                    </a:solidFill>
                  </a:tcPr>
                </a:tc>
                <a:tc>
                  <a:txBody>
                    <a:bodyPr/>
                    <a:lstStyle/>
                    <a:p>
                      <a:pPr marL="0" indent="0">
                        <a:lnSpc>
                          <a:spcPts val="1820"/>
                        </a:lnSpc>
                        <a:buNone/>
                      </a:pPr>
                      <a:r>
                        <a:rPr lang="en-US" sz="1200" b="0" dirty="0">
                          <a:solidFill>
                            <a:srgbClr val="172E45"/>
                          </a:solidFill>
                          <a:latin typeface="Arial" pitchFamily="34" charset="0"/>
                          <a:ea typeface="Arial" pitchFamily="34" charset="-122"/>
                          <a:cs typeface="Arial" pitchFamily="34" charset="-120"/>
                        </a:rPr>
                        <a:t>4.48초 (2.16)</a:t>
                      </a:r>
                      <a:endParaRPr lang="en-US" sz="1300" dirty="0">
                        <a:latin typeface="Arial" charset="0"/>
                        <a:ea typeface="Arial" charset="0"/>
                        <a:cs typeface="Arial" charset="0"/>
                      </a:endParaRPr>
                    </a:p>
                  </a:txBody>
                  <a:tcPr marL="57785" marR="57785" marT="57785" marB="57785">
                    <a:lnL w="12700" cap="flat" cmpd="sng" algn="ctr">
                      <a:solidFill>
                        <a:srgbClr val="D9E1E8"/>
                      </a:solidFill>
                      <a:prstDash val="solid"/>
                      <a:round/>
                      <a:headEnd type="none" w="med" len="med"/>
                      <a:tailEnd type="none" w="med" len="med"/>
                    </a:lnL>
                    <a:lnR w="12700" cap="flat" cmpd="sng" algn="ctr">
                      <a:solidFill>
                        <a:srgbClr val="D9E1E8"/>
                      </a:solidFill>
                      <a:prstDash val="solid"/>
                      <a:round/>
                      <a:headEnd type="none" w="med" len="med"/>
                      <a:tailEnd type="none" w="med" len="med"/>
                    </a:lnR>
                    <a:lnT w="12700" cap="flat" cmpd="sng" algn="ctr">
                      <a:solidFill>
                        <a:srgbClr val="D9E1E8"/>
                      </a:solidFill>
                      <a:prstDash val="solid"/>
                      <a:round/>
                      <a:headEnd type="none" w="med" len="med"/>
                      <a:tailEnd type="none" w="med" len="med"/>
                    </a:lnT>
                    <a:lnB w="12700" cap="flat" cmpd="sng" algn="ctr">
                      <a:solidFill>
                        <a:srgbClr val="D9E1E8"/>
                      </a:solidFill>
                      <a:prstDash val="solid"/>
                      <a:round/>
                      <a:headEnd type="none" w="med" len="med"/>
                      <a:tailEnd type="none" w="med" len="med"/>
                    </a:lnB>
                    <a:solidFill>
                      <a:srgbClr val="EDF2F6"/>
                    </a:solidFill>
                  </a:tcPr>
                </a:tc>
                <a:tc>
                  <a:txBody>
                    <a:bodyPr/>
                    <a:lstStyle/>
                    <a:p>
                      <a:pPr marL="0" indent="0">
                        <a:lnSpc>
                          <a:spcPts val="1820"/>
                        </a:lnSpc>
                        <a:buNone/>
                      </a:pPr>
                      <a:r>
                        <a:rPr lang="en-US" sz="1200" b="0" dirty="0">
                          <a:solidFill>
                            <a:srgbClr val="172E45"/>
                          </a:solidFill>
                          <a:latin typeface="Arial" pitchFamily="34" charset="0"/>
                          <a:ea typeface="Arial" pitchFamily="34" charset="-122"/>
                          <a:cs typeface="Arial" pitchFamily="34" charset="-120"/>
                        </a:rPr>
                        <a:t>5.85초 (3.11)</a:t>
                      </a:r>
                      <a:endParaRPr lang="en-US" sz="1300" dirty="0">
                        <a:latin typeface="Arial" charset="0"/>
                        <a:ea typeface="Arial" charset="0"/>
                        <a:cs typeface="Arial" charset="0"/>
                      </a:endParaRPr>
                    </a:p>
                  </a:txBody>
                  <a:tcPr marL="57785" marR="57785" marT="57785" marB="57785">
                    <a:lnL w="12700" cap="flat" cmpd="sng" algn="ctr">
                      <a:solidFill>
                        <a:srgbClr val="D9E1E8"/>
                      </a:solidFill>
                      <a:prstDash val="solid"/>
                      <a:round/>
                      <a:headEnd type="none" w="med" len="med"/>
                      <a:tailEnd type="none" w="med" len="med"/>
                    </a:lnL>
                    <a:lnR w="12700" cap="flat" cmpd="sng" algn="ctr">
                      <a:solidFill>
                        <a:srgbClr val="D9E1E8"/>
                      </a:solidFill>
                      <a:prstDash val="solid"/>
                      <a:round/>
                      <a:headEnd type="none" w="med" len="med"/>
                      <a:tailEnd type="none" w="med" len="med"/>
                    </a:lnR>
                    <a:lnT w="12700" cap="flat" cmpd="sng" algn="ctr">
                      <a:solidFill>
                        <a:srgbClr val="D9E1E8"/>
                      </a:solidFill>
                      <a:prstDash val="solid"/>
                      <a:round/>
                      <a:headEnd type="none" w="med" len="med"/>
                      <a:tailEnd type="none" w="med" len="med"/>
                    </a:lnT>
                    <a:lnB w="12700" cap="flat" cmpd="sng" algn="ctr">
                      <a:solidFill>
                        <a:srgbClr val="D9E1E8"/>
                      </a:solidFill>
                      <a:prstDash val="solid"/>
                      <a:round/>
                      <a:headEnd type="none" w="med" len="med"/>
                      <a:tailEnd type="none" w="med" len="med"/>
                    </a:lnB>
                    <a:solidFill>
                      <a:srgbClr val="EDF2F6"/>
                    </a:solidFill>
                  </a:tcPr>
                </a:tc>
                <a:extLst>
                  <a:ext uri="{0D108BD9-81ED-4DB2-BD59-A6C34878D82A}">
                    <a16:rowId xmlns:a16="http://schemas.microsoft.com/office/drawing/2014/main" val="1451444371"/>
                  </a:ext>
                </a:extLst>
              </a:tr>
              <a:tr h="420624">
                <a:tc>
                  <a:txBody>
                    <a:bodyPr/>
                    <a:lstStyle/>
                    <a:p>
                      <a:pPr marL="0" indent="0">
                        <a:lnSpc>
                          <a:spcPts val="1820"/>
                        </a:lnSpc>
                        <a:buNone/>
                      </a:pPr>
                      <a:r>
                        <a:rPr lang="en-US" sz="1200" b="0" dirty="0">
                          <a:solidFill>
                            <a:srgbClr val="172E45"/>
                          </a:solidFill>
                          <a:latin typeface="Arial" pitchFamily="34" charset="0"/>
                          <a:ea typeface="Arial" pitchFamily="34" charset="-122"/>
                          <a:cs typeface="Arial" pitchFamily="34" charset="-120"/>
                        </a:rPr>
                        <a:t>총 비용 (재작성)</a:t>
                      </a:r>
                      <a:endParaRPr lang="en-US" sz="1300" dirty="0">
                        <a:latin typeface="Arial" charset="0"/>
                        <a:ea typeface="Arial" charset="0"/>
                        <a:cs typeface="Arial" charset="0"/>
                      </a:endParaRPr>
                    </a:p>
                  </a:txBody>
                  <a:tcPr marL="57785" marR="57785" marT="57785" marB="57785">
                    <a:lnL w="12700" cap="flat" cmpd="sng" algn="ctr">
                      <a:solidFill>
                        <a:srgbClr val="D9E1E8"/>
                      </a:solidFill>
                      <a:prstDash val="solid"/>
                      <a:round/>
                      <a:headEnd type="none" w="med" len="med"/>
                      <a:tailEnd type="none" w="med" len="med"/>
                    </a:lnL>
                    <a:lnR w="12700" cap="flat" cmpd="sng" algn="ctr">
                      <a:solidFill>
                        <a:srgbClr val="D9E1E8"/>
                      </a:solidFill>
                      <a:prstDash val="solid"/>
                      <a:round/>
                      <a:headEnd type="none" w="med" len="med"/>
                      <a:tailEnd type="none" w="med" len="med"/>
                    </a:lnR>
                    <a:lnT w="12700" cap="flat" cmpd="sng" algn="ctr">
                      <a:solidFill>
                        <a:srgbClr val="D9E1E8"/>
                      </a:solidFill>
                      <a:prstDash val="solid"/>
                      <a:round/>
                      <a:headEnd type="none" w="med" len="med"/>
                      <a:tailEnd type="none" w="med" len="med"/>
                    </a:lnT>
                    <a:lnB w="12700" cap="flat" cmpd="sng" algn="ctr">
                      <a:solidFill>
                        <a:srgbClr val="D9E1E8"/>
                      </a:solidFill>
                      <a:prstDash val="solid"/>
                      <a:round/>
                      <a:headEnd type="none" w="med" len="med"/>
                      <a:tailEnd type="none" w="med" len="med"/>
                    </a:lnB>
                    <a:solidFill>
                      <a:srgbClr val="FFFFFF"/>
                    </a:solidFill>
                  </a:tcPr>
                </a:tc>
                <a:tc>
                  <a:txBody>
                    <a:bodyPr/>
                    <a:lstStyle/>
                    <a:p>
                      <a:pPr marL="0" indent="0">
                        <a:lnSpc>
                          <a:spcPts val="1820"/>
                        </a:lnSpc>
                        <a:buNone/>
                      </a:pPr>
                      <a:r>
                        <a:rPr lang="en-US" sz="1200" b="0" dirty="0">
                          <a:solidFill>
                            <a:srgbClr val="172E45"/>
                          </a:solidFill>
                          <a:latin typeface="Arial" pitchFamily="34" charset="0"/>
                          <a:ea typeface="Arial" pitchFamily="34" charset="-122"/>
                          <a:cs typeface="Arial" pitchFamily="34" charset="-120"/>
                        </a:rPr>
                        <a:t>$0.533 ($0.068)</a:t>
                      </a:r>
                      <a:endParaRPr lang="en-US" sz="1300" dirty="0">
                        <a:latin typeface="Arial" charset="0"/>
                        <a:ea typeface="Arial" charset="0"/>
                        <a:cs typeface="Arial" charset="0"/>
                      </a:endParaRPr>
                    </a:p>
                  </a:txBody>
                  <a:tcPr marL="57785" marR="57785" marT="57785" marB="57785">
                    <a:lnL w="12700" cap="flat" cmpd="sng" algn="ctr">
                      <a:solidFill>
                        <a:srgbClr val="D9E1E8"/>
                      </a:solidFill>
                      <a:prstDash val="solid"/>
                      <a:round/>
                      <a:headEnd type="none" w="med" len="med"/>
                      <a:tailEnd type="none" w="med" len="med"/>
                    </a:lnL>
                    <a:lnR w="12700" cap="flat" cmpd="sng" algn="ctr">
                      <a:solidFill>
                        <a:srgbClr val="D9E1E8"/>
                      </a:solidFill>
                      <a:prstDash val="solid"/>
                      <a:round/>
                      <a:headEnd type="none" w="med" len="med"/>
                      <a:tailEnd type="none" w="med" len="med"/>
                    </a:lnR>
                    <a:lnT w="12700" cap="flat" cmpd="sng" algn="ctr">
                      <a:solidFill>
                        <a:srgbClr val="D9E1E8"/>
                      </a:solidFill>
                      <a:prstDash val="solid"/>
                      <a:round/>
                      <a:headEnd type="none" w="med" len="med"/>
                      <a:tailEnd type="none" w="med" len="med"/>
                    </a:lnT>
                    <a:lnB w="12700" cap="flat" cmpd="sng" algn="ctr">
                      <a:solidFill>
                        <a:srgbClr val="D9E1E8"/>
                      </a:solidFill>
                      <a:prstDash val="solid"/>
                      <a:round/>
                      <a:headEnd type="none" w="med" len="med"/>
                      <a:tailEnd type="none" w="med" len="med"/>
                    </a:lnB>
                    <a:solidFill>
                      <a:srgbClr val="FFFFFF"/>
                    </a:solidFill>
                  </a:tcPr>
                </a:tc>
                <a:tc>
                  <a:txBody>
                    <a:bodyPr/>
                    <a:lstStyle/>
                    <a:p>
                      <a:pPr marL="0" indent="0">
                        <a:lnSpc>
                          <a:spcPts val="1820"/>
                        </a:lnSpc>
                        <a:buNone/>
                      </a:pPr>
                      <a:r>
                        <a:rPr lang="en-US" sz="1200" b="0" dirty="0">
                          <a:solidFill>
                            <a:srgbClr val="172E45"/>
                          </a:solidFill>
                          <a:latin typeface="Arial" pitchFamily="34" charset="0"/>
                          <a:ea typeface="Arial" pitchFamily="34" charset="-122"/>
                          <a:cs typeface="Arial" pitchFamily="34" charset="-120"/>
                        </a:rPr>
                        <a:t>$0.607 ($0.139)</a:t>
                      </a:r>
                      <a:endParaRPr lang="en-US" sz="1300" dirty="0">
                        <a:latin typeface="Arial" charset="0"/>
                        <a:ea typeface="Arial" charset="0"/>
                        <a:cs typeface="Arial" charset="0"/>
                      </a:endParaRPr>
                    </a:p>
                  </a:txBody>
                  <a:tcPr marL="57785" marR="57785" marT="57785" marB="57785">
                    <a:lnL w="12700" cap="flat" cmpd="sng" algn="ctr">
                      <a:solidFill>
                        <a:srgbClr val="D9E1E8"/>
                      </a:solidFill>
                      <a:prstDash val="solid"/>
                      <a:round/>
                      <a:headEnd type="none" w="med" len="med"/>
                      <a:tailEnd type="none" w="med" len="med"/>
                    </a:lnL>
                    <a:lnR w="12700" cap="flat" cmpd="sng" algn="ctr">
                      <a:solidFill>
                        <a:srgbClr val="D9E1E8"/>
                      </a:solidFill>
                      <a:prstDash val="solid"/>
                      <a:round/>
                      <a:headEnd type="none" w="med" len="med"/>
                      <a:tailEnd type="none" w="med" len="med"/>
                    </a:lnR>
                    <a:lnT w="12700" cap="flat" cmpd="sng" algn="ctr">
                      <a:solidFill>
                        <a:srgbClr val="D9E1E8"/>
                      </a:solidFill>
                      <a:prstDash val="solid"/>
                      <a:round/>
                      <a:headEnd type="none" w="med" len="med"/>
                      <a:tailEnd type="none" w="med" len="med"/>
                    </a:lnT>
                    <a:lnB w="12700" cap="flat" cmpd="sng" algn="ctr">
                      <a:solidFill>
                        <a:srgbClr val="D9E1E8"/>
                      </a:solidFill>
                      <a:prstDash val="solid"/>
                      <a:round/>
                      <a:headEnd type="none" w="med" len="med"/>
                      <a:tailEnd type="none" w="med" len="med"/>
                    </a:lnB>
                    <a:solidFill>
                      <a:srgbClr val="FFFFFF"/>
                    </a:solidFill>
                  </a:tcPr>
                </a:tc>
                <a:tc>
                  <a:txBody>
                    <a:bodyPr/>
                    <a:lstStyle/>
                    <a:p>
                      <a:pPr marL="0" indent="0">
                        <a:lnSpc>
                          <a:spcPts val="1820"/>
                        </a:lnSpc>
                        <a:buNone/>
                      </a:pPr>
                      <a:r>
                        <a:rPr lang="en-US" sz="1200" b="0" dirty="0">
                          <a:solidFill>
                            <a:srgbClr val="172E45"/>
                          </a:solidFill>
                          <a:latin typeface="Arial" pitchFamily="34" charset="0"/>
                          <a:ea typeface="Arial" pitchFamily="34" charset="-122"/>
                          <a:cs typeface="Arial" pitchFamily="34" charset="-120"/>
                        </a:rPr>
                        <a:t>$0.646 ($0.179)</a:t>
                      </a:r>
                      <a:endParaRPr lang="en-US" sz="1300" dirty="0">
                        <a:latin typeface="Arial" charset="0"/>
                        <a:ea typeface="Arial" charset="0"/>
                        <a:cs typeface="Arial" charset="0"/>
                      </a:endParaRPr>
                    </a:p>
                  </a:txBody>
                  <a:tcPr marL="57785" marR="57785" marT="57785" marB="57785">
                    <a:lnL w="12700" cap="flat" cmpd="sng" algn="ctr">
                      <a:solidFill>
                        <a:srgbClr val="D9E1E8"/>
                      </a:solidFill>
                      <a:prstDash val="solid"/>
                      <a:round/>
                      <a:headEnd type="none" w="med" len="med"/>
                      <a:tailEnd type="none" w="med" len="med"/>
                    </a:lnL>
                    <a:lnR w="12700" cap="flat" cmpd="sng" algn="ctr">
                      <a:solidFill>
                        <a:srgbClr val="D9E1E8"/>
                      </a:solidFill>
                      <a:prstDash val="solid"/>
                      <a:round/>
                      <a:headEnd type="none" w="med" len="med"/>
                      <a:tailEnd type="none" w="med" len="med"/>
                    </a:lnR>
                    <a:lnT w="12700" cap="flat" cmpd="sng" algn="ctr">
                      <a:solidFill>
                        <a:srgbClr val="D9E1E8"/>
                      </a:solidFill>
                      <a:prstDash val="solid"/>
                      <a:round/>
                      <a:headEnd type="none" w="med" len="med"/>
                      <a:tailEnd type="none" w="med" len="med"/>
                    </a:lnT>
                    <a:lnB w="12700" cap="flat" cmpd="sng" algn="ctr">
                      <a:solidFill>
                        <a:srgbClr val="D9E1E8"/>
                      </a:solidFill>
                      <a:prstDash val="solid"/>
                      <a:round/>
                      <a:headEnd type="none" w="med" len="med"/>
                      <a:tailEnd type="none" w="med" len="med"/>
                    </a:lnB>
                    <a:solidFill>
                      <a:srgbClr val="FFFFFF"/>
                    </a:solidFill>
                  </a:tcPr>
                </a:tc>
                <a:extLst>
                  <a:ext uri="{0D108BD9-81ED-4DB2-BD59-A6C34878D82A}">
                    <a16:rowId xmlns:a16="http://schemas.microsoft.com/office/drawing/2014/main" val="2638615090"/>
                  </a:ext>
                </a:extLst>
              </a:tr>
            </a:tbl>
          </a:graphicData>
        </a:graphic>
      </p:graphicFrame>
      <p:sp>
        <p:nvSpPr>
          <p:cNvPr id="147" name="side-card"/>
          <p:cNvSpPr/>
          <p:nvPr/>
        </p:nvSpPr>
        <p:spPr>
          <a:xfrm>
            <a:off x="7863840" y="1700784"/>
            <a:ext cx="3511296" cy="3200400"/>
          </a:xfrm>
          <a:prstGeom prst="roundRect">
            <a:avLst>
              <a:gd name="adj" fmla="val 3330"/>
            </a:avLst>
          </a:prstGeom>
          <a:solidFill>
            <a:srgbClr val="FFFFFF"/>
          </a:solidFill>
          <a:ln w="6350">
            <a:solidFill>
              <a:srgbClr val="D9E1E8"/>
            </a:solidFill>
            <a:prstDash val="solid"/>
          </a:ln>
        </p:spPr>
      </p:sp>
      <p:sp>
        <p:nvSpPr>
          <p:cNvPr id="148" name="side-heading"/>
          <p:cNvSpPr/>
          <p:nvPr/>
        </p:nvSpPr>
        <p:spPr>
          <a:xfrm>
            <a:off x="8101583" y="1938528"/>
            <a:ext cx="3054096" cy="283464"/>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72E45"/>
                </a:solidFill>
                <a:latin typeface="Arial" pitchFamily="34" charset="0"/>
                <a:ea typeface="Arial" pitchFamily="34" charset="-122"/>
                <a:cs typeface="Arial" pitchFamily="34" charset="-120"/>
              </a:rPr>
              <a:t>결과</a:t>
            </a:r>
            <a:endParaRPr lang="en-US" sz="1700" dirty="0"/>
          </a:p>
        </p:txBody>
      </p:sp>
      <p:sp>
        <p:nvSpPr>
          <p:cNvPr id="149" name="side-line-0"/>
          <p:cNvSpPr/>
          <p:nvPr/>
        </p:nvSpPr>
        <p:spPr>
          <a:xfrm>
            <a:off x="8101583" y="2359152"/>
            <a:ext cx="3054096" cy="411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72E45"/>
                </a:solidFill>
                <a:latin typeface="Arial" pitchFamily="34" charset="0"/>
                <a:ea typeface="Arial" pitchFamily="34" charset="-122"/>
                <a:cs typeface="Arial" pitchFamily="34" charset="-120"/>
              </a:rPr>
              <a:t>품질: 세 설정이 거의 같음</a:t>
            </a:r>
            <a:endParaRPr lang="en-US" sz="1300" dirty="0"/>
          </a:p>
        </p:txBody>
      </p:sp>
      <p:sp>
        <p:nvSpPr>
          <p:cNvPr id="150" name="side-line-1"/>
          <p:cNvSpPr/>
          <p:nvPr/>
        </p:nvSpPr>
        <p:spPr>
          <a:xfrm>
            <a:off x="8101583" y="2816352"/>
            <a:ext cx="3054096" cy="411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72E45"/>
                </a:solidFill>
                <a:latin typeface="Arial" pitchFamily="34" charset="0"/>
                <a:ea typeface="Arial" pitchFamily="34" charset="-122"/>
                <a:cs typeface="Arial" pitchFamily="34" charset="-120"/>
              </a:rPr>
              <a:t>속도: medium은 재작성 1.8배 느림</a:t>
            </a:r>
            <a:endParaRPr lang="en-US" sz="1300" dirty="0"/>
          </a:p>
        </p:txBody>
      </p:sp>
      <p:sp>
        <p:nvSpPr>
          <p:cNvPr id="151" name="side-line-2"/>
          <p:cNvSpPr/>
          <p:nvPr/>
        </p:nvSpPr>
        <p:spPr>
          <a:xfrm>
            <a:off x="8101583" y="3273552"/>
            <a:ext cx="3054096" cy="411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72E45"/>
                </a:solidFill>
                <a:latin typeface="Arial" pitchFamily="34" charset="0"/>
                <a:ea typeface="Arial" pitchFamily="34" charset="-122"/>
                <a:cs typeface="Arial" pitchFamily="34" charset="-120"/>
              </a:rPr>
              <a:t>비용: 재작성 low 2배 · medium 2.6배</a:t>
            </a:r>
            <a:endParaRPr lang="en-US" sz="1300" dirty="0"/>
          </a:p>
        </p:txBody>
      </p:sp>
      <p:sp>
        <p:nvSpPr>
          <p:cNvPr id="152" name="side-line-3"/>
          <p:cNvSpPr/>
          <p:nvPr/>
        </p:nvSpPr>
        <p:spPr>
          <a:xfrm>
            <a:off x="8101583" y="3730752"/>
            <a:ext cx="3054096" cy="411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72E45"/>
                </a:solidFill>
                <a:latin typeface="Arial" pitchFamily="34" charset="0"/>
                <a:ea typeface="Arial" pitchFamily="34" charset="-122"/>
                <a:cs typeface="Arial" pitchFamily="34" charset="-120"/>
              </a:rPr>
              <a:t>질문을 바꾸는 비율은 오히려 줄어듦</a:t>
            </a:r>
            <a:endParaRPr lang="en-US" sz="1300" dirty="0"/>
          </a:p>
        </p:txBody>
      </p:sp>
      <p:sp>
        <p:nvSpPr>
          <p:cNvPr id="153" name="side-verdict"/>
          <p:cNvSpPr/>
          <p:nvPr/>
        </p:nvSpPr>
        <p:spPr>
          <a:xfrm>
            <a:off x="8101583" y="4352544"/>
            <a:ext cx="3054096" cy="32004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764A3"/>
                </a:solidFill>
                <a:latin typeface="Arial" pitchFamily="34" charset="0"/>
                <a:ea typeface="Arial" pitchFamily="34" charset="-122"/>
                <a:cs typeface="Arial" pitchFamily="34" charset="-120"/>
              </a:rPr>
              <a:t>→ none이 가장 빠르고 저렴</a:t>
            </a:r>
            <a:endParaRPr lang="en-US" sz="1700" dirty="0"/>
          </a:p>
        </p:txBody>
      </p:sp>
      <p:sp>
        <p:nvSpPr>
          <p:cNvPr id="154" name="footer"/>
          <p:cNvSpPr/>
          <p:nvPr/>
        </p:nvSpPr>
        <p:spPr>
          <a:xfrm>
            <a:off x="812712" y="6238435"/>
            <a:ext cx="10883347" cy="23861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26478"/>
                </a:solidFill>
                <a:latin typeface="Arial" pitchFamily="34" charset="0"/>
                <a:ea typeface="Arial" pitchFamily="34" charset="-122"/>
                <a:cs typeface="Arial" pitchFamily="34" charset="-120"/>
              </a:rPr>
              <a:t>검색(Retrieval) 파트 발표 · 7 · 세 실행 공통 438문항 기준 (medium 실행은 438문항에서 중단) · 설정마다 1회 실행 · 답변 추론은 세 실행 동일</a:t>
            </a:r>
            <a:endParaRPr lang="en-US" sz="1200" dirty="0"/>
          </a:p>
        </p:txBody>
      </p:sp>
    </p:spTree>
    <p:extLst>
      <p:ext uri="{BB962C8B-B14F-4D97-AF65-F5344CB8AC3E}">
        <p14:creationId xmlns:p14="http://schemas.microsoft.com/office/powerpoint/2010/main" val="2510256054"/>
      </p:ext>
    </p:extLst>
  </p:cSld>
  <p:clrMapOvr>
    <a:masterClrMapping/>
  </p:clrMapOvr>
</p:sld>
</file>

<file path=ppt/theme/theme1.xml><?xml version="1.0" encoding="utf-8"?>
<a:theme xmlns:a="http://schemas.openxmlformats.org/drawingml/2006/main" name="검색(Retrieval) 파트 발표">
  <a:themeElements>
    <a:clrScheme name="검색(Retrieval) 파트 발표">
      <a:dk1>
        <a:srgbClr val="172E45"/>
      </a:dk1>
      <a:lt1>
        <a:srgbClr val="F7F9FB"/>
      </a:lt1>
      <a:dk2>
        <a:srgbClr val="4F6173"/>
      </a:dk2>
      <a:lt2>
        <a:srgbClr val="E1E5E9"/>
      </a:lt2>
      <a:accent1>
        <a:srgbClr val="1764A3"/>
      </a:accent1>
      <a:accent2>
        <a:srgbClr val="8FB3D9"/>
      </a:accent2>
      <a:accent3>
        <a:srgbClr val="BFD3E6"/>
      </a:accent3>
      <a:accent4>
        <a:srgbClr val="526478"/>
      </a:accent4>
      <a:accent5>
        <a:srgbClr val="D9E1E8"/>
      </a:accent5>
      <a:accent6>
        <a:srgbClr val="9AA0A6"/>
      </a:accent6>
      <a:hlink>
        <a:srgbClr val="0563C1"/>
      </a:hlink>
      <a:folHlink>
        <a:srgbClr val="954F72"/>
      </a:folHlink>
    </a:clrScheme>
    <a:fontScheme name="검색(Retrieval) 파트 발표">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118</TotalTime>
  <Words>1768</Words>
  <Application>Microsoft Office PowerPoint</Application>
  <PresentationFormat>와이드스크린</PresentationFormat>
  <Paragraphs>180</Paragraphs>
  <Slides>7</Slides>
  <Notes>7</Notes>
  <HiddenSlides>0</HiddenSlides>
  <MMClips>0</MMClips>
  <ScaleCrop>false</ScaleCrop>
  <HeadingPairs>
    <vt:vector size="6" baseType="variant">
      <vt:variant>
        <vt:lpstr>사용한 글꼴</vt:lpstr>
      </vt:variant>
      <vt:variant>
        <vt:i4>1</vt:i4>
      </vt:variant>
      <vt:variant>
        <vt:lpstr>테마</vt:lpstr>
      </vt:variant>
      <vt:variant>
        <vt:i4>1</vt:i4>
      </vt:variant>
      <vt:variant>
        <vt:lpstr>슬라이드 제목</vt:lpstr>
      </vt:variant>
      <vt:variant>
        <vt:i4>7</vt:i4>
      </vt:variant>
    </vt:vector>
  </HeadingPairs>
  <TitlesOfParts>
    <vt:vector size="9" baseType="lpstr">
      <vt:lpstr>Arial</vt:lpstr>
      <vt:lpstr>검색(Retrieval) 파트 발표</vt:lpstr>
      <vt:lpstr>AI가 답하기 전에, 맞는 근거부터 찾습니다</vt:lpstr>
      <vt:lpstr>질문 하나가 근거가 되기까지 다섯 단계</vt:lpstr>
      <vt:lpstr>두 가지 방식으로 동시에 찾습니다</vt:lpstr>
      <vt:lpstr>Nemotron과 비교해 KURE를 선택했습니다</vt:lpstr>
      <vt:lpstr>RRF(순위로 합치고, 상위 30개는 다시 읽습니다)</vt:lpstr>
      <vt:lpstr>틀리기 쉬운 곳에 안전장치를 두었습니다</vt:lpstr>
      <vt:lpstr>추론을 늘려도 검색 · 답변 품질은 그대로였습니다</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검색(Retrieval) 파트 발표</dc:title>
  <dc:subject/>
  <dc:creator>User</dc:creator>
  <cp:lastModifiedBy>18002</cp:lastModifiedBy>
  <cp:revision>13</cp:revision>
  <dcterms:created xsi:type="dcterms:W3CDTF">2026-10-20T05:03:57Z</dcterms:created>
  <dcterms:modified xsi:type="dcterms:W3CDTF">2026-10-21T04:25:47Z</dcterms:modified>
</cp:coreProperties>
</file>