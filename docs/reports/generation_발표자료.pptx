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6" r:id="rId3"/>
    <p:sldId id="397" r:id="rId4"/>
    <p:sldId id="39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79" autoAdjust="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65FD8-2B28-E26C-4E4A-D71261C7B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9A213C-C2E3-D489-5B3C-B2FC028EF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C45FE-FD75-2E0B-1E9F-915D6C00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CE6C8D-D4D9-235F-08D5-9EA8287F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285649-261E-124C-C951-E99955EC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05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5CE67-7CBA-0180-67E3-C59C2139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D22C2-8868-057D-36AA-260659ADB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A10BEC-F062-99DA-9B3A-D86131AD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4F9ED-C581-7EF0-0167-C6739D86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20DA5A-D5CC-1183-1652-781CF1AF9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55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35527-A795-AB85-FA5A-892F7BB4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AFA9F8-39DC-F11A-7A08-A7A30DFD8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A97659-1DA3-AE3A-39EE-6ECC85912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1DF036-634C-4550-5697-AD7EFEA5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A694C-07AB-7C90-6D3C-24608A69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13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A8DD6-DC01-EF87-B393-F3E21F22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8666BE-8F40-7BFA-2901-524E8E32F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544BC8-A01C-D031-50AF-E0A97D129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D2DB6B-322C-7F0B-5368-F0CDB3D7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AFFA0D-2650-842E-E068-E0A912A8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645C7E-906A-135F-23F9-7CA439D0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3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2CCD8-9386-6996-0407-3C83324C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CC3E33-DA3D-4E48-F058-1E309F82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A66374-6A45-2B1C-764E-74D859A42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C9D1D4-6145-40F8-4703-18C3B4EA7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AAF605-2A0B-9A58-6EAA-83BBAC59F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FD8EAF-CC76-988B-86E6-3AEA278C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B7D68B-77AC-5F56-5150-17F14EE6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7158F7-D378-FBD2-0309-E589BAD9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7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7C93C8-3C5D-EB48-49BB-06028B57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449698-DB4B-57FD-24BA-EE5A074E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44B1E5-4B88-0E1B-F758-A6B14810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963629-64B1-7205-B9F0-4A9D9B4E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5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9E9009-BAF9-9EDB-21E0-2B002ED1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0A3B28-DAED-9AFE-BF03-D8168151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235A9D-020B-6B3A-D072-71381BB7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55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C0A8C-F2FB-862A-F6F1-18F47E2C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9D198-76FA-182C-2A4B-C29F0D83B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346B2-BF2D-0751-58A2-5107292D5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57DC38-B45B-7574-074F-1CA42DC8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184FD7-16AE-A9D7-EE3D-AC6442EB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2B8F29-154B-A8B3-6E08-C1B81522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3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403A0-7CE6-E26A-B59F-0C90E7622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650F924-EEA6-1DF8-898D-11E180B2C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88FD4F-E0AE-DB5B-76AE-BE91576AB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365CC4-FD61-E5F5-6CCB-DB9201A6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881C90-E19B-617F-4711-13A20C7C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ECD75-017C-62F8-A4F8-EDD427A6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643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C5DB5-708B-03B2-4CEF-AE774C98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C0B0F1-FE89-FE55-986B-7513A9075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19F49-1DEE-C7F4-C9FD-C0C50919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88D46B-5463-088D-EB97-385BE4058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752235-8AFE-1C1A-9C8C-4C809936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61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9236FC-B6EB-3F88-CC1E-676958720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62F959-BE62-BA88-0E35-176F7251B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823D6-09FA-0840-BB75-0FF4A302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8D2AC-15F8-4C8F-59A5-D99EC50D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351ADB-F87B-2FCD-22B0-4917AE33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148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661B966-0AA3-99E1-780D-B64D0C06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C5BC3-1DB0-3E96-09D7-2E894897F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811F6-9993-B37C-5213-6662C0E64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0C3FF-C324-4FD7-81E2-5A4763643642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BED98D-B631-42F1-0025-AF7667412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7DB98-8CBA-B20E-0E6A-C4DBF9658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C82E7-4D92-4BC6-9F37-802203CF3F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18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그림 127">
            <a:extLst>
              <a:ext uri="{FF2B5EF4-FFF2-40B4-BE49-F238E27FC236}">
                <a16:creationId xmlns:a16="http://schemas.microsoft.com/office/drawing/2014/main" id="{255E4398-BEFB-6FA6-C7FA-5C1796C48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367" y="1020876"/>
            <a:ext cx="7858637" cy="421449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22B36436-0DEB-FB45-E385-5E8AA175C6B1}"/>
              </a:ext>
            </a:extLst>
          </p:cNvPr>
          <p:cNvSpPr txBox="1"/>
          <p:nvPr/>
        </p:nvSpPr>
        <p:spPr>
          <a:xfrm>
            <a:off x="2070367" y="5316990"/>
            <a:ext cx="7755120" cy="6985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Generation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생성</a:t>
            </a:r>
            <a:r>
              <a:rPr lang="en-US" altLang="ko-KR" sz="1400" dirty="0"/>
              <a:t>)</a:t>
            </a:r>
            <a:r>
              <a:rPr lang="ko-KR" altLang="en-US" sz="1400" dirty="0"/>
              <a:t>이란</a:t>
            </a:r>
            <a:r>
              <a:rPr lang="en-US" altLang="ko-KR" sz="1400" dirty="0"/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검색된 문서 내용을 바탕으로 사용자의 질문에 답변을 만드는 단계</a:t>
            </a:r>
            <a:endParaRPr lang="ko-KR" altLang="en-US" sz="1400" dirty="0"/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5D4B9DF5-DA52-6343-9C89-72334AFC35D3}"/>
              </a:ext>
            </a:extLst>
          </p:cNvPr>
          <p:cNvGrpSpPr/>
          <p:nvPr/>
        </p:nvGrpSpPr>
        <p:grpSpPr>
          <a:xfrm>
            <a:off x="1306711" y="456025"/>
            <a:ext cx="9580554" cy="698526"/>
            <a:chOff x="1306711" y="456024"/>
            <a:chExt cx="9580554" cy="965801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8B3085C6-B892-1FF9-9503-D525BCD80E15}"/>
                </a:ext>
              </a:extLst>
            </p:cNvPr>
            <p:cNvCxnSpPr/>
            <p:nvPr/>
          </p:nvCxnSpPr>
          <p:spPr>
            <a:xfrm>
              <a:off x="1307117" y="1421382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DBD9F5C3-250F-0D67-DE16-95FF41125C0D}"/>
                </a:ext>
              </a:extLst>
            </p:cNvPr>
            <p:cNvCxnSpPr/>
            <p:nvPr/>
          </p:nvCxnSpPr>
          <p:spPr>
            <a:xfrm rot="10800000">
              <a:off x="1306987" y="456025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D3508F57-8B1A-3FFA-3614-559E742F2C1F}"/>
                </a:ext>
              </a:extLst>
            </p:cNvPr>
            <p:cNvSpPr/>
            <p:nvPr/>
          </p:nvSpPr>
          <p:spPr>
            <a:xfrm>
              <a:off x="1306711" y="459026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1DA4F6AF-3AFD-6E20-F8F8-6871EAFD4C18}"/>
                </a:ext>
              </a:extLst>
            </p:cNvPr>
            <p:cNvSpPr/>
            <p:nvPr/>
          </p:nvSpPr>
          <p:spPr>
            <a:xfrm>
              <a:off x="1306711" y="1343847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2CEC5A1D-F15D-053F-EEC9-E2B14FFD2B25}"/>
                </a:ext>
              </a:extLst>
            </p:cNvPr>
            <p:cNvSpPr/>
            <p:nvPr/>
          </p:nvSpPr>
          <p:spPr>
            <a:xfrm>
              <a:off x="10809287" y="45602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091E997-446A-0460-C0EA-32745C2D95FC}"/>
                </a:ext>
              </a:extLst>
            </p:cNvPr>
            <p:cNvSpPr/>
            <p:nvPr/>
          </p:nvSpPr>
          <p:spPr>
            <a:xfrm>
              <a:off x="10809287" y="134340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B19D9449-BDF7-7DBB-8DFF-EC1B22E62C59}"/>
              </a:ext>
            </a:extLst>
          </p:cNvPr>
          <p:cNvSpPr txBox="1"/>
          <p:nvPr/>
        </p:nvSpPr>
        <p:spPr>
          <a:xfrm>
            <a:off x="1457434" y="589989"/>
            <a:ext cx="9277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Generation </a:t>
            </a:r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정의 </a:t>
            </a:r>
            <a:r>
              <a:rPr lang="en-US" altLang="ko-KR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&amp; </a:t>
            </a:r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역할</a:t>
            </a:r>
            <a:endParaRPr lang="en-US" altLang="ko-KR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252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1343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906DB00F-01E8-F547-D179-B6D866BBE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881" y="1020876"/>
            <a:ext cx="7854868" cy="4420712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748DF6C1-42A3-652A-7FC7-19E948B2EFAB}"/>
              </a:ext>
            </a:extLst>
          </p:cNvPr>
          <p:cNvGrpSpPr/>
          <p:nvPr/>
        </p:nvGrpSpPr>
        <p:grpSpPr>
          <a:xfrm>
            <a:off x="1306711" y="456025"/>
            <a:ext cx="9580554" cy="698526"/>
            <a:chOff x="1306711" y="456024"/>
            <a:chExt cx="9580554" cy="965801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5838356-B6C5-323A-BD3A-C9BDCED8C0D1}"/>
                </a:ext>
              </a:extLst>
            </p:cNvPr>
            <p:cNvCxnSpPr/>
            <p:nvPr/>
          </p:nvCxnSpPr>
          <p:spPr>
            <a:xfrm>
              <a:off x="1307117" y="1421382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4343C346-CAF2-2E1B-B037-628B2D33D9A4}"/>
                </a:ext>
              </a:extLst>
            </p:cNvPr>
            <p:cNvCxnSpPr/>
            <p:nvPr/>
          </p:nvCxnSpPr>
          <p:spPr>
            <a:xfrm rot="10800000">
              <a:off x="1306987" y="456025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7395704-AE58-8606-2CB4-9953E5D1FCEB}"/>
                </a:ext>
              </a:extLst>
            </p:cNvPr>
            <p:cNvSpPr/>
            <p:nvPr/>
          </p:nvSpPr>
          <p:spPr>
            <a:xfrm>
              <a:off x="1306711" y="459026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D224FA-7416-6A50-0A4C-B6F9BD80E160}"/>
                </a:ext>
              </a:extLst>
            </p:cNvPr>
            <p:cNvSpPr/>
            <p:nvPr/>
          </p:nvSpPr>
          <p:spPr>
            <a:xfrm>
              <a:off x="1306711" y="1343847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1D86B0E-CF75-CCD2-7E56-225E9108BE2C}"/>
                </a:ext>
              </a:extLst>
            </p:cNvPr>
            <p:cNvSpPr/>
            <p:nvPr/>
          </p:nvSpPr>
          <p:spPr>
            <a:xfrm>
              <a:off x="10809287" y="45602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52FACF8-0A26-23A1-355A-C98A377CFA32}"/>
                </a:ext>
              </a:extLst>
            </p:cNvPr>
            <p:cNvSpPr/>
            <p:nvPr/>
          </p:nvSpPr>
          <p:spPr>
            <a:xfrm>
              <a:off x="10809287" y="134340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1F00266-C8D2-45A8-B52F-673DC471512E}"/>
              </a:ext>
            </a:extLst>
          </p:cNvPr>
          <p:cNvSpPr txBox="1"/>
          <p:nvPr/>
        </p:nvSpPr>
        <p:spPr>
          <a:xfrm>
            <a:off x="2218375" y="5165433"/>
            <a:ext cx="7755120" cy="134338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Generation</a:t>
            </a:r>
            <a:r>
              <a:rPr lang="ko-KR" altLang="en-US" sz="1400" dirty="0"/>
              <a:t> 단계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1) </a:t>
            </a:r>
            <a:r>
              <a:rPr lang="ko-KR" altLang="en-US" sz="1400" dirty="0"/>
              <a:t>입력 </a:t>
            </a:r>
            <a:r>
              <a:rPr lang="en-US" altLang="ko-KR" sz="1400" dirty="0"/>
              <a:t>– </a:t>
            </a:r>
            <a:r>
              <a:rPr lang="ko-KR" altLang="en-US" sz="1400" dirty="0"/>
              <a:t>사용자 질문</a:t>
            </a:r>
            <a:r>
              <a:rPr lang="en-US" altLang="ko-KR" sz="1400" dirty="0"/>
              <a:t>, </a:t>
            </a:r>
            <a:r>
              <a:rPr lang="ko-KR" altLang="en-US" sz="1400" dirty="0"/>
              <a:t>검색된 문서 </a:t>
            </a:r>
            <a:r>
              <a:rPr lang="ko-KR" altLang="en-US" sz="1400" dirty="0" err="1"/>
              <a:t>청크</a:t>
            </a:r>
            <a:r>
              <a:rPr lang="en-US" altLang="ko-KR" sz="1400" dirty="0"/>
              <a:t>, </a:t>
            </a:r>
            <a:r>
              <a:rPr lang="ko-KR" altLang="en-US" sz="1400" dirty="0"/>
              <a:t>이전 대화 내용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2) </a:t>
            </a:r>
            <a:r>
              <a:rPr lang="ko-KR" altLang="en-US" sz="1400" dirty="0"/>
              <a:t>처리 </a:t>
            </a:r>
            <a:r>
              <a:rPr lang="en-US" altLang="ko-KR" sz="1400" dirty="0"/>
              <a:t>- </a:t>
            </a:r>
            <a:r>
              <a:rPr lang="ko-KR" altLang="ko-KR" sz="1400" dirty="0"/>
              <a:t>모델이 </a:t>
            </a:r>
            <a:r>
              <a:rPr lang="ko-KR" altLang="en-US" sz="1400" dirty="0"/>
              <a:t>근거 </a:t>
            </a:r>
            <a:r>
              <a:rPr lang="ko-KR" altLang="ko-KR" sz="1400" dirty="0"/>
              <a:t>문서</a:t>
            </a:r>
            <a:r>
              <a:rPr lang="ko-KR" altLang="en-US" sz="1400" dirty="0"/>
              <a:t>와</a:t>
            </a:r>
            <a:r>
              <a:rPr lang="ko-KR" altLang="ko-KR" sz="1400" dirty="0"/>
              <a:t> 질문을 함께 보고 답변 작성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3) </a:t>
            </a:r>
            <a:r>
              <a:rPr lang="ko-KR" altLang="en-US" sz="1400" dirty="0"/>
              <a:t>출력 </a:t>
            </a:r>
            <a:r>
              <a:rPr lang="en-US" altLang="ko-KR" sz="1400" dirty="0"/>
              <a:t>- </a:t>
            </a:r>
            <a:r>
              <a:rPr lang="ko-KR" altLang="ko-KR" sz="1400" dirty="0"/>
              <a:t>답변, 사용한 근거와 출처, 처리 시간</a:t>
            </a:r>
            <a:r>
              <a:rPr lang="en-US" altLang="ko-KR" sz="1400" dirty="0"/>
              <a:t> </a:t>
            </a:r>
            <a:r>
              <a:rPr lang="ko-KR" altLang="ko-KR" sz="1400" dirty="0"/>
              <a:t>·</a:t>
            </a:r>
            <a:r>
              <a:rPr lang="en-US" altLang="ko-KR" sz="1400" dirty="0"/>
              <a:t> </a:t>
            </a:r>
            <a:r>
              <a:rPr lang="ko-KR" altLang="en-US" sz="1400" dirty="0"/>
              <a:t>사용한 </a:t>
            </a:r>
            <a:r>
              <a:rPr lang="ko-KR" altLang="ko-KR" sz="1400" dirty="0"/>
              <a:t>토큰 정보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CC1CD3-78E7-9F6A-BB12-0E6B9EB5FF04}"/>
              </a:ext>
            </a:extLst>
          </p:cNvPr>
          <p:cNvSpPr txBox="1"/>
          <p:nvPr/>
        </p:nvSpPr>
        <p:spPr>
          <a:xfrm>
            <a:off x="1457434" y="589989"/>
            <a:ext cx="9277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Generation </a:t>
            </a:r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단계</a:t>
            </a:r>
            <a:endParaRPr lang="en-US" altLang="ko-KR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252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9118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5337-90E8-AC20-9945-74F1D9483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1F3C00-D111-B2B9-57CD-7C1F808E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517" y="805432"/>
            <a:ext cx="8183978" cy="460593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7288110-F1CF-0DA2-8409-2F41E634BBFF}"/>
              </a:ext>
            </a:extLst>
          </p:cNvPr>
          <p:cNvGrpSpPr/>
          <p:nvPr/>
        </p:nvGrpSpPr>
        <p:grpSpPr>
          <a:xfrm>
            <a:off x="1306711" y="456025"/>
            <a:ext cx="9580554" cy="698526"/>
            <a:chOff x="1306711" y="456024"/>
            <a:chExt cx="9580554" cy="965801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DB1BAFED-E2E9-39C2-A5FD-5CF234ABDE86}"/>
                </a:ext>
              </a:extLst>
            </p:cNvPr>
            <p:cNvCxnSpPr/>
            <p:nvPr/>
          </p:nvCxnSpPr>
          <p:spPr>
            <a:xfrm>
              <a:off x="1307117" y="1421382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D8A9412-A21D-8292-4868-352166D02959}"/>
                </a:ext>
              </a:extLst>
            </p:cNvPr>
            <p:cNvCxnSpPr/>
            <p:nvPr/>
          </p:nvCxnSpPr>
          <p:spPr>
            <a:xfrm rot="10800000">
              <a:off x="1306987" y="456025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F336712-BDCF-CB65-A9E2-E5D68DD53CC6}"/>
                </a:ext>
              </a:extLst>
            </p:cNvPr>
            <p:cNvSpPr/>
            <p:nvPr/>
          </p:nvSpPr>
          <p:spPr>
            <a:xfrm>
              <a:off x="1306711" y="459026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7E1F703-7297-B608-4851-5BD2E0220CEF}"/>
                </a:ext>
              </a:extLst>
            </p:cNvPr>
            <p:cNvSpPr/>
            <p:nvPr/>
          </p:nvSpPr>
          <p:spPr>
            <a:xfrm>
              <a:off x="1306711" y="1343847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BBC402A-3DFF-3730-0009-828C6BA43092}"/>
                </a:ext>
              </a:extLst>
            </p:cNvPr>
            <p:cNvSpPr/>
            <p:nvPr/>
          </p:nvSpPr>
          <p:spPr>
            <a:xfrm>
              <a:off x="10809287" y="45602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FCADD97-8487-F840-932E-2C31FAF65A21}"/>
                </a:ext>
              </a:extLst>
            </p:cNvPr>
            <p:cNvSpPr/>
            <p:nvPr/>
          </p:nvSpPr>
          <p:spPr>
            <a:xfrm>
              <a:off x="10809287" y="134340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0968AEE-FCB5-DF7D-C85C-3C3669A11572}"/>
              </a:ext>
            </a:extLst>
          </p:cNvPr>
          <p:cNvSpPr txBox="1"/>
          <p:nvPr/>
        </p:nvSpPr>
        <p:spPr>
          <a:xfrm>
            <a:off x="707366" y="5478676"/>
            <a:ext cx="10981086" cy="6985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Generation </a:t>
            </a:r>
            <a:r>
              <a:rPr lang="ko-KR" altLang="en-US" sz="1400" dirty="0"/>
              <a:t>처리 흐름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① 평가 질문</a:t>
            </a:r>
            <a:r>
              <a:rPr lang="en-US" altLang="ko-KR" sz="1400" dirty="0"/>
              <a:t> (</a:t>
            </a:r>
            <a:r>
              <a:rPr lang="ko-KR" altLang="en-US" sz="1400" dirty="0"/>
              <a:t>사용자 질문</a:t>
            </a:r>
            <a:r>
              <a:rPr lang="en-US" altLang="ko-KR" sz="1400" dirty="0"/>
              <a:t>)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② 질문 재작성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③ 관련 문서 검색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④ 검색 근거와 대화 이력을 이용한 답변 생성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ym typeface="Wingdings" panose="05000000000000000000" pitchFamily="2" charset="2"/>
              </a:rPr>
              <a:t>⑤ 결과 저장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E77FC-E551-86A4-4785-F550CA57701F}"/>
              </a:ext>
            </a:extLst>
          </p:cNvPr>
          <p:cNvSpPr txBox="1"/>
          <p:nvPr/>
        </p:nvSpPr>
        <p:spPr>
          <a:xfrm>
            <a:off x="1457434" y="589989"/>
            <a:ext cx="9277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Generation </a:t>
            </a:r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 흐름</a:t>
            </a:r>
            <a:endParaRPr lang="en-US" altLang="ko-KR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252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247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B0E5-DAF8-66E7-6FCB-C84F0026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BBB47768-6DF5-68B8-F89F-D1EEB9E8DA27}"/>
              </a:ext>
            </a:extLst>
          </p:cNvPr>
          <p:cNvGrpSpPr/>
          <p:nvPr/>
        </p:nvGrpSpPr>
        <p:grpSpPr>
          <a:xfrm>
            <a:off x="1306711" y="456025"/>
            <a:ext cx="9580554" cy="698526"/>
            <a:chOff x="1306711" y="456024"/>
            <a:chExt cx="9580554" cy="965801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3E7E605-399C-0883-850D-F148638F7A86}"/>
                </a:ext>
              </a:extLst>
            </p:cNvPr>
            <p:cNvCxnSpPr/>
            <p:nvPr/>
          </p:nvCxnSpPr>
          <p:spPr>
            <a:xfrm>
              <a:off x="1307117" y="1421382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1EFEFDC5-BF8A-BB00-E321-5FBB6ED57718}"/>
                </a:ext>
              </a:extLst>
            </p:cNvPr>
            <p:cNvCxnSpPr/>
            <p:nvPr/>
          </p:nvCxnSpPr>
          <p:spPr>
            <a:xfrm rot="10800000">
              <a:off x="1306987" y="456025"/>
              <a:ext cx="9577896" cy="0"/>
            </a:xfrm>
            <a:prstGeom prst="line">
              <a:avLst/>
            </a:prstGeom>
            <a:ln w="3175">
              <a:solidFill>
                <a:srgbClr val="252525">
                  <a:alpha val="9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6DEF8E3-D4D3-AFD0-9424-08FC1B23944B}"/>
                </a:ext>
              </a:extLst>
            </p:cNvPr>
            <p:cNvSpPr/>
            <p:nvPr/>
          </p:nvSpPr>
          <p:spPr>
            <a:xfrm>
              <a:off x="1306711" y="459026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76563C9-AD38-4CD4-8EEF-0A81F28F875C}"/>
                </a:ext>
              </a:extLst>
            </p:cNvPr>
            <p:cNvSpPr/>
            <p:nvPr/>
          </p:nvSpPr>
          <p:spPr>
            <a:xfrm>
              <a:off x="1306711" y="1343847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DE7E72F-C340-E749-135F-A41DA4FFD88C}"/>
                </a:ext>
              </a:extLst>
            </p:cNvPr>
            <p:cNvSpPr/>
            <p:nvPr/>
          </p:nvSpPr>
          <p:spPr>
            <a:xfrm>
              <a:off x="10809287" y="45602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090F09-47CA-D362-DF9F-6A566F73B3EF}"/>
                </a:ext>
              </a:extLst>
            </p:cNvPr>
            <p:cNvSpPr/>
            <p:nvPr/>
          </p:nvSpPr>
          <p:spPr>
            <a:xfrm>
              <a:off x="10809287" y="1343404"/>
              <a:ext cx="77978" cy="77978"/>
            </a:xfrm>
            <a:prstGeom prst="rect">
              <a:avLst/>
            </a:prstGeom>
            <a:solidFill>
              <a:srgbClr val="2525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383AF8A-3661-F79E-3B87-A282D5A67592}"/>
              </a:ext>
            </a:extLst>
          </p:cNvPr>
          <p:cNvSpPr txBox="1"/>
          <p:nvPr/>
        </p:nvSpPr>
        <p:spPr>
          <a:xfrm>
            <a:off x="1457434" y="589989"/>
            <a:ext cx="92770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5252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상세 설명</a:t>
            </a:r>
            <a:endParaRPr lang="en-US" altLang="ko-KR" sz="2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52525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882E86-4EE4-D8CB-A19D-A3A70BFFA20E}"/>
              </a:ext>
            </a:extLst>
          </p:cNvPr>
          <p:cNvSpPr txBox="1"/>
          <p:nvPr/>
        </p:nvSpPr>
        <p:spPr>
          <a:xfrm>
            <a:off x="1306711" y="1164118"/>
            <a:ext cx="6737742" cy="981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-. </a:t>
            </a:r>
            <a:r>
              <a:rPr lang="ko-KR" altLang="en-US" sz="1600" dirty="0"/>
              <a:t>질문 재작성 및 문서 검색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ko-KR" sz="1200" dirty="0"/>
              <a:t>질문 재작성</a:t>
            </a:r>
            <a:r>
              <a:rPr lang="ko-KR" altLang="en-US" sz="1200" dirty="0"/>
              <a:t>을 하</a:t>
            </a:r>
            <a:r>
              <a:rPr lang="ko-KR" altLang="ko-KR" sz="1200" dirty="0"/>
              <a:t>은 검색을 돕고, 문서 검색은 답변의 근거를 마련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 </a:t>
            </a:r>
            <a:r>
              <a:rPr lang="ko-KR" altLang="en-US" sz="1200" dirty="0">
                <a:sym typeface="Wingdings" panose="05000000000000000000" pitchFamily="2" charset="2"/>
              </a:rPr>
              <a:t>사용자의 질문은 짧거나 구어체일 수 있기 때문에 질문을 검색에 적합하도록 재작성을 진행</a:t>
            </a:r>
            <a:endParaRPr lang="en-US" altLang="ko-KR" sz="1200" dirty="0">
              <a:sym typeface="Wingdings" panose="05000000000000000000" pitchFamily="2" charset="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CDD99-522F-976C-6403-F8E355BC72F2}"/>
              </a:ext>
            </a:extLst>
          </p:cNvPr>
          <p:cNvSpPr txBox="1"/>
          <p:nvPr/>
        </p:nvSpPr>
        <p:spPr>
          <a:xfrm>
            <a:off x="1306711" y="2219849"/>
            <a:ext cx="5497018" cy="981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-. </a:t>
            </a:r>
            <a:r>
              <a:rPr lang="ko-KR" altLang="en-US" sz="1600" dirty="0"/>
              <a:t>검색 </a:t>
            </a:r>
            <a:r>
              <a:rPr lang="en-US" altLang="ko-KR" sz="1600" dirty="0">
                <a:sym typeface="Wingdings" panose="05000000000000000000" pitchFamily="2" charset="2"/>
              </a:rPr>
              <a:t>Context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ko-KR" sz="1200" dirty="0"/>
              <a:t>답변을 뒷받침하기 위해 모델에게 전달하는 문서 조각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답변이 어떤 검색 결과를 바탕으로 만들어졌는지 출처를 표시하도록 도움</a:t>
            </a:r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0114CD-B98C-FC05-E863-1898D2A48EAF}"/>
              </a:ext>
            </a:extLst>
          </p:cNvPr>
          <p:cNvSpPr txBox="1"/>
          <p:nvPr/>
        </p:nvSpPr>
        <p:spPr>
          <a:xfrm>
            <a:off x="1306711" y="4443585"/>
            <a:ext cx="6524863" cy="7041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-. </a:t>
            </a:r>
            <a:r>
              <a:rPr lang="ko-KR" altLang="en-US" sz="1600" dirty="0"/>
              <a:t>모델 입력 메시지 구성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시스템 지침 </a:t>
            </a:r>
            <a:r>
              <a:rPr lang="en-US" altLang="ko-KR" sz="1200" dirty="0"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sym typeface="Wingdings" panose="05000000000000000000" pitchFamily="2" charset="2"/>
              </a:rPr>
              <a:t>프롬프트</a:t>
            </a:r>
            <a:r>
              <a:rPr lang="en-US" altLang="ko-KR" sz="1200" dirty="0">
                <a:sym typeface="Wingdings" panose="05000000000000000000" pitchFamily="2" charset="2"/>
              </a:rPr>
              <a:t>) + </a:t>
            </a:r>
            <a:r>
              <a:rPr lang="ko-KR" altLang="en-US" sz="1200" dirty="0">
                <a:sym typeface="Wingdings" panose="05000000000000000000" pitchFamily="2" charset="2"/>
              </a:rPr>
              <a:t>이전 대화 및 답변 </a:t>
            </a:r>
            <a:r>
              <a:rPr lang="en-US" altLang="ko-KR" sz="1200" dirty="0">
                <a:sym typeface="Wingdings" panose="05000000000000000000" pitchFamily="2" charset="2"/>
              </a:rPr>
              <a:t>+ </a:t>
            </a:r>
            <a:r>
              <a:rPr lang="ko-KR" altLang="en-US" sz="1200" dirty="0">
                <a:sym typeface="Wingdings" panose="05000000000000000000" pitchFamily="2" charset="2"/>
              </a:rPr>
              <a:t>검색 </a:t>
            </a:r>
            <a:r>
              <a:rPr lang="en-US" altLang="ko-KR" sz="1200" dirty="0">
                <a:sym typeface="Wingdings" panose="05000000000000000000" pitchFamily="2" charset="2"/>
              </a:rPr>
              <a:t>Context + </a:t>
            </a:r>
            <a:r>
              <a:rPr lang="ko-KR" altLang="en-US" sz="1200" dirty="0">
                <a:sym typeface="Wingdings" panose="05000000000000000000" pitchFamily="2" charset="2"/>
              </a:rPr>
              <a:t>현재 질문이 모델로 전달</a:t>
            </a:r>
            <a:endParaRPr lang="en-US" altLang="ko-KR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C64DD6-7B46-B76C-955F-A555C66CE564}"/>
              </a:ext>
            </a:extLst>
          </p:cNvPr>
          <p:cNvSpPr txBox="1"/>
          <p:nvPr/>
        </p:nvSpPr>
        <p:spPr>
          <a:xfrm>
            <a:off x="1306711" y="3333872"/>
            <a:ext cx="8494633" cy="981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-. </a:t>
            </a:r>
            <a:r>
              <a:rPr lang="ko-KR" altLang="en-US" sz="1600" dirty="0"/>
              <a:t>이전 대화 사용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/>
              <a:t>대화 이력은 후속 질문의 의미를 이해하는데 사용하고</a:t>
            </a:r>
            <a:r>
              <a:rPr lang="en-US" altLang="ko-KR" sz="1200" dirty="0"/>
              <a:t>, </a:t>
            </a:r>
            <a:r>
              <a:rPr lang="ko-KR" altLang="en-US" sz="1200" dirty="0"/>
              <a:t>사실은 검색 문서에서 확인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모호한 후속 질문의 대상을 이해하기 위해 이전 질문과 답변을 모델에 전달하여 질문의 대상을 이해하도록 도움을 줌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8E994-0F37-3F78-200C-D3D1335066F7}"/>
              </a:ext>
            </a:extLst>
          </p:cNvPr>
          <p:cNvSpPr txBox="1"/>
          <p:nvPr/>
        </p:nvSpPr>
        <p:spPr>
          <a:xfrm>
            <a:off x="1306711" y="5234443"/>
            <a:ext cx="2599238" cy="1258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-. </a:t>
            </a:r>
            <a:r>
              <a:rPr lang="ko-KR" altLang="en-US" sz="1600" dirty="0"/>
              <a:t>설정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Generation Model : gpt-5-mini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 Max Token : 2048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ym typeface="Wingdings" panose="05000000000000000000" pitchFamily="2" charset="2"/>
              </a:rPr>
              <a:t>  </a:t>
            </a:r>
            <a:r>
              <a:rPr lang="en-US" altLang="ko-KR" sz="1200" dirty="0" err="1">
                <a:sym typeface="Wingdings" panose="05000000000000000000" pitchFamily="2" charset="2"/>
              </a:rPr>
              <a:t>Resoning_effect</a:t>
            </a:r>
            <a:r>
              <a:rPr lang="en-US" altLang="ko-KR" sz="1200" dirty="0">
                <a:sym typeface="Wingdings" panose="05000000000000000000" pitchFamily="2" charset="2"/>
              </a:rPr>
              <a:t> : low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35203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242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나눔바른고딕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서정철</dc:creator>
  <cp:lastModifiedBy>서정철</cp:lastModifiedBy>
  <cp:revision>7</cp:revision>
  <dcterms:created xsi:type="dcterms:W3CDTF">2026-10-19T02:25:23Z</dcterms:created>
  <dcterms:modified xsi:type="dcterms:W3CDTF">2026-10-20T00:39:52Z</dcterms:modified>
</cp:coreProperties>
</file>